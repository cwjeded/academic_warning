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2" r:id="rId18"/>
    <p:sldId id="273" r:id="rId19"/>
    <p:sldId id="275" r:id="rId20"/>
    <p:sldId id="276" r:id="rId21"/>
    <p:sldId id="277" r:id="rId22"/>
  </p:sldIdLst>
  <p:sldSz cx="16256000" cy="9144000"/>
  <p:notesSz cx="9144000" cy="16256000"/>
  <p:embeddedFontLst>
    <p:embeddedFont>
      <p:font typeface="Liter" panose="02000503030000020004" pitchFamily="34" charset="0"/>
      <p:regular r:id="rId26"/>
    </p:embeddedFont>
    <p:embeddedFont>
      <p:font typeface="Liter" panose="02000503030000020004" pitchFamily="34" charset="-122"/>
      <p:regular r:id="rId27"/>
    </p:embeddedFont>
    <p:embeddedFont>
      <p:font typeface="Liter" panose="02000503030000020004" pitchFamily="34" charset="-120"/>
      <p:regular r:id="rId28"/>
    </p:embeddedFont>
    <p:embeddedFont>
      <p:font typeface="阿里妈妈数黑体" pitchFamily="34" charset="-122"/>
      <p:bold r:id="rId29"/>
    </p:embeddedFont>
    <p:embeddedFont>
      <p:font typeface="阿里妈妈数黑体" pitchFamily="34" charset="-120"/>
      <p:bold r:id="rId30"/>
    </p:embeddedFont>
    <p:embeddedFont>
      <p:font typeface="MiSans" pitchFamily="34" charset="-122"/>
      <p:regular r:id="rId31"/>
    </p:embeddedFont>
    <p:embeddedFont>
      <p:font typeface="MiSans" pitchFamily="34" charset="-120"/>
      <p:regular r:id="rId32"/>
    </p:embeddedFont>
    <p:embeddedFont>
      <p:font typeface="微软雅黑" panose="020B0503020204020204" pitchFamily="34" charset="-122"/>
      <p:regular r:id="rId33"/>
    </p:embeddedFont>
    <p:embeddedFont>
      <p:font typeface="微软雅黑" panose="020B0503020204020204" pitchFamily="34" charset="-120"/>
      <p:regular r:id="rId34"/>
    </p:embeddedFont>
    <p:embeddedFont>
      <p:font typeface="Calibri" panose="020F0502020204030204" charset="0"/>
      <p:regular r:id="rId35"/>
      <p:bold r:id="rId36"/>
      <p:italic r:id="rId37"/>
      <p:boldItalic r:id="rId3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8" Type="http://schemas.openxmlformats.org/officeDocument/2006/relationships/font" Target="fonts/font13.fntdata"/><Relationship Id="rId37" Type="http://schemas.openxmlformats.org/officeDocument/2006/relationships/font" Target="fonts/font12.fntdata"/><Relationship Id="rId36" Type="http://schemas.openxmlformats.org/officeDocument/2006/relationships/font" Target="fonts/font11.fntdata"/><Relationship Id="rId35" Type="http://schemas.openxmlformats.org/officeDocument/2006/relationships/font" Target="fonts/font10.fntdata"/><Relationship Id="rId34" Type="http://schemas.openxmlformats.org/officeDocument/2006/relationships/font" Target="fonts/font9.fntdata"/><Relationship Id="rId33" Type="http://schemas.openxmlformats.org/officeDocument/2006/relationships/font" Target="fonts/font8.fntdata"/><Relationship Id="rId32" Type="http://schemas.openxmlformats.org/officeDocument/2006/relationships/font" Target="fonts/font7.fntdata"/><Relationship Id="rId31" Type="http://schemas.openxmlformats.org/officeDocument/2006/relationships/font" Target="fonts/font6.fntdata"/><Relationship Id="rId30" Type="http://schemas.openxmlformats.org/officeDocument/2006/relationships/font" Target="fonts/font5.fntdata"/><Relationship Id="rId3" Type="http://schemas.openxmlformats.org/officeDocument/2006/relationships/slide" Target="slides/slide1.xml"/><Relationship Id="rId29" Type="http://schemas.openxmlformats.org/officeDocument/2006/relationships/font" Target="fonts/font4.fntdata"/><Relationship Id="rId28" Type="http://schemas.openxmlformats.org/officeDocument/2006/relationships/font" Target="fonts/font3.fntdata"/><Relationship Id="rId27" Type="http://schemas.openxmlformats.org/officeDocument/2006/relationships/font" Target="fonts/font2.fntdata"/><Relationship Id="rId26" Type="http://schemas.openxmlformats.org/officeDocument/2006/relationships/font" Target="fonts/font1.fntdata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2" Type="http://schemas.openxmlformats.org/officeDocument/2006/relationships/notesSlide" Target="../notesSlides/notesSlide2.xml"/><Relationship Id="rId31" Type="http://schemas.openxmlformats.org/officeDocument/2006/relationships/slideLayout" Target="../slideLayouts/slideLayout1.xml"/><Relationship Id="rId30" Type="http://schemas.openxmlformats.org/officeDocument/2006/relationships/tags" Target="../tags/tag30.xml"/><Relationship Id="rId3" Type="http://schemas.openxmlformats.org/officeDocument/2006/relationships/tags" Target="../tags/tag3.xml"/><Relationship Id="rId29" Type="http://schemas.openxmlformats.org/officeDocument/2006/relationships/tags" Target="../tags/tag29.xml"/><Relationship Id="rId28" Type="http://schemas.openxmlformats.org/officeDocument/2006/relationships/tags" Target="../tags/tag28.xml"/><Relationship Id="rId27" Type="http://schemas.openxmlformats.org/officeDocument/2006/relationships/tags" Target="../tags/tag27.xml"/><Relationship Id="rId26" Type="http://schemas.openxmlformats.org/officeDocument/2006/relationships/tags" Target="../tags/tag26.xml"/><Relationship Id="rId25" Type="http://schemas.openxmlformats.org/officeDocument/2006/relationships/tags" Target="../tags/tag25.xml"/><Relationship Id="rId24" Type="http://schemas.openxmlformats.org/officeDocument/2006/relationships/tags" Target="../tags/tag24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691ba4a5b0bfad7b5e16defd86fe8627b2502e4e.jpg"/>
          <p:cNvPicPr>
            <a:picLocks noChangeAspect="1"/>
          </p:cNvPicPr>
          <p:nvPr/>
        </p:nvPicPr>
        <p:blipFill>
          <a:blip r:embed="rId1">
            <a:alphaModFix amt="40000"/>
          </a:blip>
          <a:srcRect t="265" b="265"/>
          <a:stretch>
            <a:fillRect/>
          </a:stretch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202C">
                  <a:alpha val="95000"/>
                </a:srgbClr>
              </a:gs>
              <a:gs pos="50000">
                <a:srgbClr val="1A202C">
                  <a:alpha val="8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</p:spPr>
      </p:sp>
      <p:sp>
        <p:nvSpPr>
          <p:cNvPr id="4" name="Shape 1"/>
          <p:cNvSpPr/>
          <p:nvPr/>
        </p:nvSpPr>
        <p:spPr>
          <a:xfrm>
            <a:off x="513080" y="1896110"/>
            <a:ext cx="3368199" cy="487680"/>
          </a:xfrm>
          <a:custGeom>
            <a:avLst/>
            <a:gdLst/>
            <a:ahLst/>
            <a:cxnLst/>
            <a:rect l="l" t="t" r="r" b="b"/>
            <a:pathLst>
              <a:path w="3368199" h="487680">
                <a:moveTo>
                  <a:pt x="50802" y="0"/>
                </a:moveTo>
                <a:lnTo>
                  <a:pt x="3317397" y="0"/>
                </a:lnTo>
                <a:cubicBezTo>
                  <a:pt x="3345454" y="0"/>
                  <a:pt x="3368199" y="22745"/>
                  <a:pt x="3368199" y="50802"/>
                </a:cubicBezTo>
                <a:lnTo>
                  <a:pt x="3368199" y="436878"/>
                </a:lnTo>
                <a:cubicBezTo>
                  <a:pt x="3368199" y="464935"/>
                  <a:pt x="3345454" y="487680"/>
                  <a:pt x="3317397" y="487680"/>
                </a:cubicBezTo>
                <a:lnTo>
                  <a:pt x="50802" y="487680"/>
                </a:lnTo>
                <a:cubicBezTo>
                  <a:pt x="22745" y="487680"/>
                  <a:pt x="0" y="464935"/>
                  <a:pt x="0" y="436878"/>
                </a:cubicBezTo>
                <a:lnTo>
                  <a:pt x="0" y="50802"/>
                </a:lnTo>
                <a:cubicBezTo>
                  <a:pt x="0" y="22745"/>
                  <a:pt x="22745" y="0"/>
                  <a:pt x="50802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10160">
            <a:solidFill>
              <a:srgbClr val="38B2AC">
                <a:alpha val="30196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8000" y="1891030"/>
            <a:ext cx="3446939" cy="477520"/>
          </a:xfrm>
          <a:prstGeom prst="rect">
            <a:avLst/>
          </a:prstGeom>
          <a:noFill/>
        </p:spPr>
        <p:txBody>
          <a:bodyPr wrap="square" lIns="203200" tIns="101600" rIns="203200" bIns="101600" rtlCol="0" anchor="ctr"/>
          <a:lstStyle/>
          <a:p>
            <a:pPr>
              <a:lnSpc>
                <a:spcPct val="120000"/>
              </a:lnSpc>
            </a:pPr>
            <a:r>
              <a:rPr lang="en-US" sz="1400" b="1" kern="0" spc="140" dirty="0">
                <a:solidFill>
                  <a:srgbClr val="38B2AC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Academic Warning System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8000" y="2571750"/>
            <a:ext cx="15697200" cy="228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E2E8F0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学术预警系统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6000" b="1" dirty="0">
                <a:solidFill>
                  <a:srgbClr val="E2E8F0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版本迭代与AI集成实践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08000" y="5162550"/>
            <a:ext cx="1625600" cy="50800"/>
          </a:xfrm>
          <a:custGeom>
            <a:avLst/>
            <a:gdLst/>
            <a:ahLst/>
            <a:cxnLst/>
            <a:rect l="l" t="t" r="r" b="b"/>
            <a:pathLst>
              <a:path w="1625600" h="50800">
                <a:moveTo>
                  <a:pt x="0" y="0"/>
                </a:moveTo>
                <a:lnTo>
                  <a:pt x="1625600" y="0"/>
                </a:lnTo>
                <a:lnTo>
                  <a:pt x="16256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38B2AC"/>
          </a:solidFill>
        </p:spPr>
      </p:sp>
      <p:sp>
        <p:nvSpPr>
          <p:cNvPr id="8" name="Text 5"/>
          <p:cNvSpPr/>
          <p:nvPr/>
        </p:nvSpPr>
        <p:spPr>
          <a:xfrm>
            <a:off x="508000" y="5518150"/>
            <a:ext cx="1539240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E2E8F0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从基础预警到AI赋能的全流程学业风险管控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08000" y="6216650"/>
            <a:ext cx="15367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71809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学业预警智能管理系统 V1.0 &amp; V2.0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33400" y="8026400"/>
            <a:ext cx="50800" cy="609600"/>
          </a:xfrm>
          <a:custGeom>
            <a:avLst/>
            <a:gdLst/>
            <a:ahLst/>
            <a:cxnLst/>
            <a:rect l="l" t="t" r="r" b="b"/>
            <a:pathLst>
              <a:path w="50800" h="609600">
                <a:moveTo>
                  <a:pt x="0" y="0"/>
                </a:moveTo>
                <a:lnTo>
                  <a:pt x="50800" y="0"/>
                </a:lnTo>
                <a:lnTo>
                  <a:pt x="508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38B2AC"/>
          </a:solidFill>
        </p:spPr>
      </p:sp>
      <p:sp>
        <p:nvSpPr>
          <p:cNvPr id="11" name="Text 8"/>
          <p:cNvSpPr/>
          <p:nvPr/>
        </p:nvSpPr>
        <p:spPr>
          <a:xfrm>
            <a:off x="762000" y="8026400"/>
            <a:ext cx="47752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71809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管理员端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62000" y="8331200"/>
            <a:ext cx="47879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预警规则设置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681028" y="8026400"/>
            <a:ext cx="50800" cy="609600"/>
          </a:xfrm>
          <a:custGeom>
            <a:avLst/>
            <a:gdLst/>
            <a:ahLst/>
            <a:cxnLst/>
            <a:rect l="l" t="t" r="r" b="b"/>
            <a:pathLst>
              <a:path w="50800" h="609600">
                <a:moveTo>
                  <a:pt x="0" y="0"/>
                </a:moveTo>
                <a:lnTo>
                  <a:pt x="50800" y="0"/>
                </a:lnTo>
                <a:lnTo>
                  <a:pt x="508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38B2AC"/>
          </a:solidFill>
        </p:spPr>
      </p:sp>
      <p:sp>
        <p:nvSpPr>
          <p:cNvPr id="14" name="Text 11"/>
          <p:cNvSpPr/>
          <p:nvPr/>
        </p:nvSpPr>
        <p:spPr>
          <a:xfrm>
            <a:off x="5909628" y="8026400"/>
            <a:ext cx="47752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71809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辅导员端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5909628" y="8331200"/>
            <a:ext cx="47879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学生预警管理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10828814" y="8026400"/>
            <a:ext cx="50800" cy="609600"/>
          </a:xfrm>
          <a:custGeom>
            <a:avLst/>
            <a:gdLst/>
            <a:ahLst/>
            <a:cxnLst/>
            <a:rect l="l" t="t" r="r" b="b"/>
            <a:pathLst>
              <a:path w="50800" h="609600">
                <a:moveTo>
                  <a:pt x="0" y="0"/>
                </a:moveTo>
                <a:lnTo>
                  <a:pt x="50800" y="0"/>
                </a:lnTo>
                <a:lnTo>
                  <a:pt x="508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38B2AC"/>
          </a:solidFill>
        </p:spPr>
      </p:sp>
      <p:sp>
        <p:nvSpPr>
          <p:cNvPr id="17" name="Text 14"/>
          <p:cNvSpPr/>
          <p:nvPr/>
        </p:nvSpPr>
        <p:spPr>
          <a:xfrm>
            <a:off x="11057414" y="8026400"/>
            <a:ext cx="47752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71809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学生端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1057414" y="8331200"/>
            <a:ext cx="47879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成绩查询与预警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2921000"/>
            <a:ext cx="53848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E2E8F0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目录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508000" y="3733800"/>
            <a:ext cx="812800" cy="50800"/>
          </a:xfrm>
          <a:custGeom>
            <a:avLst/>
            <a:gdLst/>
            <a:ahLst/>
            <a:cxnLst/>
            <a:rect l="l" t="t" r="r" b="b"/>
            <a:pathLst>
              <a:path w="812800" h="50800">
                <a:moveTo>
                  <a:pt x="0" y="0"/>
                </a:moveTo>
                <a:lnTo>
                  <a:pt x="812800" y="0"/>
                </a:lnTo>
                <a:lnTo>
                  <a:pt x="8128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38B2AC"/>
          </a:solidFill>
        </p:spPr>
      </p:sp>
      <p:sp>
        <p:nvSpPr>
          <p:cNvPr id="4" name="Text 2"/>
          <p:cNvSpPr/>
          <p:nvPr/>
        </p:nvSpPr>
        <p:spPr>
          <a:xfrm>
            <a:off x="508000" y="4394200"/>
            <a:ext cx="5194300" cy="1828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71809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本演示文稿将详细介绍学术预警系统的两个版本迭代过程，从V1.0的基础功能实现到V2.0的AI智能增强，展示完整的技术架构、功能验证和版本管理方案。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019800" y="508000"/>
            <a:ext cx="9728200" cy="1231900"/>
          </a:xfrm>
          <a:custGeom>
            <a:avLst/>
            <a:gdLst/>
            <a:ahLst/>
            <a:cxnLst/>
            <a:rect l="l" t="t" r="r" b="b"/>
            <a:pathLst>
              <a:path w="9728200" h="1231900">
                <a:moveTo>
                  <a:pt x="50800" y="0"/>
                </a:moveTo>
                <a:lnTo>
                  <a:pt x="9626605" y="0"/>
                </a:lnTo>
                <a:cubicBezTo>
                  <a:pt x="9682714" y="0"/>
                  <a:pt x="9728200" y="45486"/>
                  <a:pt x="9728200" y="101595"/>
                </a:cubicBezTo>
                <a:lnTo>
                  <a:pt x="9728200" y="1130305"/>
                </a:lnTo>
                <a:cubicBezTo>
                  <a:pt x="9728200" y="1186414"/>
                  <a:pt x="9682714" y="1231900"/>
                  <a:pt x="9626605" y="1231900"/>
                </a:cubicBezTo>
                <a:lnTo>
                  <a:pt x="50800" y="1231900"/>
                </a:lnTo>
                <a:cubicBezTo>
                  <a:pt x="22744" y="1231900"/>
                  <a:pt x="0" y="1209156"/>
                  <a:pt x="0" y="11811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</p:spPr>
      </p:sp>
      <p:sp>
        <p:nvSpPr>
          <p:cNvPr id="6" name="Shape 4"/>
          <p:cNvSpPr/>
          <p:nvPr>
            <p:custDataLst>
              <p:tags r:id="rId1"/>
            </p:custDataLst>
          </p:nvPr>
        </p:nvSpPr>
        <p:spPr>
          <a:xfrm>
            <a:off x="6019800" y="508000"/>
            <a:ext cx="50800" cy="1231900"/>
          </a:xfrm>
          <a:custGeom>
            <a:avLst/>
            <a:gdLst/>
            <a:ahLst/>
            <a:cxnLst/>
            <a:rect l="l" t="t" r="r" b="b"/>
            <a:pathLst>
              <a:path w="50800" h="1231900">
                <a:moveTo>
                  <a:pt x="50800" y="0"/>
                </a:moveTo>
                <a:lnTo>
                  <a:pt x="50800" y="0"/>
                </a:lnTo>
                <a:lnTo>
                  <a:pt x="50800" y="1231900"/>
                </a:lnTo>
                <a:lnTo>
                  <a:pt x="50800" y="1231900"/>
                </a:lnTo>
                <a:cubicBezTo>
                  <a:pt x="22763" y="1231900"/>
                  <a:pt x="0" y="1209137"/>
                  <a:pt x="0" y="11811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8B2AC"/>
          </a:solidFill>
        </p:spPr>
      </p:sp>
      <p:sp>
        <p:nvSpPr>
          <p:cNvPr id="7" name="Shape 5"/>
          <p:cNvSpPr/>
          <p:nvPr>
            <p:custDataLst>
              <p:tags r:id="rId2"/>
            </p:custDataLst>
          </p:nvPr>
        </p:nvSpPr>
        <p:spPr>
          <a:xfrm>
            <a:off x="6248400" y="867728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38B2AC"/>
          </a:solidFill>
        </p:spPr>
      </p:sp>
      <p:sp>
        <p:nvSpPr>
          <p:cNvPr id="8" name="Text 6"/>
          <p:cNvSpPr/>
          <p:nvPr>
            <p:custDataLst>
              <p:tags r:id="rId3"/>
            </p:custDataLst>
          </p:nvPr>
        </p:nvSpPr>
        <p:spPr>
          <a:xfrm>
            <a:off x="6191250" y="867728"/>
            <a:ext cx="6223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1A202C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>
            <p:custDataLst>
              <p:tags r:id="rId4"/>
            </p:custDataLst>
          </p:nvPr>
        </p:nvSpPr>
        <p:spPr>
          <a:xfrm>
            <a:off x="6959600" y="791528"/>
            <a:ext cx="86995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项目背景与核心业务需求</a:t>
            </a:r>
            <a:endParaRPr lang="en-US" sz="1600" dirty="0"/>
          </a:p>
        </p:txBody>
      </p:sp>
      <p:sp>
        <p:nvSpPr>
          <p:cNvPr id="10" name="Text 8"/>
          <p:cNvSpPr/>
          <p:nvPr>
            <p:custDataLst>
              <p:tags r:id="rId5"/>
            </p:custDataLst>
          </p:nvPr>
        </p:nvSpPr>
        <p:spPr>
          <a:xfrm>
            <a:off x="6959600" y="1197928"/>
            <a:ext cx="86741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71809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传统学业管理痛点分析与解决方案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019800" y="1888014"/>
            <a:ext cx="9728200" cy="1231900"/>
          </a:xfrm>
          <a:custGeom>
            <a:avLst/>
            <a:gdLst/>
            <a:ahLst/>
            <a:cxnLst/>
            <a:rect l="l" t="t" r="r" b="b"/>
            <a:pathLst>
              <a:path w="9728200" h="1231900">
                <a:moveTo>
                  <a:pt x="50800" y="0"/>
                </a:moveTo>
                <a:lnTo>
                  <a:pt x="9626605" y="0"/>
                </a:lnTo>
                <a:cubicBezTo>
                  <a:pt x="9682714" y="0"/>
                  <a:pt x="9728200" y="45486"/>
                  <a:pt x="9728200" y="101595"/>
                </a:cubicBezTo>
                <a:lnTo>
                  <a:pt x="9728200" y="1130305"/>
                </a:lnTo>
                <a:cubicBezTo>
                  <a:pt x="9728200" y="1186414"/>
                  <a:pt x="9682714" y="1231900"/>
                  <a:pt x="9626605" y="1231900"/>
                </a:cubicBezTo>
                <a:lnTo>
                  <a:pt x="50800" y="1231900"/>
                </a:lnTo>
                <a:cubicBezTo>
                  <a:pt x="22744" y="1231900"/>
                  <a:pt x="0" y="1209156"/>
                  <a:pt x="0" y="11811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</p:spPr>
      </p:sp>
      <p:sp>
        <p:nvSpPr>
          <p:cNvPr id="12" name="Shape 10"/>
          <p:cNvSpPr/>
          <p:nvPr>
            <p:custDataLst>
              <p:tags r:id="rId6"/>
            </p:custDataLst>
          </p:nvPr>
        </p:nvSpPr>
        <p:spPr>
          <a:xfrm>
            <a:off x="6019800" y="1888014"/>
            <a:ext cx="50800" cy="1231900"/>
          </a:xfrm>
          <a:custGeom>
            <a:avLst/>
            <a:gdLst/>
            <a:ahLst/>
            <a:cxnLst/>
            <a:rect l="l" t="t" r="r" b="b"/>
            <a:pathLst>
              <a:path w="50800" h="1231900">
                <a:moveTo>
                  <a:pt x="50800" y="0"/>
                </a:moveTo>
                <a:lnTo>
                  <a:pt x="50800" y="0"/>
                </a:lnTo>
                <a:lnTo>
                  <a:pt x="50800" y="1231900"/>
                </a:lnTo>
                <a:lnTo>
                  <a:pt x="50800" y="1231900"/>
                </a:lnTo>
                <a:cubicBezTo>
                  <a:pt x="22763" y="1231900"/>
                  <a:pt x="0" y="1209137"/>
                  <a:pt x="0" y="11811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8B2AC"/>
          </a:solidFill>
        </p:spPr>
      </p:sp>
      <p:sp>
        <p:nvSpPr>
          <p:cNvPr id="13" name="Shape 11"/>
          <p:cNvSpPr/>
          <p:nvPr>
            <p:custDataLst>
              <p:tags r:id="rId7"/>
            </p:custDataLst>
          </p:nvPr>
        </p:nvSpPr>
        <p:spPr>
          <a:xfrm>
            <a:off x="6248400" y="2247741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38B2AC"/>
          </a:solidFill>
        </p:spPr>
      </p:sp>
      <p:sp>
        <p:nvSpPr>
          <p:cNvPr id="14" name="Text 12"/>
          <p:cNvSpPr/>
          <p:nvPr>
            <p:custDataLst>
              <p:tags r:id="rId8"/>
            </p:custDataLst>
          </p:nvPr>
        </p:nvSpPr>
        <p:spPr>
          <a:xfrm>
            <a:off x="6191250" y="2247741"/>
            <a:ext cx="6223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1A202C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>
            <p:custDataLst>
              <p:tags r:id="rId9"/>
            </p:custDataLst>
          </p:nvPr>
        </p:nvSpPr>
        <p:spPr>
          <a:xfrm>
            <a:off x="6959600" y="2171541"/>
            <a:ext cx="86995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多角色界面与功能详情</a:t>
            </a:r>
            <a:endParaRPr lang="en-US" sz="1600" dirty="0"/>
          </a:p>
        </p:txBody>
      </p:sp>
      <p:sp>
        <p:nvSpPr>
          <p:cNvPr id="16" name="Text 14"/>
          <p:cNvSpPr/>
          <p:nvPr>
            <p:custDataLst>
              <p:tags r:id="rId10"/>
            </p:custDataLst>
          </p:nvPr>
        </p:nvSpPr>
        <p:spPr>
          <a:xfrm>
            <a:off x="6959600" y="2577941"/>
            <a:ext cx="86741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71809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五大角色核心功能模块展示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019800" y="3268028"/>
            <a:ext cx="9728200" cy="1231900"/>
          </a:xfrm>
          <a:custGeom>
            <a:avLst/>
            <a:gdLst/>
            <a:ahLst/>
            <a:cxnLst/>
            <a:rect l="l" t="t" r="r" b="b"/>
            <a:pathLst>
              <a:path w="9728200" h="1231900">
                <a:moveTo>
                  <a:pt x="50800" y="0"/>
                </a:moveTo>
                <a:lnTo>
                  <a:pt x="9626605" y="0"/>
                </a:lnTo>
                <a:cubicBezTo>
                  <a:pt x="9682714" y="0"/>
                  <a:pt x="9728200" y="45486"/>
                  <a:pt x="9728200" y="101595"/>
                </a:cubicBezTo>
                <a:lnTo>
                  <a:pt x="9728200" y="1130305"/>
                </a:lnTo>
                <a:cubicBezTo>
                  <a:pt x="9728200" y="1186414"/>
                  <a:pt x="9682714" y="1231900"/>
                  <a:pt x="9626605" y="1231900"/>
                </a:cubicBezTo>
                <a:lnTo>
                  <a:pt x="50800" y="1231900"/>
                </a:lnTo>
                <a:cubicBezTo>
                  <a:pt x="22744" y="1231900"/>
                  <a:pt x="0" y="1209156"/>
                  <a:pt x="0" y="11811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</p:spPr>
      </p:sp>
      <p:sp>
        <p:nvSpPr>
          <p:cNvPr id="18" name="Shape 16"/>
          <p:cNvSpPr/>
          <p:nvPr>
            <p:custDataLst>
              <p:tags r:id="rId11"/>
            </p:custDataLst>
          </p:nvPr>
        </p:nvSpPr>
        <p:spPr>
          <a:xfrm>
            <a:off x="6019800" y="3268028"/>
            <a:ext cx="50800" cy="1231900"/>
          </a:xfrm>
          <a:custGeom>
            <a:avLst/>
            <a:gdLst/>
            <a:ahLst/>
            <a:cxnLst/>
            <a:rect l="l" t="t" r="r" b="b"/>
            <a:pathLst>
              <a:path w="50800" h="1231900">
                <a:moveTo>
                  <a:pt x="50800" y="0"/>
                </a:moveTo>
                <a:lnTo>
                  <a:pt x="50800" y="0"/>
                </a:lnTo>
                <a:lnTo>
                  <a:pt x="50800" y="1231900"/>
                </a:lnTo>
                <a:lnTo>
                  <a:pt x="50800" y="1231900"/>
                </a:lnTo>
                <a:cubicBezTo>
                  <a:pt x="22763" y="1231900"/>
                  <a:pt x="0" y="1209137"/>
                  <a:pt x="0" y="11811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8B2AC"/>
          </a:solidFill>
        </p:spPr>
      </p:sp>
      <p:sp>
        <p:nvSpPr>
          <p:cNvPr id="19" name="Shape 17"/>
          <p:cNvSpPr/>
          <p:nvPr>
            <p:custDataLst>
              <p:tags r:id="rId12"/>
            </p:custDataLst>
          </p:nvPr>
        </p:nvSpPr>
        <p:spPr>
          <a:xfrm>
            <a:off x="6248400" y="3627913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38B2AC"/>
          </a:solidFill>
        </p:spPr>
      </p:sp>
      <p:sp>
        <p:nvSpPr>
          <p:cNvPr id="20" name="Text 18"/>
          <p:cNvSpPr/>
          <p:nvPr>
            <p:custDataLst>
              <p:tags r:id="rId13"/>
            </p:custDataLst>
          </p:nvPr>
        </p:nvSpPr>
        <p:spPr>
          <a:xfrm>
            <a:off x="6191250" y="3627913"/>
            <a:ext cx="6223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1A202C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/>
          <p:nvPr>
            <p:custDataLst>
              <p:tags r:id="rId14"/>
            </p:custDataLst>
          </p:nvPr>
        </p:nvSpPr>
        <p:spPr>
          <a:xfrm>
            <a:off x="6959600" y="3551713"/>
            <a:ext cx="86995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版本规划：V1.0 vs V2.0核心差异</a:t>
            </a:r>
            <a:endParaRPr lang="en-US" sz="1600" dirty="0"/>
          </a:p>
        </p:txBody>
      </p:sp>
      <p:sp>
        <p:nvSpPr>
          <p:cNvPr id="22" name="Text 20"/>
          <p:cNvSpPr/>
          <p:nvPr>
            <p:custDataLst>
              <p:tags r:id="rId15"/>
            </p:custDataLst>
          </p:nvPr>
        </p:nvSpPr>
        <p:spPr>
          <a:xfrm>
            <a:off x="6959600" y="3958113"/>
            <a:ext cx="86741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71809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从数字化到智能化的升级路径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019800" y="4648200"/>
            <a:ext cx="9728200" cy="1231900"/>
          </a:xfrm>
          <a:custGeom>
            <a:avLst/>
            <a:gdLst/>
            <a:ahLst/>
            <a:cxnLst/>
            <a:rect l="l" t="t" r="r" b="b"/>
            <a:pathLst>
              <a:path w="9728200" h="1231900">
                <a:moveTo>
                  <a:pt x="50800" y="0"/>
                </a:moveTo>
                <a:lnTo>
                  <a:pt x="9626605" y="0"/>
                </a:lnTo>
                <a:cubicBezTo>
                  <a:pt x="9682714" y="0"/>
                  <a:pt x="9728200" y="45486"/>
                  <a:pt x="9728200" y="101595"/>
                </a:cubicBezTo>
                <a:lnTo>
                  <a:pt x="9728200" y="1130305"/>
                </a:lnTo>
                <a:cubicBezTo>
                  <a:pt x="9728200" y="1186414"/>
                  <a:pt x="9682714" y="1231900"/>
                  <a:pt x="9626605" y="1231900"/>
                </a:cubicBezTo>
                <a:lnTo>
                  <a:pt x="50800" y="1231900"/>
                </a:lnTo>
                <a:cubicBezTo>
                  <a:pt x="22744" y="1231900"/>
                  <a:pt x="0" y="1209156"/>
                  <a:pt x="0" y="11811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</p:spPr>
      </p:sp>
      <p:sp>
        <p:nvSpPr>
          <p:cNvPr id="24" name="Shape 22"/>
          <p:cNvSpPr/>
          <p:nvPr>
            <p:custDataLst>
              <p:tags r:id="rId16"/>
            </p:custDataLst>
          </p:nvPr>
        </p:nvSpPr>
        <p:spPr>
          <a:xfrm>
            <a:off x="6019800" y="4648200"/>
            <a:ext cx="50800" cy="1231900"/>
          </a:xfrm>
          <a:custGeom>
            <a:avLst/>
            <a:gdLst/>
            <a:ahLst/>
            <a:cxnLst/>
            <a:rect l="l" t="t" r="r" b="b"/>
            <a:pathLst>
              <a:path w="50800" h="1231900">
                <a:moveTo>
                  <a:pt x="50800" y="0"/>
                </a:moveTo>
                <a:lnTo>
                  <a:pt x="50800" y="0"/>
                </a:lnTo>
                <a:lnTo>
                  <a:pt x="50800" y="1231900"/>
                </a:lnTo>
                <a:lnTo>
                  <a:pt x="50800" y="1231900"/>
                </a:lnTo>
                <a:cubicBezTo>
                  <a:pt x="22763" y="1231900"/>
                  <a:pt x="0" y="1209137"/>
                  <a:pt x="0" y="11811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8B2AC"/>
          </a:solidFill>
        </p:spPr>
      </p:sp>
      <p:sp>
        <p:nvSpPr>
          <p:cNvPr id="25" name="Shape 23"/>
          <p:cNvSpPr/>
          <p:nvPr>
            <p:custDataLst>
              <p:tags r:id="rId17"/>
            </p:custDataLst>
          </p:nvPr>
        </p:nvSpPr>
        <p:spPr>
          <a:xfrm>
            <a:off x="6248400" y="5007928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38B2AC"/>
          </a:solidFill>
        </p:spPr>
      </p:sp>
      <p:sp>
        <p:nvSpPr>
          <p:cNvPr id="26" name="Text 24"/>
          <p:cNvSpPr/>
          <p:nvPr>
            <p:custDataLst>
              <p:tags r:id="rId18"/>
            </p:custDataLst>
          </p:nvPr>
        </p:nvSpPr>
        <p:spPr>
          <a:xfrm>
            <a:off x="6191250" y="5007928"/>
            <a:ext cx="6223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1A202C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04</a:t>
            </a:r>
            <a:endParaRPr lang="en-US" sz="1600" dirty="0"/>
          </a:p>
        </p:txBody>
      </p:sp>
      <p:sp>
        <p:nvSpPr>
          <p:cNvPr id="27" name="Text 25"/>
          <p:cNvSpPr/>
          <p:nvPr>
            <p:custDataLst>
              <p:tags r:id="rId19"/>
            </p:custDataLst>
          </p:nvPr>
        </p:nvSpPr>
        <p:spPr>
          <a:xfrm>
            <a:off x="6959600" y="4931728"/>
            <a:ext cx="86995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V1.0（基础版）设计与实现</a:t>
            </a:r>
            <a:endParaRPr lang="en-US" sz="1600" dirty="0"/>
          </a:p>
        </p:txBody>
      </p:sp>
      <p:sp>
        <p:nvSpPr>
          <p:cNvPr id="28" name="Text 26"/>
          <p:cNvSpPr/>
          <p:nvPr>
            <p:custDataLst>
              <p:tags r:id="rId20"/>
            </p:custDataLst>
          </p:nvPr>
        </p:nvSpPr>
        <p:spPr>
          <a:xfrm>
            <a:off x="6959600" y="5338128"/>
            <a:ext cx="86741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71809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架构设计、核心功能与验证结果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019800" y="6028213"/>
            <a:ext cx="9728200" cy="1231900"/>
          </a:xfrm>
          <a:custGeom>
            <a:avLst/>
            <a:gdLst/>
            <a:ahLst/>
            <a:cxnLst/>
            <a:rect l="l" t="t" r="r" b="b"/>
            <a:pathLst>
              <a:path w="9728200" h="1231900">
                <a:moveTo>
                  <a:pt x="50800" y="0"/>
                </a:moveTo>
                <a:lnTo>
                  <a:pt x="9626605" y="0"/>
                </a:lnTo>
                <a:cubicBezTo>
                  <a:pt x="9682714" y="0"/>
                  <a:pt x="9728200" y="45486"/>
                  <a:pt x="9728200" y="101595"/>
                </a:cubicBezTo>
                <a:lnTo>
                  <a:pt x="9728200" y="1130305"/>
                </a:lnTo>
                <a:cubicBezTo>
                  <a:pt x="9728200" y="1186414"/>
                  <a:pt x="9682714" y="1231900"/>
                  <a:pt x="9626605" y="1231900"/>
                </a:cubicBezTo>
                <a:lnTo>
                  <a:pt x="50800" y="1231900"/>
                </a:lnTo>
                <a:cubicBezTo>
                  <a:pt x="22744" y="1231900"/>
                  <a:pt x="0" y="1209156"/>
                  <a:pt x="0" y="11811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</p:spPr>
      </p:sp>
      <p:sp>
        <p:nvSpPr>
          <p:cNvPr id="30" name="Shape 28"/>
          <p:cNvSpPr/>
          <p:nvPr>
            <p:custDataLst>
              <p:tags r:id="rId21"/>
            </p:custDataLst>
          </p:nvPr>
        </p:nvSpPr>
        <p:spPr>
          <a:xfrm>
            <a:off x="6019800" y="6028213"/>
            <a:ext cx="50800" cy="1231900"/>
          </a:xfrm>
          <a:custGeom>
            <a:avLst/>
            <a:gdLst/>
            <a:ahLst/>
            <a:cxnLst/>
            <a:rect l="l" t="t" r="r" b="b"/>
            <a:pathLst>
              <a:path w="50800" h="1231900">
                <a:moveTo>
                  <a:pt x="50800" y="0"/>
                </a:moveTo>
                <a:lnTo>
                  <a:pt x="50800" y="0"/>
                </a:lnTo>
                <a:lnTo>
                  <a:pt x="50800" y="1231900"/>
                </a:lnTo>
                <a:lnTo>
                  <a:pt x="50800" y="1231900"/>
                </a:lnTo>
                <a:cubicBezTo>
                  <a:pt x="22763" y="1231900"/>
                  <a:pt x="0" y="1209137"/>
                  <a:pt x="0" y="11811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8B2AC"/>
          </a:solidFill>
        </p:spPr>
      </p:sp>
      <p:sp>
        <p:nvSpPr>
          <p:cNvPr id="31" name="Shape 29"/>
          <p:cNvSpPr/>
          <p:nvPr>
            <p:custDataLst>
              <p:tags r:id="rId22"/>
            </p:custDataLst>
          </p:nvPr>
        </p:nvSpPr>
        <p:spPr>
          <a:xfrm>
            <a:off x="6248400" y="6387942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38B2AC"/>
          </a:solidFill>
        </p:spPr>
      </p:sp>
      <p:sp>
        <p:nvSpPr>
          <p:cNvPr id="32" name="Text 30"/>
          <p:cNvSpPr/>
          <p:nvPr>
            <p:custDataLst>
              <p:tags r:id="rId23"/>
            </p:custDataLst>
          </p:nvPr>
        </p:nvSpPr>
        <p:spPr>
          <a:xfrm>
            <a:off x="6191250" y="6387942"/>
            <a:ext cx="6223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1A202C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05</a:t>
            </a:r>
            <a:endParaRPr lang="en-US" sz="1600" dirty="0"/>
          </a:p>
        </p:txBody>
      </p:sp>
      <p:sp>
        <p:nvSpPr>
          <p:cNvPr id="33" name="Text 31"/>
          <p:cNvSpPr/>
          <p:nvPr>
            <p:custDataLst>
              <p:tags r:id="rId24"/>
            </p:custDataLst>
          </p:nvPr>
        </p:nvSpPr>
        <p:spPr>
          <a:xfrm>
            <a:off x="6959600" y="6311742"/>
            <a:ext cx="86995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V2.0（AI增强版）迭代设计</a:t>
            </a:r>
            <a:endParaRPr lang="en-US" sz="1600" dirty="0"/>
          </a:p>
        </p:txBody>
      </p:sp>
      <p:sp>
        <p:nvSpPr>
          <p:cNvPr id="34" name="Text 32"/>
          <p:cNvSpPr/>
          <p:nvPr>
            <p:custDataLst>
              <p:tags r:id="rId25"/>
            </p:custDataLst>
          </p:nvPr>
        </p:nvSpPr>
        <p:spPr>
          <a:xfrm>
            <a:off x="6959600" y="6718142"/>
            <a:ext cx="86741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71809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AI接口集成与技术方案实现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019800" y="7408228"/>
            <a:ext cx="9728200" cy="1231900"/>
          </a:xfrm>
          <a:custGeom>
            <a:avLst/>
            <a:gdLst/>
            <a:ahLst/>
            <a:cxnLst/>
            <a:rect l="l" t="t" r="r" b="b"/>
            <a:pathLst>
              <a:path w="9728200" h="1231900">
                <a:moveTo>
                  <a:pt x="50800" y="0"/>
                </a:moveTo>
                <a:lnTo>
                  <a:pt x="9626605" y="0"/>
                </a:lnTo>
                <a:cubicBezTo>
                  <a:pt x="9682714" y="0"/>
                  <a:pt x="9728200" y="45486"/>
                  <a:pt x="9728200" y="101595"/>
                </a:cubicBezTo>
                <a:lnTo>
                  <a:pt x="9728200" y="1130305"/>
                </a:lnTo>
                <a:cubicBezTo>
                  <a:pt x="9728200" y="1186414"/>
                  <a:pt x="9682714" y="1231900"/>
                  <a:pt x="9626605" y="1231900"/>
                </a:cubicBezTo>
                <a:lnTo>
                  <a:pt x="50800" y="1231900"/>
                </a:lnTo>
                <a:cubicBezTo>
                  <a:pt x="22744" y="1231900"/>
                  <a:pt x="0" y="1209156"/>
                  <a:pt x="0" y="11811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</p:spPr>
      </p:sp>
      <p:sp>
        <p:nvSpPr>
          <p:cNvPr id="36" name="Shape 34"/>
          <p:cNvSpPr/>
          <p:nvPr>
            <p:custDataLst>
              <p:tags r:id="rId26"/>
            </p:custDataLst>
          </p:nvPr>
        </p:nvSpPr>
        <p:spPr>
          <a:xfrm>
            <a:off x="6019800" y="7408228"/>
            <a:ext cx="50800" cy="1231900"/>
          </a:xfrm>
          <a:custGeom>
            <a:avLst/>
            <a:gdLst/>
            <a:ahLst/>
            <a:cxnLst/>
            <a:rect l="l" t="t" r="r" b="b"/>
            <a:pathLst>
              <a:path w="50800" h="1231900">
                <a:moveTo>
                  <a:pt x="50800" y="0"/>
                </a:moveTo>
                <a:lnTo>
                  <a:pt x="50800" y="0"/>
                </a:lnTo>
                <a:lnTo>
                  <a:pt x="50800" y="1231900"/>
                </a:lnTo>
                <a:lnTo>
                  <a:pt x="50800" y="1231900"/>
                </a:lnTo>
                <a:cubicBezTo>
                  <a:pt x="22763" y="1231900"/>
                  <a:pt x="0" y="1209137"/>
                  <a:pt x="0" y="11811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8B2AC"/>
          </a:solidFill>
        </p:spPr>
      </p:sp>
      <p:sp>
        <p:nvSpPr>
          <p:cNvPr id="37" name="Shape 35"/>
          <p:cNvSpPr/>
          <p:nvPr>
            <p:custDataLst>
              <p:tags r:id="rId27"/>
            </p:custDataLst>
          </p:nvPr>
        </p:nvSpPr>
        <p:spPr>
          <a:xfrm>
            <a:off x="6248400" y="7768113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38B2AC"/>
          </a:solidFill>
        </p:spPr>
      </p:sp>
      <p:sp>
        <p:nvSpPr>
          <p:cNvPr id="38" name="Text 36"/>
          <p:cNvSpPr/>
          <p:nvPr>
            <p:custDataLst>
              <p:tags r:id="rId28"/>
            </p:custDataLst>
          </p:nvPr>
        </p:nvSpPr>
        <p:spPr>
          <a:xfrm>
            <a:off x="6191250" y="7768113"/>
            <a:ext cx="6223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1A202C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06</a:t>
            </a:r>
            <a:endParaRPr lang="en-US" sz="1600" dirty="0"/>
          </a:p>
        </p:txBody>
      </p:sp>
      <p:sp>
        <p:nvSpPr>
          <p:cNvPr id="39" name="Text 37"/>
          <p:cNvSpPr/>
          <p:nvPr>
            <p:custDataLst>
              <p:tags r:id="rId29"/>
            </p:custDataLst>
          </p:nvPr>
        </p:nvSpPr>
        <p:spPr>
          <a:xfrm>
            <a:off x="6959600" y="7691913"/>
            <a:ext cx="86995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版本管理、问题解决方案与未来展望</a:t>
            </a:r>
            <a:endParaRPr lang="en-US" sz="1600" dirty="0"/>
          </a:p>
        </p:txBody>
      </p:sp>
      <p:sp>
        <p:nvSpPr>
          <p:cNvPr id="40" name="Text 38"/>
          <p:cNvSpPr/>
          <p:nvPr>
            <p:custDataLst>
              <p:tags r:id="rId30"/>
            </p:custDataLst>
          </p:nvPr>
        </p:nvSpPr>
        <p:spPr>
          <a:xfrm>
            <a:off x="6959600" y="8098313"/>
            <a:ext cx="86741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71809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问题总结与规划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67126" y="467126"/>
            <a:ext cx="2253885" cy="373701"/>
          </a:xfrm>
          <a:custGeom>
            <a:avLst/>
            <a:gdLst/>
            <a:ahLst/>
            <a:cxnLst/>
            <a:rect l="l" t="t" r="r" b="b"/>
            <a:pathLst>
              <a:path w="2253885" h="373701">
                <a:moveTo>
                  <a:pt x="46713" y="0"/>
                </a:moveTo>
                <a:lnTo>
                  <a:pt x="2207172" y="0"/>
                </a:lnTo>
                <a:cubicBezTo>
                  <a:pt x="2232971" y="0"/>
                  <a:pt x="2253885" y="20914"/>
                  <a:pt x="2253885" y="46713"/>
                </a:cubicBezTo>
                <a:lnTo>
                  <a:pt x="2253885" y="326989"/>
                </a:lnTo>
                <a:cubicBezTo>
                  <a:pt x="2253885" y="352787"/>
                  <a:pt x="2232971" y="373701"/>
                  <a:pt x="2207172" y="373701"/>
                </a:cubicBezTo>
                <a:lnTo>
                  <a:pt x="46713" y="373701"/>
                </a:lnTo>
                <a:cubicBezTo>
                  <a:pt x="20931" y="373701"/>
                  <a:pt x="0" y="352770"/>
                  <a:pt x="0" y="326989"/>
                </a:cubicBezTo>
                <a:lnTo>
                  <a:pt x="0" y="46713"/>
                </a:lnTo>
                <a:cubicBezTo>
                  <a:pt x="0" y="20931"/>
                  <a:pt x="20931" y="0"/>
                  <a:pt x="46713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607264" y="551210"/>
            <a:ext cx="2059006" cy="21487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5" b="1" kern="0" spc="32" dirty="0">
                <a:solidFill>
                  <a:srgbClr val="38B2A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PROJECT BACKGROUND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67126" y="934253"/>
            <a:ext cx="15531954" cy="46712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310" b="1" dirty="0">
                <a:solidFill>
                  <a:srgbClr val="E2E8F0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项目背景与核心业务需求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67126" y="1494805"/>
            <a:ext cx="934253" cy="46713"/>
          </a:xfrm>
          <a:custGeom>
            <a:avLst/>
            <a:gdLst/>
            <a:ahLst/>
            <a:cxnLst/>
            <a:rect l="l" t="t" r="r" b="b"/>
            <a:pathLst>
              <a:path w="934253" h="46713">
                <a:moveTo>
                  <a:pt x="0" y="0"/>
                </a:moveTo>
                <a:lnTo>
                  <a:pt x="934253" y="0"/>
                </a:lnTo>
                <a:lnTo>
                  <a:pt x="934253" y="46713"/>
                </a:lnTo>
                <a:lnTo>
                  <a:pt x="0" y="46713"/>
                </a:lnTo>
                <a:lnTo>
                  <a:pt x="0" y="0"/>
                </a:lnTo>
                <a:close/>
              </a:path>
            </a:pathLst>
          </a:custGeom>
          <a:solidFill>
            <a:srgbClr val="38B2AC"/>
          </a:solidFill>
        </p:spPr>
      </p:sp>
      <p:sp>
        <p:nvSpPr>
          <p:cNvPr id="6" name="Shape 4"/>
          <p:cNvSpPr/>
          <p:nvPr/>
        </p:nvSpPr>
        <p:spPr>
          <a:xfrm>
            <a:off x="490483" y="1821793"/>
            <a:ext cx="46713" cy="6352920"/>
          </a:xfrm>
          <a:custGeom>
            <a:avLst/>
            <a:gdLst/>
            <a:ahLst/>
            <a:cxnLst/>
            <a:rect l="l" t="t" r="r" b="b"/>
            <a:pathLst>
              <a:path w="46713" h="6352920">
                <a:moveTo>
                  <a:pt x="0" y="0"/>
                </a:moveTo>
                <a:lnTo>
                  <a:pt x="46713" y="0"/>
                </a:lnTo>
                <a:lnTo>
                  <a:pt x="46713" y="6352920"/>
                </a:lnTo>
                <a:lnTo>
                  <a:pt x="0" y="6352920"/>
                </a:lnTo>
                <a:lnTo>
                  <a:pt x="0" y="0"/>
                </a:lnTo>
                <a:close/>
              </a:path>
            </a:pathLst>
          </a:custGeom>
          <a:solidFill>
            <a:srgbClr val="FB2C36"/>
          </a:solidFill>
        </p:spPr>
      </p:sp>
      <p:sp>
        <p:nvSpPr>
          <p:cNvPr id="7" name="Shape 5"/>
          <p:cNvSpPr/>
          <p:nvPr/>
        </p:nvSpPr>
        <p:spPr>
          <a:xfrm>
            <a:off x="776598" y="1868506"/>
            <a:ext cx="233563" cy="233563"/>
          </a:xfrm>
          <a:custGeom>
            <a:avLst/>
            <a:gdLst/>
            <a:ahLst/>
            <a:cxnLst/>
            <a:rect l="l" t="t" r="r" b="b"/>
            <a:pathLst>
              <a:path w="233563" h="233563">
                <a:moveTo>
                  <a:pt x="116782" y="0"/>
                </a:moveTo>
                <a:cubicBezTo>
                  <a:pt x="123487" y="0"/>
                  <a:pt x="129646" y="3695"/>
                  <a:pt x="132839" y="9580"/>
                </a:cubicBezTo>
                <a:lnTo>
                  <a:pt x="231374" y="192051"/>
                </a:lnTo>
                <a:cubicBezTo>
                  <a:pt x="234430" y="197708"/>
                  <a:pt x="234293" y="204550"/>
                  <a:pt x="231009" y="210070"/>
                </a:cubicBezTo>
                <a:cubicBezTo>
                  <a:pt x="227724" y="215590"/>
                  <a:pt x="221748" y="218966"/>
                  <a:pt x="215316" y="218966"/>
                </a:cubicBezTo>
                <a:lnTo>
                  <a:pt x="18247" y="218966"/>
                </a:lnTo>
                <a:cubicBezTo>
                  <a:pt x="11815" y="218966"/>
                  <a:pt x="5885" y="215590"/>
                  <a:pt x="2555" y="210070"/>
                </a:cubicBezTo>
                <a:cubicBezTo>
                  <a:pt x="-776" y="204550"/>
                  <a:pt x="-867" y="197708"/>
                  <a:pt x="2190" y="192051"/>
                </a:cubicBezTo>
                <a:lnTo>
                  <a:pt x="100724" y="9580"/>
                </a:lnTo>
                <a:cubicBezTo>
                  <a:pt x="103917" y="3695"/>
                  <a:pt x="110076" y="0"/>
                  <a:pt x="116782" y="0"/>
                </a:cubicBezTo>
                <a:close/>
                <a:moveTo>
                  <a:pt x="116782" y="76638"/>
                </a:moveTo>
                <a:cubicBezTo>
                  <a:pt x="110714" y="76638"/>
                  <a:pt x="105833" y="81519"/>
                  <a:pt x="105833" y="87586"/>
                </a:cubicBezTo>
                <a:lnTo>
                  <a:pt x="105833" y="138678"/>
                </a:lnTo>
                <a:cubicBezTo>
                  <a:pt x="105833" y="144745"/>
                  <a:pt x="110714" y="149626"/>
                  <a:pt x="116782" y="149626"/>
                </a:cubicBezTo>
                <a:cubicBezTo>
                  <a:pt x="122849" y="149626"/>
                  <a:pt x="127730" y="144745"/>
                  <a:pt x="127730" y="138678"/>
                </a:cubicBezTo>
                <a:lnTo>
                  <a:pt x="127730" y="87586"/>
                </a:lnTo>
                <a:cubicBezTo>
                  <a:pt x="127730" y="81519"/>
                  <a:pt x="122849" y="76638"/>
                  <a:pt x="116782" y="76638"/>
                </a:cubicBezTo>
                <a:close/>
                <a:moveTo>
                  <a:pt x="128962" y="175172"/>
                </a:moveTo>
                <a:cubicBezTo>
                  <a:pt x="129239" y="170651"/>
                  <a:pt x="126984" y="166350"/>
                  <a:pt x="123108" y="164006"/>
                </a:cubicBezTo>
                <a:cubicBezTo>
                  <a:pt x="119233" y="161661"/>
                  <a:pt x="114376" y="161661"/>
                  <a:pt x="110501" y="164006"/>
                </a:cubicBezTo>
                <a:cubicBezTo>
                  <a:pt x="106625" y="166350"/>
                  <a:pt x="104370" y="170651"/>
                  <a:pt x="104647" y="175172"/>
                </a:cubicBezTo>
                <a:cubicBezTo>
                  <a:pt x="104370" y="179693"/>
                  <a:pt x="106625" y="183995"/>
                  <a:pt x="110501" y="186339"/>
                </a:cubicBezTo>
                <a:cubicBezTo>
                  <a:pt x="114376" y="188684"/>
                  <a:pt x="119233" y="188684"/>
                  <a:pt x="123108" y="186339"/>
                </a:cubicBezTo>
                <a:cubicBezTo>
                  <a:pt x="126984" y="183995"/>
                  <a:pt x="129239" y="179693"/>
                  <a:pt x="128962" y="175172"/>
                </a:cubicBezTo>
                <a:close/>
              </a:path>
            </a:pathLst>
          </a:custGeom>
          <a:solidFill>
            <a:srgbClr val="FB2C36"/>
          </a:solidFill>
        </p:spPr>
      </p:sp>
      <p:sp>
        <p:nvSpPr>
          <p:cNvPr id="8" name="Text 6"/>
          <p:cNvSpPr/>
          <p:nvPr/>
        </p:nvSpPr>
        <p:spPr>
          <a:xfrm>
            <a:off x="1132782" y="1821793"/>
            <a:ext cx="2452414" cy="32698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40" b="1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传统学业管理核心痛点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47402" y="2288920"/>
            <a:ext cx="7368920" cy="32698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55" b="1" dirty="0">
                <a:solidFill>
                  <a:srgbClr val="38B2A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干预滞后性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47402" y="2709333"/>
            <a:ext cx="7357241" cy="3036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70" b="1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传统模式：</a:t>
            </a:r>
            <a:r>
              <a:rPr lang="en-US" sz="1470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辅导员人工统计期末成绩/学分/考勤 → 发现问题时已错过最佳干预窗口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47402" y="3106391"/>
            <a:ext cx="7357241" cy="6072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70" b="1" dirty="0">
                <a:solidFill>
                  <a:srgbClr val="38B2A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系统价值：</a:t>
            </a:r>
            <a:r>
              <a:rPr lang="en-US" sz="1470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实时同步教务数据，学生出现挂科/学分不足等情况立即触发预警，实现"早发现、早干预"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47402" y="3900506"/>
            <a:ext cx="7368920" cy="32698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55" b="1" dirty="0">
                <a:solidFill>
                  <a:srgbClr val="38B2A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人工管理低效性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47402" y="4320920"/>
            <a:ext cx="7357241" cy="3036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70" b="1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传统模式：</a:t>
            </a:r>
            <a:r>
              <a:rPr lang="en-US" sz="1470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高校学生规模大，人工筛查易漏判、无法精准区分风险等级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47402" y="4717977"/>
            <a:ext cx="7357241" cy="6072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70" b="1" dirty="0">
                <a:solidFill>
                  <a:srgbClr val="38B2A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系统价值：</a:t>
            </a:r>
            <a:r>
              <a:rPr lang="en-US" sz="1470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预设规则自动匹配，批量处理海量数据，按风险程度分级预警，避免人工误差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90483" y="8355870"/>
            <a:ext cx="46713" cy="1121103"/>
          </a:xfrm>
          <a:custGeom>
            <a:avLst/>
            <a:gdLst/>
            <a:ahLst/>
            <a:cxnLst/>
            <a:rect l="l" t="t" r="r" b="b"/>
            <a:pathLst>
              <a:path w="46713" h="1121103">
                <a:moveTo>
                  <a:pt x="0" y="0"/>
                </a:moveTo>
                <a:lnTo>
                  <a:pt x="46713" y="0"/>
                </a:lnTo>
                <a:lnTo>
                  <a:pt x="46713" y="1121103"/>
                </a:lnTo>
                <a:lnTo>
                  <a:pt x="0" y="1121103"/>
                </a:lnTo>
                <a:lnTo>
                  <a:pt x="0" y="0"/>
                </a:lnTo>
                <a:close/>
              </a:path>
            </a:pathLst>
          </a:custGeom>
          <a:solidFill>
            <a:srgbClr val="38B2AC"/>
          </a:solidFill>
        </p:spPr>
      </p:sp>
      <p:sp>
        <p:nvSpPr>
          <p:cNvPr id="16" name="Shape 14"/>
          <p:cNvSpPr/>
          <p:nvPr/>
        </p:nvSpPr>
        <p:spPr>
          <a:xfrm>
            <a:off x="1010263" y="7527552"/>
            <a:ext cx="175172" cy="233563"/>
          </a:xfrm>
          <a:custGeom>
            <a:avLst/>
            <a:gdLst/>
            <a:ahLst/>
            <a:cxnLst/>
            <a:rect l="l" t="t" r="r" b="b"/>
            <a:pathLst>
              <a:path w="175172" h="233563">
                <a:moveTo>
                  <a:pt x="133615" y="175172"/>
                </a:moveTo>
                <a:cubicBezTo>
                  <a:pt x="136945" y="165000"/>
                  <a:pt x="143605" y="155785"/>
                  <a:pt x="151132" y="147847"/>
                </a:cubicBezTo>
                <a:cubicBezTo>
                  <a:pt x="166049" y="132155"/>
                  <a:pt x="175172" y="110943"/>
                  <a:pt x="175172" y="87586"/>
                </a:cubicBezTo>
                <a:cubicBezTo>
                  <a:pt x="175172" y="39231"/>
                  <a:pt x="135941" y="0"/>
                  <a:pt x="87586" y="0"/>
                </a:cubicBezTo>
                <a:cubicBezTo>
                  <a:pt x="39231" y="0"/>
                  <a:pt x="0" y="39231"/>
                  <a:pt x="0" y="87586"/>
                </a:cubicBezTo>
                <a:cubicBezTo>
                  <a:pt x="0" y="110943"/>
                  <a:pt x="9124" y="132155"/>
                  <a:pt x="24041" y="147847"/>
                </a:cubicBezTo>
                <a:cubicBezTo>
                  <a:pt x="31568" y="155785"/>
                  <a:pt x="38273" y="165000"/>
                  <a:pt x="41558" y="175172"/>
                </a:cubicBezTo>
                <a:lnTo>
                  <a:pt x="133569" y="175172"/>
                </a:lnTo>
                <a:close/>
                <a:moveTo>
                  <a:pt x="131379" y="197069"/>
                </a:moveTo>
                <a:lnTo>
                  <a:pt x="43793" y="197069"/>
                </a:lnTo>
                <a:lnTo>
                  <a:pt x="43793" y="204368"/>
                </a:lnTo>
                <a:cubicBezTo>
                  <a:pt x="43793" y="224531"/>
                  <a:pt x="60124" y="240862"/>
                  <a:pt x="80287" y="240862"/>
                </a:cubicBezTo>
                <a:lnTo>
                  <a:pt x="94885" y="240862"/>
                </a:lnTo>
                <a:cubicBezTo>
                  <a:pt x="115048" y="240862"/>
                  <a:pt x="131379" y="224531"/>
                  <a:pt x="131379" y="204368"/>
                </a:cubicBezTo>
                <a:lnTo>
                  <a:pt x="131379" y="197069"/>
                </a:lnTo>
                <a:close/>
                <a:moveTo>
                  <a:pt x="83937" y="51092"/>
                </a:moveTo>
                <a:cubicBezTo>
                  <a:pt x="65781" y="51092"/>
                  <a:pt x="51092" y="65781"/>
                  <a:pt x="51092" y="83937"/>
                </a:cubicBezTo>
                <a:cubicBezTo>
                  <a:pt x="51092" y="90004"/>
                  <a:pt x="46211" y="94885"/>
                  <a:pt x="40144" y="94885"/>
                </a:cubicBezTo>
                <a:cubicBezTo>
                  <a:pt x="34077" y="94885"/>
                  <a:pt x="29195" y="90004"/>
                  <a:pt x="29195" y="83937"/>
                </a:cubicBezTo>
                <a:cubicBezTo>
                  <a:pt x="29195" y="53692"/>
                  <a:pt x="53692" y="29195"/>
                  <a:pt x="83937" y="29195"/>
                </a:cubicBezTo>
                <a:cubicBezTo>
                  <a:pt x="90004" y="29195"/>
                  <a:pt x="94885" y="34077"/>
                  <a:pt x="94885" y="40144"/>
                </a:cubicBezTo>
                <a:cubicBezTo>
                  <a:pt x="94885" y="46211"/>
                  <a:pt x="90004" y="51092"/>
                  <a:pt x="83937" y="51092"/>
                </a:cubicBezTo>
                <a:close/>
              </a:path>
            </a:pathLst>
          </a:custGeom>
          <a:solidFill>
            <a:srgbClr val="38B2AC"/>
          </a:solidFill>
        </p:spPr>
      </p:sp>
      <p:sp>
        <p:nvSpPr>
          <p:cNvPr id="17" name="Text 15"/>
          <p:cNvSpPr/>
          <p:nvPr/>
        </p:nvSpPr>
        <p:spPr>
          <a:xfrm>
            <a:off x="1401387" y="7480205"/>
            <a:ext cx="1518161" cy="32698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40" b="1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核心解决思路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039502" y="8087746"/>
            <a:ext cx="93425" cy="93425"/>
          </a:xfrm>
          <a:custGeom>
            <a:avLst/>
            <a:gdLst/>
            <a:ahLst/>
            <a:cxnLst/>
            <a:rect l="l" t="t" r="r" b="b"/>
            <a:pathLst>
              <a:path w="93425" h="93425">
                <a:moveTo>
                  <a:pt x="46713" y="0"/>
                </a:moveTo>
                <a:lnTo>
                  <a:pt x="46713" y="0"/>
                </a:lnTo>
                <a:cubicBezTo>
                  <a:pt x="72494" y="0"/>
                  <a:pt x="93425" y="20931"/>
                  <a:pt x="93425" y="46713"/>
                </a:cubicBezTo>
                <a:lnTo>
                  <a:pt x="93425" y="46713"/>
                </a:lnTo>
                <a:cubicBezTo>
                  <a:pt x="93425" y="72494"/>
                  <a:pt x="72494" y="93425"/>
                  <a:pt x="46713" y="93425"/>
                </a:cubicBezTo>
                <a:lnTo>
                  <a:pt x="46713" y="93425"/>
                </a:lnTo>
                <a:cubicBezTo>
                  <a:pt x="20931" y="93425"/>
                  <a:pt x="0" y="72494"/>
                  <a:pt x="0" y="46713"/>
                </a:cubicBezTo>
                <a:lnTo>
                  <a:pt x="0" y="46713"/>
                </a:lnTo>
                <a:cubicBezTo>
                  <a:pt x="0" y="20931"/>
                  <a:pt x="20931" y="0"/>
                  <a:pt x="46713" y="0"/>
                </a:cubicBezTo>
                <a:close/>
              </a:path>
            </a:pathLst>
          </a:custGeom>
          <a:solidFill>
            <a:srgbClr val="38B2AC"/>
          </a:solidFill>
        </p:spPr>
      </p:sp>
      <p:sp>
        <p:nvSpPr>
          <p:cNvPr id="19" name="Text 17"/>
          <p:cNvSpPr/>
          <p:nvPr/>
        </p:nvSpPr>
        <p:spPr>
          <a:xfrm>
            <a:off x="1401336" y="8415326"/>
            <a:ext cx="2394023" cy="2802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70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从"事后补救"转向"事前预警"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47402" y="9290122"/>
            <a:ext cx="93425" cy="93425"/>
          </a:xfrm>
          <a:custGeom>
            <a:avLst/>
            <a:gdLst/>
            <a:ahLst/>
            <a:cxnLst/>
            <a:rect l="l" t="t" r="r" b="b"/>
            <a:pathLst>
              <a:path w="93425" h="93425">
                <a:moveTo>
                  <a:pt x="46713" y="0"/>
                </a:moveTo>
                <a:lnTo>
                  <a:pt x="46713" y="0"/>
                </a:lnTo>
                <a:cubicBezTo>
                  <a:pt x="72494" y="0"/>
                  <a:pt x="93425" y="20931"/>
                  <a:pt x="93425" y="46713"/>
                </a:cubicBezTo>
                <a:lnTo>
                  <a:pt x="93425" y="46713"/>
                </a:lnTo>
                <a:cubicBezTo>
                  <a:pt x="93425" y="72494"/>
                  <a:pt x="72494" y="93425"/>
                  <a:pt x="46713" y="93425"/>
                </a:cubicBezTo>
                <a:lnTo>
                  <a:pt x="46713" y="93425"/>
                </a:lnTo>
                <a:cubicBezTo>
                  <a:pt x="20931" y="93425"/>
                  <a:pt x="0" y="72494"/>
                  <a:pt x="0" y="46713"/>
                </a:cubicBezTo>
                <a:lnTo>
                  <a:pt x="0" y="46713"/>
                </a:lnTo>
                <a:cubicBezTo>
                  <a:pt x="0" y="20931"/>
                  <a:pt x="20931" y="0"/>
                  <a:pt x="46713" y="0"/>
                </a:cubicBezTo>
                <a:close/>
              </a:path>
            </a:pathLst>
          </a:custGeom>
          <a:solidFill>
            <a:srgbClr val="38B2AC"/>
          </a:solidFill>
        </p:spPr>
      </p:sp>
      <p:sp>
        <p:nvSpPr>
          <p:cNvPr id="21" name="Text 19"/>
          <p:cNvSpPr/>
          <p:nvPr/>
        </p:nvSpPr>
        <p:spPr>
          <a:xfrm>
            <a:off x="1401336" y="8040997"/>
            <a:ext cx="3258207" cy="2802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70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从"人工判断"转向"规则化+智能化判定"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249453" y="1826464"/>
            <a:ext cx="7530078" cy="3722998"/>
          </a:xfrm>
          <a:custGeom>
            <a:avLst/>
            <a:gdLst/>
            <a:ahLst/>
            <a:cxnLst/>
            <a:rect l="l" t="t" r="r" b="b"/>
            <a:pathLst>
              <a:path w="7530078" h="3722998">
                <a:moveTo>
                  <a:pt x="93410" y="0"/>
                </a:moveTo>
                <a:lnTo>
                  <a:pt x="7436668" y="0"/>
                </a:lnTo>
                <a:cubicBezTo>
                  <a:pt x="7488257" y="0"/>
                  <a:pt x="7530078" y="41821"/>
                  <a:pt x="7530078" y="93410"/>
                </a:cubicBezTo>
                <a:lnTo>
                  <a:pt x="7530078" y="3629588"/>
                </a:lnTo>
                <a:cubicBezTo>
                  <a:pt x="7530078" y="3681177"/>
                  <a:pt x="7488257" y="3722998"/>
                  <a:pt x="7436668" y="3722998"/>
                </a:cubicBezTo>
                <a:lnTo>
                  <a:pt x="93410" y="3722998"/>
                </a:lnTo>
                <a:cubicBezTo>
                  <a:pt x="41821" y="3722998"/>
                  <a:pt x="0" y="3681177"/>
                  <a:pt x="0" y="3629588"/>
                </a:cubicBezTo>
                <a:lnTo>
                  <a:pt x="0" y="93410"/>
                </a:lnTo>
                <a:cubicBezTo>
                  <a:pt x="0" y="41821"/>
                  <a:pt x="41821" y="0"/>
                  <a:pt x="93410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10160">
            <a:solidFill>
              <a:srgbClr val="4A5568">
                <a:alpha val="30196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88423" y="2017987"/>
            <a:ext cx="7252138" cy="32698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55" b="1" dirty="0">
                <a:solidFill>
                  <a:srgbClr val="FF646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传统人工统计表格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440975" y="2485113"/>
            <a:ext cx="7147034" cy="840828"/>
          </a:xfrm>
          <a:custGeom>
            <a:avLst/>
            <a:gdLst/>
            <a:ahLst/>
            <a:cxnLst/>
            <a:rect l="l" t="t" r="r" b="b"/>
            <a:pathLst>
              <a:path w="7147034" h="840828">
                <a:moveTo>
                  <a:pt x="46716" y="0"/>
                </a:moveTo>
                <a:lnTo>
                  <a:pt x="7100318" y="0"/>
                </a:lnTo>
                <a:cubicBezTo>
                  <a:pt x="7126119" y="0"/>
                  <a:pt x="7147034" y="20916"/>
                  <a:pt x="7147034" y="46716"/>
                </a:cubicBezTo>
                <a:lnTo>
                  <a:pt x="7147034" y="794111"/>
                </a:lnTo>
                <a:cubicBezTo>
                  <a:pt x="7147034" y="819912"/>
                  <a:pt x="7126119" y="840828"/>
                  <a:pt x="7100318" y="840828"/>
                </a:cubicBezTo>
                <a:lnTo>
                  <a:pt x="46716" y="840828"/>
                </a:lnTo>
                <a:cubicBezTo>
                  <a:pt x="20916" y="840828"/>
                  <a:pt x="0" y="819912"/>
                  <a:pt x="0" y="794111"/>
                </a:cubicBezTo>
                <a:lnTo>
                  <a:pt x="0" y="46716"/>
                </a:lnTo>
                <a:cubicBezTo>
                  <a:pt x="0" y="20933"/>
                  <a:pt x="20933" y="0"/>
                  <a:pt x="46716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</p:spPr>
      </p:sp>
      <p:sp>
        <p:nvSpPr>
          <p:cNvPr id="25" name="Text 23"/>
          <p:cNvSpPr/>
          <p:nvPr/>
        </p:nvSpPr>
        <p:spPr>
          <a:xfrm>
            <a:off x="8581113" y="2625251"/>
            <a:ext cx="6948506" cy="2335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5" dirty="0">
                <a:solidFill>
                  <a:srgbClr val="71809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Excel手动统计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581113" y="2905527"/>
            <a:ext cx="6960184" cy="2802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70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易漏判、效率低、无法实时预警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440975" y="3419366"/>
            <a:ext cx="7147034" cy="840828"/>
          </a:xfrm>
          <a:custGeom>
            <a:avLst/>
            <a:gdLst/>
            <a:ahLst/>
            <a:cxnLst/>
            <a:rect l="l" t="t" r="r" b="b"/>
            <a:pathLst>
              <a:path w="7147034" h="840828">
                <a:moveTo>
                  <a:pt x="46716" y="0"/>
                </a:moveTo>
                <a:lnTo>
                  <a:pt x="7100318" y="0"/>
                </a:lnTo>
                <a:cubicBezTo>
                  <a:pt x="7126119" y="0"/>
                  <a:pt x="7147034" y="20916"/>
                  <a:pt x="7147034" y="46716"/>
                </a:cubicBezTo>
                <a:lnTo>
                  <a:pt x="7147034" y="794111"/>
                </a:lnTo>
                <a:cubicBezTo>
                  <a:pt x="7147034" y="819912"/>
                  <a:pt x="7126119" y="840828"/>
                  <a:pt x="7100318" y="840828"/>
                </a:cubicBezTo>
                <a:lnTo>
                  <a:pt x="46716" y="840828"/>
                </a:lnTo>
                <a:cubicBezTo>
                  <a:pt x="20916" y="840828"/>
                  <a:pt x="0" y="819912"/>
                  <a:pt x="0" y="794111"/>
                </a:cubicBezTo>
                <a:lnTo>
                  <a:pt x="0" y="46716"/>
                </a:lnTo>
                <a:cubicBezTo>
                  <a:pt x="0" y="20933"/>
                  <a:pt x="20933" y="0"/>
                  <a:pt x="46716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</p:spPr>
      </p:sp>
      <p:sp>
        <p:nvSpPr>
          <p:cNvPr id="28" name="Text 26"/>
          <p:cNvSpPr/>
          <p:nvPr/>
        </p:nvSpPr>
        <p:spPr>
          <a:xfrm>
            <a:off x="8581113" y="3559504"/>
            <a:ext cx="6948506" cy="2335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5" dirty="0">
                <a:solidFill>
                  <a:srgbClr val="71809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人工筛选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581113" y="3839780"/>
            <a:ext cx="6960184" cy="2802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70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工作量大、风险等级难以区分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440975" y="4353619"/>
            <a:ext cx="7147034" cy="840828"/>
          </a:xfrm>
          <a:custGeom>
            <a:avLst/>
            <a:gdLst/>
            <a:ahLst/>
            <a:cxnLst/>
            <a:rect l="l" t="t" r="r" b="b"/>
            <a:pathLst>
              <a:path w="7147034" h="840828">
                <a:moveTo>
                  <a:pt x="46716" y="0"/>
                </a:moveTo>
                <a:lnTo>
                  <a:pt x="7100318" y="0"/>
                </a:lnTo>
                <a:cubicBezTo>
                  <a:pt x="7126119" y="0"/>
                  <a:pt x="7147034" y="20916"/>
                  <a:pt x="7147034" y="46716"/>
                </a:cubicBezTo>
                <a:lnTo>
                  <a:pt x="7147034" y="794111"/>
                </a:lnTo>
                <a:cubicBezTo>
                  <a:pt x="7147034" y="819912"/>
                  <a:pt x="7126119" y="840828"/>
                  <a:pt x="7100318" y="840828"/>
                </a:cubicBezTo>
                <a:lnTo>
                  <a:pt x="46716" y="840828"/>
                </a:lnTo>
                <a:cubicBezTo>
                  <a:pt x="20916" y="840828"/>
                  <a:pt x="0" y="819912"/>
                  <a:pt x="0" y="794111"/>
                </a:cubicBezTo>
                <a:lnTo>
                  <a:pt x="0" y="46716"/>
                </a:lnTo>
                <a:cubicBezTo>
                  <a:pt x="0" y="20933"/>
                  <a:pt x="20933" y="0"/>
                  <a:pt x="46716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</p:spPr>
      </p:sp>
      <p:sp>
        <p:nvSpPr>
          <p:cNvPr id="31" name="Text 29"/>
          <p:cNvSpPr/>
          <p:nvPr/>
        </p:nvSpPr>
        <p:spPr>
          <a:xfrm>
            <a:off x="8581113" y="4493757"/>
            <a:ext cx="6948506" cy="2335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5" dirty="0">
                <a:solidFill>
                  <a:srgbClr val="71809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干预时机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581113" y="4774033"/>
            <a:ext cx="6960184" cy="2802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70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发现问题时已错过最佳窗口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249453" y="5660559"/>
            <a:ext cx="7530078" cy="3722998"/>
          </a:xfrm>
          <a:custGeom>
            <a:avLst/>
            <a:gdLst/>
            <a:ahLst/>
            <a:cxnLst/>
            <a:rect l="l" t="t" r="r" b="b"/>
            <a:pathLst>
              <a:path w="7530078" h="3722998">
                <a:moveTo>
                  <a:pt x="93410" y="0"/>
                </a:moveTo>
                <a:lnTo>
                  <a:pt x="7436668" y="0"/>
                </a:lnTo>
                <a:cubicBezTo>
                  <a:pt x="7488257" y="0"/>
                  <a:pt x="7530078" y="41821"/>
                  <a:pt x="7530078" y="93410"/>
                </a:cubicBezTo>
                <a:lnTo>
                  <a:pt x="7530078" y="3629588"/>
                </a:lnTo>
                <a:cubicBezTo>
                  <a:pt x="7530078" y="3681177"/>
                  <a:pt x="7488257" y="3722998"/>
                  <a:pt x="7436668" y="3722998"/>
                </a:cubicBezTo>
                <a:lnTo>
                  <a:pt x="93410" y="3722998"/>
                </a:lnTo>
                <a:cubicBezTo>
                  <a:pt x="41821" y="3722998"/>
                  <a:pt x="0" y="3681177"/>
                  <a:pt x="0" y="3629588"/>
                </a:cubicBezTo>
                <a:lnTo>
                  <a:pt x="0" y="93410"/>
                </a:lnTo>
                <a:cubicBezTo>
                  <a:pt x="0" y="41821"/>
                  <a:pt x="41821" y="0"/>
                  <a:pt x="93410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10160">
            <a:solidFill>
              <a:srgbClr val="38B2AC">
                <a:alpha val="30196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88423" y="5939075"/>
            <a:ext cx="7252138" cy="32698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55" b="1" dirty="0">
                <a:solidFill>
                  <a:srgbClr val="38B2A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系统预警界面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440975" y="6406201"/>
            <a:ext cx="7147034" cy="840828"/>
          </a:xfrm>
          <a:custGeom>
            <a:avLst/>
            <a:gdLst/>
            <a:ahLst/>
            <a:cxnLst/>
            <a:rect l="l" t="t" r="r" b="b"/>
            <a:pathLst>
              <a:path w="7147034" h="840828">
                <a:moveTo>
                  <a:pt x="46716" y="0"/>
                </a:moveTo>
                <a:lnTo>
                  <a:pt x="7100318" y="0"/>
                </a:lnTo>
                <a:cubicBezTo>
                  <a:pt x="7126119" y="0"/>
                  <a:pt x="7147034" y="20916"/>
                  <a:pt x="7147034" y="46716"/>
                </a:cubicBezTo>
                <a:lnTo>
                  <a:pt x="7147034" y="794111"/>
                </a:lnTo>
                <a:cubicBezTo>
                  <a:pt x="7147034" y="819912"/>
                  <a:pt x="7126119" y="840828"/>
                  <a:pt x="7100318" y="840828"/>
                </a:cubicBezTo>
                <a:lnTo>
                  <a:pt x="46716" y="840828"/>
                </a:lnTo>
                <a:cubicBezTo>
                  <a:pt x="20916" y="840828"/>
                  <a:pt x="0" y="819912"/>
                  <a:pt x="0" y="794111"/>
                </a:cubicBezTo>
                <a:lnTo>
                  <a:pt x="0" y="46716"/>
                </a:lnTo>
                <a:cubicBezTo>
                  <a:pt x="0" y="20933"/>
                  <a:pt x="20933" y="0"/>
                  <a:pt x="46716" y="0"/>
                </a:cubicBezTo>
                <a:close/>
              </a:path>
            </a:pathLst>
          </a:custGeom>
          <a:solidFill>
            <a:srgbClr val="38B2AC">
              <a:alpha val="10196"/>
            </a:srgbClr>
          </a:solidFill>
        </p:spPr>
      </p:sp>
      <p:sp>
        <p:nvSpPr>
          <p:cNvPr id="36" name="Text 34"/>
          <p:cNvSpPr/>
          <p:nvPr/>
        </p:nvSpPr>
        <p:spPr>
          <a:xfrm>
            <a:off x="8581113" y="6546339"/>
            <a:ext cx="6948506" cy="2335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5" dirty="0">
                <a:solidFill>
                  <a:srgbClr val="38B2A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自动规则匹配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581113" y="6826615"/>
            <a:ext cx="6960184" cy="2802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70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实时同步、批量处理、精准预警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440975" y="7340454"/>
            <a:ext cx="7147034" cy="840828"/>
          </a:xfrm>
          <a:custGeom>
            <a:avLst/>
            <a:gdLst/>
            <a:ahLst/>
            <a:cxnLst/>
            <a:rect l="l" t="t" r="r" b="b"/>
            <a:pathLst>
              <a:path w="7147034" h="840828">
                <a:moveTo>
                  <a:pt x="46716" y="0"/>
                </a:moveTo>
                <a:lnTo>
                  <a:pt x="7100318" y="0"/>
                </a:lnTo>
                <a:cubicBezTo>
                  <a:pt x="7126119" y="0"/>
                  <a:pt x="7147034" y="20916"/>
                  <a:pt x="7147034" y="46716"/>
                </a:cubicBezTo>
                <a:lnTo>
                  <a:pt x="7147034" y="794111"/>
                </a:lnTo>
                <a:cubicBezTo>
                  <a:pt x="7147034" y="819912"/>
                  <a:pt x="7126119" y="840828"/>
                  <a:pt x="7100318" y="840828"/>
                </a:cubicBezTo>
                <a:lnTo>
                  <a:pt x="46716" y="840828"/>
                </a:lnTo>
                <a:cubicBezTo>
                  <a:pt x="20916" y="840828"/>
                  <a:pt x="0" y="819912"/>
                  <a:pt x="0" y="794111"/>
                </a:cubicBezTo>
                <a:lnTo>
                  <a:pt x="0" y="46716"/>
                </a:lnTo>
                <a:cubicBezTo>
                  <a:pt x="0" y="20933"/>
                  <a:pt x="20933" y="0"/>
                  <a:pt x="46716" y="0"/>
                </a:cubicBezTo>
                <a:close/>
              </a:path>
            </a:pathLst>
          </a:custGeom>
          <a:solidFill>
            <a:srgbClr val="38B2AC">
              <a:alpha val="10196"/>
            </a:srgbClr>
          </a:solidFill>
        </p:spPr>
      </p:sp>
      <p:sp>
        <p:nvSpPr>
          <p:cNvPr id="39" name="Text 37"/>
          <p:cNvSpPr/>
          <p:nvPr/>
        </p:nvSpPr>
        <p:spPr>
          <a:xfrm>
            <a:off x="8581113" y="7480592"/>
            <a:ext cx="6948506" cy="2335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5" dirty="0">
                <a:solidFill>
                  <a:srgbClr val="38B2A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智能分级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581113" y="7760868"/>
            <a:ext cx="6960184" cy="2802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70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按风险程度自动分级、避免误差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440975" y="8274707"/>
            <a:ext cx="7147034" cy="840828"/>
          </a:xfrm>
          <a:custGeom>
            <a:avLst/>
            <a:gdLst/>
            <a:ahLst/>
            <a:cxnLst/>
            <a:rect l="l" t="t" r="r" b="b"/>
            <a:pathLst>
              <a:path w="7147034" h="840828">
                <a:moveTo>
                  <a:pt x="46716" y="0"/>
                </a:moveTo>
                <a:lnTo>
                  <a:pt x="7100318" y="0"/>
                </a:lnTo>
                <a:cubicBezTo>
                  <a:pt x="7126119" y="0"/>
                  <a:pt x="7147034" y="20916"/>
                  <a:pt x="7147034" y="46716"/>
                </a:cubicBezTo>
                <a:lnTo>
                  <a:pt x="7147034" y="794111"/>
                </a:lnTo>
                <a:cubicBezTo>
                  <a:pt x="7147034" y="819912"/>
                  <a:pt x="7126119" y="840828"/>
                  <a:pt x="7100318" y="840828"/>
                </a:cubicBezTo>
                <a:lnTo>
                  <a:pt x="46716" y="840828"/>
                </a:lnTo>
                <a:cubicBezTo>
                  <a:pt x="20916" y="840828"/>
                  <a:pt x="0" y="819912"/>
                  <a:pt x="0" y="794111"/>
                </a:cubicBezTo>
                <a:lnTo>
                  <a:pt x="0" y="46716"/>
                </a:lnTo>
                <a:cubicBezTo>
                  <a:pt x="0" y="20933"/>
                  <a:pt x="20933" y="0"/>
                  <a:pt x="46716" y="0"/>
                </a:cubicBezTo>
                <a:close/>
              </a:path>
            </a:pathLst>
          </a:custGeom>
          <a:solidFill>
            <a:srgbClr val="38B2AC">
              <a:alpha val="10196"/>
            </a:srgbClr>
          </a:solidFill>
        </p:spPr>
      </p:sp>
      <p:sp>
        <p:nvSpPr>
          <p:cNvPr id="42" name="Text 40"/>
          <p:cNvSpPr/>
          <p:nvPr/>
        </p:nvSpPr>
        <p:spPr>
          <a:xfrm>
            <a:off x="8581113" y="8414845"/>
            <a:ext cx="6948506" cy="2335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5" dirty="0">
                <a:solidFill>
                  <a:srgbClr val="38B2A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即时触发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581113" y="8695121"/>
            <a:ext cx="6960184" cy="2802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70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出现问题立即预警、早干预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3129" y="453129"/>
            <a:ext cx="1948454" cy="362503"/>
          </a:xfrm>
          <a:custGeom>
            <a:avLst/>
            <a:gdLst/>
            <a:ahLst/>
            <a:cxnLst/>
            <a:rect l="l" t="t" r="r" b="b"/>
            <a:pathLst>
              <a:path w="1948454" h="362503">
                <a:moveTo>
                  <a:pt x="45313" y="0"/>
                </a:moveTo>
                <a:lnTo>
                  <a:pt x="1903141" y="0"/>
                </a:lnTo>
                <a:cubicBezTo>
                  <a:pt x="1928150" y="0"/>
                  <a:pt x="1948454" y="20304"/>
                  <a:pt x="1948454" y="45313"/>
                </a:cubicBezTo>
                <a:lnTo>
                  <a:pt x="1948454" y="317190"/>
                </a:lnTo>
                <a:cubicBezTo>
                  <a:pt x="1948454" y="342199"/>
                  <a:pt x="1928150" y="362503"/>
                  <a:pt x="1903141" y="362503"/>
                </a:cubicBezTo>
                <a:lnTo>
                  <a:pt x="45313" y="362503"/>
                </a:lnTo>
                <a:cubicBezTo>
                  <a:pt x="20304" y="362503"/>
                  <a:pt x="0" y="342199"/>
                  <a:pt x="0" y="317190"/>
                </a:cubicBezTo>
                <a:lnTo>
                  <a:pt x="0" y="45313"/>
                </a:lnTo>
                <a:cubicBezTo>
                  <a:pt x="0" y="20304"/>
                  <a:pt x="20304" y="0"/>
                  <a:pt x="45313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589068" y="534694"/>
            <a:ext cx="1756724" cy="20843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kern="0" spc="31" dirty="0">
                <a:solidFill>
                  <a:srgbClr val="38B2A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MULTI-ROLE SYSTEM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3129" y="906258"/>
            <a:ext cx="15553650" cy="45312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210" b="1" dirty="0">
                <a:solidFill>
                  <a:srgbClr val="E2E8F0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多角色业务需求总览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3129" y="1450013"/>
            <a:ext cx="906258" cy="45313"/>
          </a:xfrm>
          <a:custGeom>
            <a:avLst/>
            <a:gdLst/>
            <a:ahLst/>
            <a:cxnLst/>
            <a:rect l="l" t="t" r="r" b="b"/>
            <a:pathLst>
              <a:path w="906258" h="45313">
                <a:moveTo>
                  <a:pt x="0" y="0"/>
                </a:moveTo>
                <a:lnTo>
                  <a:pt x="906258" y="0"/>
                </a:lnTo>
                <a:lnTo>
                  <a:pt x="906258" y="45313"/>
                </a:lnTo>
                <a:lnTo>
                  <a:pt x="0" y="45313"/>
                </a:lnTo>
                <a:lnTo>
                  <a:pt x="0" y="0"/>
                </a:lnTo>
                <a:close/>
              </a:path>
            </a:pathLst>
          </a:custGeom>
          <a:solidFill>
            <a:srgbClr val="38B2AC"/>
          </a:solidFill>
        </p:spPr>
      </p:sp>
      <p:sp>
        <p:nvSpPr>
          <p:cNvPr id="6" name="Text 4"/>
          <p:cNvSpPr/>
          <p:nvPr/>
        </p:nvSpPr>
        <p:spPr>
          <a:xfrm>
            <a:off x="453129" y="1585951"/>
            <a:ext cx="15440368" cy="2718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25" dirty="0">
                <a:solidFill>
                  <a:srgbClr val="71809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五大角色权限隔离清晰，操作流程贴合业务场景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75785" y="2084393"/>
            <a:ext cx="45313" cy="2344942"/>
          </a:xfrm>
          <a:custGeom>
            <a:avLst/>
            <a:gdLst/>
            <a:ahLst/>
            <a:cxnLst/>
            <a:rect l="l" t="t" r="r" b="b"/>
            <a:pathLst>
              <a:path w="45313" h="2344942">
                <a:moveTo>
                  <a:pt x="0" y="0"/>
                </a:moveTo>
                <a:lnTo>
                  <a:pt x="45313" y="0"/>
                </a:lnTo>
                <a:lnTo>
                  <a:pt x="45313" y="2344942"/>
                </a:lnTo>
                <a:lnTo>
                  <a:pt x="0" y="2344942"/>
                </a:lnTo>
                <a:lnTo>
                  <a:pt x="0" y="0"/>
                </a:lnTo>
                <a:close/>
              </a:path>
            </a:pathLst>
          </a:custGeom>
          <a:solidFill>
            <a:srgbClr val="38B2AC"/>
          </a:solidFill>
        </p:spPr>
      </p:sp>
      <p:sp>
        <p:nvSpPr>
          <p:cNvPr id="8" name="Shape 6"/>
          <p:cNvSpPr/>
          <p:nvPr/>
        </p:nvSpPr>
        <p:spPr>
          <a:xfrm>
            <a:off x="679693" y="2084393"/>
            <a:ext cx="453129" cy="453129"/>
          </a:xfrm>
          <a:custGeom>
            <a:avLst/>
            <a:gdLst/>
            <a:ahLst/>
            <a:cxnLst/>
            <a:rect l="l" t="t" r="r" b="b"/>
            <a:pathLst>
              <a:path w="453129" h="453129">
                <a:moveTo>
                  <a:pt x="90626" y="0"/>
                </a:moveTo>
                <a:lnTo>
                  <a:pt x="362503" y="0"/>
                </a:lnTo>
                <a:cubicBezTo>
                  <a:pt x="412521" y="0"/>
                  <a:pt x="453129" y="40608"/>
                  <a:pt x="453129" y="90626"/>
                </a:cubicBezTo>
                <a:lnTo>
                  <a:pt x="453129" y="362503"/>
                </a:lnTo>
                <a:cubicBezTo>
                  <a:pt x="453129" y="412521"/>
                  <a:pt x="412521" y="453129"/>
                  <a:pt x="362503" y="453129"/>
                </a:cubicBezTo>
                <a:lnTo>
                  <a:pt x="90626" y="453129"/>
                </a:lnTo>
                <a:cubicBezTo>
                  <a:pt x="40608" y="453129"/>
                  <a:pt x="0" y="412521"/>
                  <a:pt x="0" y="362503"/>
                </a:cubicBezTo>
                <a:lnTo>
                  <a:pt x="0" y="90626"/>
                </a:lnTo>
                <a:cubicBezTo>
                  <a:pt x="0" y="40608"/>
                  <a:pt x="40608" y="0"/>
                  <a:pt x="90626" y="0"/>
                </a:cubicBezTo>
                <a:close/>
              </a:path>
            </a:pathLst>
          </a:custGeom>
          <a:solidFill>
            <a:srgbClr val="38B2AC"/>
          </a:solidFill>
        </p:spPr>
      </p:sp>
      <p:sp>
        <p:nvSpPr>
          <p:cNvPr id="9" name="Shape 7"/>
          <p:cNvSpPr/>
          <p:nvPr/>
        </p:nvSpPr>
        <p:spPr>
          <a:xfrm>
            <a:off x="819880" y="2209003"/>
            <a:ext cx="178420" cy="203908"/>
          </a:xfrm>
          <a:custGeom>
            <a:avLst/>
            <a:gdLst/>
            <a:ahLst/>
            <a:cxnLst/>
            <a:rect l="l" t="t" r="r" b="b"/>
            <a:pathLst>
              <a:path w="178420" h="203908">
                <a:moveTo>
                  <a:pt x="96100" y="-5177"/>
                </a:moveTo>
                <a:cubicBezTo>
                  <a:pt x="91559" y="-6093"/>
                  <a:pt x="86900" y="-6093"/>
                  <a:pt x="82360" y="-5177"/>
                </a:cubicBezTo>
                <a:lnTo>
                  <a:pt x="7686" y="9757"/>
                </a:lnTo>
                <a:cubicBezTo>
                  <a:pt x="3226" y="10633"/>
                  <a:pt x="0" y="14576"/>
                  <a:pt x="0" y="19116"/>
                </a:cubicBezTo>
                <a:cubicBezTo>
                  <a:pt x="0" y="23218"/>
                  <a:pt x="2589" y="26803"/>
                  <a:pt x="6372" y="28117"/>
                </a:cubicBezTo>
                <a:lnTo>
                  <a:pt x="6372" y="57349"/>
                </a:lnTo>
                <a:lnTo>
                  <a:pt x="119" y="88652"/>
                </a:lnTo>
                <a:cubicBezTo>
                  <a:pt x="40" y="89011"/>
                  <a:pt x="0" y="89409"/>
                  <a:pt x="0" y="89807"/>
                </a:cubicBezTo>
                <a:cubicBezTo>
                  <a:pt x="0" y="92993"/>
                  <a:pt x="2589" y="95622"/>
                  <a:pt x="5815" y="95622"/>
                </a:cubicBezTo>
                <a:lnTo>
                  <a:pt x="19714" y="95622"/>
                </a:lnTo>
                <a:cubicBezTo>
                  <a:pt x="22900" y="95622"/>
                  <a:pt x="25528" y="93033"/>
                  <a:pt x="25528" y="89807"/>
                </a:cubicBezTo>
                <a:cubicBezTo>
                  <a:pt x="25528" y="89409"/>
                  <a:pt x="25489" y="89050"/>
                  <a:pt x="25409" y="88652"/>
                </a:cubicBezTo>
                <a:lnTo>
                  <a:pt x="19116" y="57349"/>
                </a:lnTo>
                <a:lnTo>
                  <a:pt x="19116" y="30785"/>
                </a:lnTo>
                <a:lnTo>
                  <a:pt x="38233" y="34609"/>
                </a:lnTo>
                <a:lnTo>
                  <a:pt x="38233" y="57349"/>
                </a:lnTo>
                <a:cubicBezTo>
                  <a:pt x="38233" y="85506"/>
                  <a:pt x="61053" y="108326"/>
                  <a:pt x="89210" y="108326"/>
                </a:cubicBezTo>
                <a:cubicBezTo>
                  <a:pt x="117367" y="108326"/>
                  <a:pt x="140187" y="85506"/>
                  <a:pt x="140187" y="57349"/>
                </a:cubicBezTo>
                <a:lnTo>
                  <a:pt x="140187" y="34609"/>
                </a:lnTo>
                <a:lnTo>
                  <a:pt x="170733" y="28515"/>
                </a:lnTo>
                <a:cubicBezTo>
                  <a:pt x="175194" y="27599"/>
                  <a:pt x="178420" y="23657"/>
                  <a:pt x="178420" y="19116"/>
                </a:cubicBezTo>
                <a:cubicBezTo>
                  <a:pt x="178420" y="14576"/>
                  <a:pt x="175194" y="10633"/>
                  <a:pt x="170733" y="9757"/>
                </a:cubicBezTo>
                <a:lnTo>
                  <a:pt x="96100" y="-5177"/>
                </a:lnTo>
                <a:close/>
                <a:moveTo>
                  <a:pt x="89210" y="89210"/>
                </a:moveTo>
                <a:cubicBezTo>
                  <a:pt x="71607" y="89210"/>
                  <a:pt x="57349" y="74952"/>
                  <a:pt x="57349" y="57349"/>
                </a:cubicBezTo>
                <a:lnTo>
                  <a:pt x="121070" y="57349"/>
                </a:lnTo>
                <a:cubicBezTo>
                  <a:pt x="121070" y="74952"/>
                  <a:pt x="106813" y="89210"/>
                  <a:pt x="89210" y="89210"/>
                </a:cubicBezTo>
                <a:close/>
                <a:moveTo>
                  <a:pt x="47831" y="127482"/>
                </a:moveTo>
                <a:cubicBezTo>
                  <a:pt x="23378" y="138713"/>
                  <a:pt x="6372" y="163405"/>
                  <a:pt x="6372" y="192080"/>
                </a:cubicBezTo>
                <a:cubicBezTo>
                  <a:pt x="6372" y="198611"/>
                  <a:pt x="11669" y="203908"/>
                  <a:pt x="18200" y="203908"/>
                </a:cubicBezTo>
                <a:lnTo>
                  <a:pt x="79652" y="203908"/>
                </a:lnTo>
                <a:lnTo>
                  <a:pt x="79652" y="145762"/>
                </a:lnTo>
                <a:lnTo>
                  <a:pt x="56792" y="128637"/>
                </a:lnTo>
                <a:cubicBezTo>
                  <a:pt x="54203" y="126686"/>
                  <a:pt x="50738" y="126168"/>
                  <a:pt x="47791" y="127522"/>
                </a:cubicBezTo>
                <a:close/>
                <a:moveTo>
                  <a:pt x="98768" y="203908"/>
                </a:moveTo>
                <a:lnTo>
                  <a:pt x="160219" y="203908"/>
                </a:lnTo>
                <a:cubicBezTo>
                  <a:pt x="166751" y="203908"/>
                  <a:pt x="172047" y="198611"/>
                  <a:pt x="172047" y="192080"/>
                </a:cubicBezTo>
                <a:cubicBezTo>
                  <a:pt x="172047" y="163405"/>
                  <a:pt x="155042" y="138713"/>
                  <a:pt x="130589" y="127522"/>
                </a:cubicBezTo>
                <a:cubicBezTo>
                  <a:pt x="127642" y="126168"/>
                  <a:pt x="124177" y="126686"/>
                  <a:pt x="121588" y="128637"/>
                </a:cubicBezTo>
                <a:lnTo>
                  <a:pt x="98728" y="145762"/>
                </a:lnTo>
                <a:lnTo>
                  <a:pt x="98728" y="203908"/>
                </a:lnTo>
                <a:close/>
              </a:path>
            </a:pathLst>
          </a:custGeom>
          <a:solidFill>
            <a:srgbClr val="1A202C"/>
          </a:solidFill>
        </p:spPr>
      </p:sp>
      <p:sp>
        <p:nvSpPr>
          <p:cNvPr id="10" name="Text 8"/>
          <p:cNvSpPr/>
          <p:nvPr/>
        </p:nvSpPr>
        <p:spPr>
          <a:xfrm>
            <a:off x="1268761" y="2152362"/>
            <a:ext cx="566411" cy="317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85" b="1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学生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79693" y="2673461"/>
            <a:ext cx="7442643" cy="2718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25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首页导航与成绩查询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79693" y="2990651"/>
            <a:ext cx="7442643" cy="2718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25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学业预警信息查看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79693" y="3307841"/>
            <a:ext cx="7442643" cy="2718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25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学分/考勤信息查询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79693" y="3625031"/>
            <a:ext cx="7442643" cy="2718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25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整改计划书提交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79693" y="3942222"/>
            <a:ext cx="7442643" cy="2718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25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个人中心管理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239300" y="2084393"/>
            <a:ext cx="45313" cy="2344942"/>
          </a:xfrm>
          <a:custGeom>
            <a:avLst/>
            <a:gdLst/>
            <a:ahLst/>
            <a:cxnLst/>
            <a:rect l="l" t="t" r="r" b="b"/>
            <a:pathLst>
              <a:path w="45313" h="2344942">
                <a:moveTo>
                  <a:pt x="0" y="0"/>
                </a:moveTo>
                <a:lnTo>
                  <a:pt x="45313" y="0"/>
                </a:lnTo>
                <a:lnTo>
                  <a:pt x="45313" y="2344942"/>
                </a:lnTo>
                <a:lnTo>
                  <a:pt x="0" y="2344942"/>
                </a:lnTo>
                <a:lnTo>
                  <a:pt x="0" y="0"/>
                </a:lnTo>
                <a:close/>
              </a:path>
            </a:pathLst>
          </a:custGeom>
          <a:solidFill>
            <a:srgbClr val="38B2AC"/>
          </a:solidFill>
        </p:spPr>
      </p:sp>
      <p:sp>
        <p:nvSpPr>
          <p:cNvPr id="17" name="Shape 15"/>
          <p:cNvSpPr/>
          <p:nvPr/>
        </p:nvSpPr>
        <p:spPr>
          <a:xfrm>
            <a:off x="8443208" y="2084393"/>
            <a:ext cx="453129" cy="453129"/>
          </a:xfrm>
          <a:custGeom>
            <a:avLst/>
            <a:gdLst/>
            <a:ahLst/>
            <a:cxnLst/>
            <a:rect l="l" t="t" r="r" b="b"/>
            <a:pathLst>
              <a:path w="453129" h="453129">
                <a:moveTo>
                  <a:pt x="90626" y="0"/>
                </a:moveTo>
                <a:lnTo>
                  <a:pt x="362503" y="0"/>
                </a:lnTo>
                <a:cubicBezTo>
                  <a:pt x="412521" y="0"/>
                  <a:pt x="453129" y="40608"/>
                  <a:pt x="453129" y="90626"/>
                </a:cubicBezTo>
                <a:lnTo>
                  <a:pt x="453129" y="362503"/>
                </a:lnTo>
                <a:cubicBezTo>
                  <a:pt x="453129" y="412521"/>
                  <a:pt x="412521" y="453129"/>
                  <a:pt x="362503" y="453129"/>
                </a:cubicBezTo>
                <a:lnTo>
                  <a:pt x="90626" y="453129"/>
                </a:lnTo>
                <a:cubicBezTo>
                  <a:pt x="40608" y="453129"/>
                  <a:pt x="0" y="412521"/>
                  <a:pt x="0" y="362503"/>
                </a:cubicBezTo>
                <a:lnTo>
                  <a:pt x="0" y="90626"/>
                </a:lnTo>
                <a:cubicBezTo>
                  <a:pt x="0" y="40608"/>
                  <a:pt x="40608" y="0"/>
                  <a:pt x="90626" y="0"/>
                </a:cubicBezTo>
                <a:close/>
              </a:path>
            </a:pathLst>
          </a:custGeom>
          <a:solidFill>
            <a:srgbClr val="38B2AC"/>
          </a:solidFill>
        </p:spPr>
      </p:sp>
      <p:sp>
        <p:nvSpPr>
          <p:cNvPr id="18" name="Shape 16"/>
          <p:cNvSpPr/>
          <p:nvPr/>
        </p:nvSpPr>
        <p:spPr>
          <a:xfrm>
            <a:off x="8545162" y="2209003"/>
            <a:ext cx="254885" cy="203908"/>
          </a:xfrm>
          <a:custGeom>
            <a:avLst/>
            <a:gdLst/>
            <a:ahLst/>
            <a:cxnLst/>
            <a:rect l="l" t="t" r="r" b="b"/>
            <a:pathLst>
              <a:path w="254885" h="203908">
                <a:moveTo>
                  <a:pt x="50977" y="38233"/>
                </a:moveTo>
                <a:cubicBezTo>
                  <a:pt x="50977" y="24174"/>
                  <a:pt x="62407" y="12744"/>
                  <a:pt x="76466" y="12744"/>
                </a:cubicBezTo>
                <a:lnTo>
                  <a:pt x="216652" y="12744"/>
                </a:lnTo>
                <a:cubicBezTo>
                  <a:pt x="230711" y="12744"/>
                  <a:pt x="242141" y="24174"/>
                  <a:pt x="242141" y="38233"/>
                </a:cubicBezTo>
                <a:lnTo>
                  <a:pt x="242141" y="133815"/>
                </a:lnTo>
                <a:lnTo>
                  <a:pt x="203908" y="133815"/>
                </a:lnTo>
                <a:lnTo>
                  <a:pt x="203908" y="127443"/>
                </a:lnTo>
                <a:cubicBezTo>
                  <a:pt x="203908" y="120393"/>
                  <a:pt x="198213" y="114698"/>
                  <a:pt x="191164" y="114698"/>
                </a:cubicBezTo>
                <a:lnTo>
                  <a:pt x="165675" y="114698"/>
                </a:lnTo>
                <a:cubicBezTo>
                  <a:pt x="158626" y="114698"/>
                  <a:pt x="152931" y="120393"/>
                  <a:pt x="152931" y="127443"/>
                </a:cubicBezTo>
                <a:lnTo>
                  <a:pt x="152931" y="133815"/>
                </a:lnTo>
                <a:lnTo>
                  <a:pt x="101516" y="133815"/>
                </a:lnTo>
                <a:cubicBezTo>
                  <a:pt x="105857" y="126327"/>
                  <a:pt x="108326" y="117606"/>
                  <a:pt x="108326" y="108326"/>
                </a:cubicBezTo>
                <a:cubicBezTo>
                  <a:pt x="108326" y="80169"/>
                  <a:pt x="85506" y="57349"/>
                  <a:pt x="57349" y="57349"/>
                </a:cubicBezTo>
                <a:cubicBezTo>
                  <a:pt x="55199" y="57349"/>
                  <a:pt x="53048" y="57469"/>
                  <a:pt x="50977" y="57747"/>
                </a:cubicBezTo>
                <a:lnTo>
                  <a:pt x="50977" y="38233"/>
                </a:lnTo>
                <a:close/>
                <a:moveTo>
                  <a:pt x="132620" y="178420"/>
                </a:moveTo>
                <a:cubicBezTo>
                  <a:pt x="130589" y="168782"/>
                  <a:pt x="126128" y="160060"/>
                  <a:pt x="119836" y="152931"/>
                </a:cubicBezTo>
                <a:lnTo>
                  <a:pt x="242141" y="152931"/>
                </a:lnTo>
                <a:cubicBezTo>
                  <a:pt x="242141" y="166990"/>
                  <a:pt x="230711" y="178420"/>
                  <a:pt x="216652" y="178420"/>
                </a:cubicBezTo>
                <a:lnTo>
                  <a:pt x="132620" y="178420"/>
                </a:lnTo>
                <a:close/>
                <a:moveTo>
                  <a:pt x="25489" y="108326"/>
                </a:moveTo>
                <a:cubicBezTo>
                  <a:pt x="25489" y="90742"/>
                  <a:pt x="39765" y="76466"/>
                  <a:pt x="57349" y="76466"/>
                </a:cubicBezTo>
                <a:cubicBezTo>
                  <a:pt x="74933" y="76466"/>
                  <a:pt x="89210" y="90742"/>
                  <a:pt x="89210" y="108326"/>
                </a:cubicBezTo>
                <a:cubicBezTo>
                  <a:pt x="89210" y="125910"/>
                  <a:pt x="74933" y="140187"/>
                  <a:pt x="57349" y="140187"/>
                </a:cubicBezTo>
                <a:cubicBezTo>
                  <a:pt x="39765" y="140187"/>
                  <a:pt x="25489" y="125910"/>
                  <a:pt x="25489" y="108326"/>
                </a:cubicBezTo>
                <a:close/>
                <a:moveTo>
                  <a:pt x="0" y="191164"/>
                </a:moveTo>
                <a:cubicBezTo>
                  <a:pt x="0" y="170056"/>
                  <a:pt x="17125" y="152931"/>
                  <a:pt x="38233" y="152931"/>
                </a:cubicBezTo>
                <a:lnTo>
                  <a:pt x="76466" y="152931"/>
                </a:lnTo>
                <a:cubicBezTo>
                  <a:pt x="97573" y="152931"/>
                  <a:pt x="114698" y="170056"/>
                  <a:pt x="114698" y="191164"/>
                </a:cubicBezTo>
                <a:cubicBezTo>
                  <a:pt x="114698" y="198213"/>
                  <a:pt x="109003" y="203908"/>
                  <a:pt x="101954" y="203908"/>
                </a:cubicBezTo>
                <a:lnTo>
                  <a:pt x="12744" y="203908"/>
                </a:lnTo>
                <a:cubicBezTo>
                  <a:pt x="5695" y="203908"/>
                  <a:pt x="0" y="198213"/>
                  <a:pt x="0" y="191164"/>
                </a:cubicBezTo>
                <a:close/>
              </a:path>
            </a:pathLst>
          </a:custGeom>
          <a:solidFill>
            <a:srgbClr val="1A202C"/>
          </a:solidFill>
        </p:spPr>
      </p:sp>
      <p:sp>
        <p:nvSpPr>
          <p:cNvPr id="19" name="Text 17"/>
          <p:cNvSpPr/>
          <p:nvPr/>
        </p:nvSpPr>
        <p:spPr>
          <a:xfrm>
            <a:off x="9032276" y="2152362"/>
            <a:ext cx="792976" cy="317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85" b="1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辅导员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443208" y="2673461"/>
            <a:ext cx="7442643" cy="2718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25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首页与个人信息管理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443208" y="2990651"/>
            <a:ext cx="7442643" cy="2718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25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学生信息录入与管理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443208" y="3307841"/>
            <a:ext cx="7442643" cy="2718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25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预警信息查看与处理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443208" y="3625031"/>
            <a:ext cx="7442643" cy="2718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25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干预过程记录与跟踪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443208" y="3942222"/>
            <a:ext cx="7442643" cy="2718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25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学生成绩概览与统计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75785" y="4613278"/>
            <a:ext cx="45313" cy="2344942"/>
          </a:xfrm>
          <a:custGeom>
            <a:avLst/>
            <a:gdLst/>
            <a:ahLst/>
            <a:cxnLst/>
            <a:rect l="l" t="t" r="r" b="b"/>
            <a:pathLst>
              <a:path w="45313" h="2344942">
                <a:moveTo>
                  <a:pt x="0" y="0"/>
                </a:moveTo>
                <a:lnTo>
                  <a:pt x="45313" y="0"/>
                </a:lnTo>
                <a:lnTo>
                  <a:pt x="45313" y="2344942"/>
                </a:lnTo>
                <a:lnTo>
                  <a:pt x="0" y="2344942"/>
                </a:lnTo>
                <a:lnTo>
                  <a:pt x="0" y="0"/>
                </a:lnTo>
                <a:close/>
              </a:path>
            </a:pathLst>
          </a:custGeom>
          <a:solidFill>
            <a:srgbClr val="38B2AC"/>
          </a:solidFill>
        </p:spPr>
      </p:sp>
      <p:sp>
        <p:nvSpPr>
          <p:cNvPr id="26" name="Shape 24"/>
          <p:cNvSpPr/>
          <p:nvPr/>
        </p:nvSpPr>
        <p:spPr>
          <a:xfrm>
            <a:off x="679693" y="4613278"/>
            <a:ext cx="453129" cy="453129"/>
          </a:xfrm>
          <a:custGeom>
            <a:avLst/>
            <a:gdLst/>
            <a:ahLst/>
            <a:cxnLst/>
            <a:rect l="l" t="t" r="r" b="b"/>
            <a:pathLst>
              <a:path w="453129" h="453129">
                <a:moveTo>
                  <a:pt x="90626" y="0"/>
                </a:moveTo>
                <a:lnTo>
                  <a:pt x="362503" y="0"/>
                </a:lnTo>
                <a:cubicBezTo>
                  <a:pt x="412521" y="0"/>
                  <a:pt x="453129" y="40608"/>
                  <a:pt x="453129" y="90626"/>
                </a:cubicBezTo>
                <a:lnTo>
                  <a:pt x="453129" y="362503"/>
                </a:lnTo>
                <a:cubicBezTo>
                  <a:pt x="453129" y="412521"/>
                  <a:pt x="412521" y="453129"/>
                  <a:pt x="362503" y="453129"/>
                </a:cubicBezTo>
                <a:lnTo>
                  <a:pt x="90626" y="453129"/>
                </a:lnTo>
                <a:cubicBezTo>
                  <a:pt x="40608" y="453129"/>
                  <a:pt x="0" y="412521"/>
                  <a:pt x="0" y="362503"/>
                </a:cubicBezTo>
                <a:lnTo>
                  <a:pt x="0" y="90626"/>
                </a:lnTo>
                <a:cubicBezTo>
                  <a:pt x="0" y="40608"/>
                  <a:pt x="40608" y="0"/>
                  <a:pt x="90626" y="0"/>
                </a:cubicBezTo>
                <a:close/>
              </a:path>
            </a:pathLst>
          </a:custGeom>
          <a:solidFill>
            <a:srgbClr val="38B2AC"/>
          </a:solidFill>
        </p:spPr>
      </p:sp>
      <p:sp>
        <p:nvSpPr>
          <p:cNvPr id="27" name="Shape 25"/>
          <p:cNvSpPr/>
          <p:nvPr/>
        </p:nvSpPr>
        <p:spPr>
          <a:xfrm>
            <a:off x="819880" y="4737888"/>
            <a:ext cx="178420" cy="203908"/>
          </a:xfrm>
          <a:custGeom>
            <a:avLst/>
            <a:gdLst/>
            <a:ahLst/>
            <a:cxnLst/>
            <a:rect l="l" t="t" r="r" b="b"/>
            <a:pathLst>
              <a:path w="178420" h="203908">
                <a:moveTo>
                  <a:pt x="89210" y="98768"/>
                </a:moveTo>
                <a:cubicBezTo>
                  <a:pt x="62833" y="98768"/>
                  <a:pt x="41419" y="77354"/>
                  <a:pt x="41419" y="50977"/>
                </a:cubicBezTo>
                <a:cubicBezTo>
                  <a:pt x="41419" y="24600"/>
                  <a:pt x="62833" y="3186"/>
                  <a:pt x="89210" y="3186"/>
                </a:cubicBezTo>
                <a:cubicBezTo>
                  <a:pt x="115586" y="3186"/>
                  <a:pt x="137001" y="24600"/>
                  <a:pt x="137001" y="50977"/>
                </a:cubicBezTo>
                <a:cubicBezTo>
                  <a:pt x="137001" y="77354"/>
                  <a:pt x="115586" y="98768"/>
                  <a:pt x="89210" y="98768"/>
                </a:cubicBezTo>
                <a:close/>
                <a:moveTo>
                  <a:pt x="77063" y="121070"/>
                </a:moveTo>
                <a:lnTo>
                  <a:pt x="101357" y="121070"/>
                </a:lnTo>
                <a:cubicBezTo>
                  <a:pt x="105220" y="121070"/>
                  <a:pt x="108326" y="124177"/>
                  <a:pt x="108326" y="128040"/>
                </a:cubicBezTo>
                <a:cubicBezTo>
                  <a:pt x="108326" y="129713"/>
                  <a:pt x="107729" y="131306"/>
                  <a:pt x="106653" y="132580"/>
                </a:cubicBezTo>
                <a:lnTo>
                  <a:pt x="95741" y="145324"/>
                </a:lnTo>
                <a:lnTo>
                  <a:pt x="108087" y="191164"/>
                </a:lnTo>
                <a:lnTo>
                  <a:pt x="108326" y="191164"/>
                </a:lnTo>
                <a:lnTo>
                  <a:pt x="122106" y="136005"/>
                </a:lnTo>
                <a:cubicBezTo>
                  <a:pt x="122982" y="132540"/>
                  <a:pt x="126527" y="130429"/>
                  <a:pt x="129872" y="131704"/>
                </a:cubicBezTo>
                <a:cubicBezTo>
                  <a:pt x="154524" y="141103"/>
                  <a:pt x="172047" y="164998"/>
                  <a:pt x="172047" y="192956"/>
                </a:cubicBezTo>
                <a:cubicBezTo>
                  <a:pt x="172047" y="198970"/>
                  <a:pt x="167149" y="203868"/>
                  <a:pt x="161135" y="203868"/>
                </a:cubicBezTo>
                <a:lnTo>
                  <a:pt x="17284" y="203908"/>
                </a:lnTo>
                <a:cubicBezTo>
                  <a:pt x="11271" y="203908"/>
                  <a:pt x="6372" y="199009"/>
                  <a:pt x="6372" y="192996"/>
                </a:cubicBezTo>
                <a:cubicBezTo>
                  <a:pt x="6372" y="165038"/>
                  <a:pt x="23895" y="141143"/>
                  <a:pt x="48548" y="131744"/>
                </a:cubicBezTo>
                <a:cubicBezTo>
                  <a:pt x="51893" y="130469"/>
                  <a:pt x="55437" y="132580"/>
                  <a:pt x="56314" y="136045"/>
                </a:cubicBezTo>
                <a:lnTo>
                  <a:pt x="70093" y="191204"/>
                </a:lnTo>
                <a:lnTo>
                  <a:pt x="70332" y="191204"/>
                </a:lnTo>
                <a:lnTo>
                  <a:pt x="82678" y="145364"/>
                </a:lnTo>
                <a:lnTo>
                  <a:pt x="71766" y="132620"/>
                </a:lnTo>
                <a:cubicBezTo>
                  <a:pt x="70691" y="131345"/>
                  <a:pt x="70093" y="129752"/>
                  <a:pt x="70093" y="128080"/>
                </a:cubicBezTo>
                <a:cubicBezTo>
                  <a:pt x="70093" y="124217"/>
                  <a:pt x="73200" y="121110"/>
                  <a:pt x="77063" y="121110"/>
                </a:cubicBezTo>
                <a:close/>
              </a:path>
            </a:pathLst>
          </a:custGeom>
          <a:solidFill>
            <a:srgbClr val="1A202C"/>
          </a:solidFill>
        </p:spPr>
      </p:sp>
      <p:sp>
        <p:nvSpPr>
          <p:cNvPr id="28" name="Text 26"/>
          <p:cNvSpPr/>
          <p:nvPr/>
        </p:nvSpPr>
        <p:spPr>
          <a:xfrm>
            <a:off x="1268761" y="4429335"/>
            <a:ext cx="1246105" cy="63707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管理员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79693" y="5202345"/>
            <a:ext cx="7442643" cy="2718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25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预警规则配置与管理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79693" y="5519536"/>
            <a:ext cx="7442643" cy="2718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25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全校预警数据查看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79693" y="5836726"/>
            <a:ext cx="7442643" cy="2718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25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多维度数据统计分析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79693" y="6153916"/>
            <a:ext cx="7442643" cy="2718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25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图表展示与报告导出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89068" y="6425793"/>
            <a:ext cx="7442643" cy="2718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25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预警信息调整与发布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545162" y="4737888"/>
            <a:ext cx="254885" cy="203908"/>
          </a:xfrm>
          <a:custGeom>
            <a:avLst/>
            <a:gdLst/>
            <a:ahLst/>
            <a:cxnLst/>
            <a:rect l="l" t="t" r="r" b="b"/>
            <a:pathLst>
              <a:path w="254885" h="203908">
                <a:moveTo>
                  <a:pt x="102153" y="3186"/>
                </a:moveTo>
                <a:cubicBezTo>
                  <a:pt x="128530" y="3186"/>
                  <a:pt x="149944" y="24600"/>
                  <a:pt x="149944" y="50977"/>
                </a:cubicBezTo>
                <a:cubicBezTo>
                  <a:pt x="149944" y="77354"/>
                  <a:pt x="128530" y="98768"/>
                  <a:pt x="102153" y="98768"/>
                </a:cubicBezTo>
                <a:cubicBezTo>
                  <a:pt x="75777" y="98768"/>
                  <a:pt x="54362" y="77354"/>
                  <a:pt x="54362" y="50977"/>
                </a:cubicBezTo>
                <a:cubicBezTo>
                  <a:pt x="54362" y="24600"/>
                  <a:pt x="75777" y="3186"/>
                  <a:pt x="102153" y="3186"/>
                </a:cubicBezTo>
                <a:close/>
                <a:moveTo>
                  <a:pt x="90285" y="121070"/>
                </a:moveTo>
                <a:lnTo>
                  <a:pt x="113942" y="121070"/>
                </a:lnTo>
                <a:lnTo>
                  <a:pt x="114539" y="121070"/>
                </a:lnTo>
                <a:cubicBezTo>
                  <a:pt x="109401" y="131744"/>
                  <a:pt x="111433" y="144249"/>
                  <a:pt x="119119" y="152732"/>
                </a:cubicBezTo>
                <a:cubicBezTo>
                  <a:pt x="111074" y="161613"/>
                  <a:pt x="109242" y="174955"/>
                  <a:pt x="115375" y="185947"/>
                </a:cubicBezTo>
                <a:lnTo>
                  <a:pt x="124336" y="202036"/>
                </a:lnTo>
                <a:cubicBezTo>
                  <a:pt x="124695" y="202673"/>
                  <a:pt x="125093" y="203311"/>
                  <a:pt x="125491" y="203908"/>
                </a:cubicBezTo>
                <a:lnTo>
                  <a:pt x="31104" y="203908"/>
                </a:lnTo>
                <a:cubicBezTo>
                  <a:pt x="24573" y="203908"/>
                  <a:pt x="19276" y="198611"/>
                  <a:pt x="19276" y="192080"/>
                </a:cubicBezTo>
                <a:cubicBezTo>
                  <a:pt x="19276" y="152851"/>
                  <a:pt x="51057" y="121070"/>
                  <a:pt x="90285" y="121070"/>
                </a:cubicBezTo>
                <a:close/>
                <a:moveTo>
                  <a:pt x="172286" y="98609"/>
                </a:moveTo>
                <a:cubicBezTo>
                  <a:pt x="172286" y="93312"/>
                  <a:pt x="176548" y="89050"/>
                  <a:pt x="181845" y="89050"/>
                </a:cubicBezTo>
                <a:lnTo>
                  <a:pt x="200961" y="89050"/>
                </a:lnTo>
                <a:cubicBezTo>
                  <a:pt x="206258" y="89050"/>
                  <a:pt x="210519" y="93312"/>
                  <a:pt x="210519" y="98609"/>
                </a:cubicBezTo>
                <a:lnTo>
                  <a:pt x="210519" y="101038"/>
                </a:lnTo>
                <a:cubicBezTo>
                  <a:pt x="210519" y="108565"/>
                  <a:pt x="220117" y="114101"/>
                  <a:pt x="226649" y="110357"/>
                </a:cubicBezTo>
                <a:lnTo>
                  <a:pt x="228640" y="109202"/>
                </a:lnTo>
                <a:cubicBezTo>
                  <a:pt x="233260" y="106534"/>
                  <a:pt x="239194" y="108167"/>
                  <a:pt x="241782" y="112826"/>
                </a:cubicBezTo>
                <a:lnTo>
                  <a:pt x="250703" y="128836"/>
                </a:lnTo>
                <a:cubicBezTo>
                  <a:pt x="253173" y="133297"/>
                  <a:pt x="251739" y="138873"/>
                  <a:pt x="247438" y="141581"/>
                </a:cubicBezTo>
                <a:lnTo>
                  <a:pt x="245566" y="142736"/>
                </a:lnTo>
                <a:cubicBezTo>
                  <a:pt x="239114" y="146758"/>
                  <a:pt x="239114" y="158626"/>
                  <a:pt x="245566" y="162688"/>
                </a:cubicBezTo>
                <a:lnTo>
                  <a:pt x="247398" y="163843"/>
                </a:lnTo>
                <a:cubicBezTo>
                  <a:pt x="251699" y="166551"/>
                  <a:pt x="253173" y="172127"/>
                  <a:pt x="250703" y="176588"/>
                </a:cubicBezTo>
                <a:lnTo>
                  <a:pt x="241743" y="192677"/>
                </a:lnTo>
                <a:cubicBezTo>
                  <a:pt x="239154" y="197337"/>
                  <a:pt x="233220" y="199009"/>
                  <a:pt x="228600" y="196301"/>
                </a:cubicBezTo>
                <a:lnTo>
                  <a:pt x="226649" y="195146"/>
                </a:lnTo>
                <a:cubicBezTo>
                  <a:pt x="220117" y="191363"/>
                  <a:pt x="210519" y="196939"/>
                  <a:pt x="210519" y="204466"/>
                </a:cubicBezTo>
                <a:lnTo>
                  <a:pt x="210519" y="206895"/>
                </a:lnTo>
                <a:cubicBezTo>
                  <a:pt x="210519" y="212192"/>
                  <a:pt x="206258" y="216453"/>
                  <a:pt x="200961" y="216453"/>
                </a:cubicBezTo>
                <a:lnTo>
                  <a:pt x="181845" y="216453"/>
                </a:lnTo>
                <a:cubicBezTo>
                  <a:pt x="176548" y="216453"/>
                  <a:pt x="172286" y="212192"/>
                  <a:pt x="172286" y="206895"/>
                </a:cubicBezTo>
                <a:lnTo>
                  <a:pt x="172286" y="204545"/>
                </a:lnTo>
                <a:cubicBezTo>
                  <a:pt x="172286" y="196978"/>
                  <a:pt x="162649" y="191403"/>
                  <a:pt x="156077" y="195186"/>
                </a:cubicBezTo>
                <a:lnTo>
                  <a:pt x="154166" y="196301"/>
                </a:lnTo>
                <a:cubicBezTo>
                  <a:pt x="149546" y="198970"/>
                  <a:pt x="143652" y="197337"/>
                  <a:pt x="141023" y="192677"/>
                </a:cubicBezTo>
                <a:lnTo>
                  <a:pt x="132022" y="176588"/>
                </a:lnTo>
                <a:cubicBezTo>
                  <a:pt x="129553" y="172127"/>
                  <a:pt x="130987" y="166512"/>
                  <a:pt x="135328" y="163803"/>
                </a:cubicBezTo>
                <a:lnTo>
                  <a:pt x="137080" y="162728"/>
                </a:lnTo>
                <a:cubicBezTo>
                  <a:pt x="143572" y="158706"/>
                  <a:pt x="143572" y="146758"/>
                  <a:pt x="137080" y="142736"/>
                </a:cubicBezTo>
                <a:lnTo>
                  <a:pt x="135288" y="141620"/>
                </a:lnTo>
                <a:cubicBezTo>
                  <a:pt x="130947" y="138912"/>
                  <a:pt x="129513" y="133297"/>
                  <a:pt x="131983" y="128836"/>
                </a:cubicBezTo>
                <a:lnTo>
                  <a:pt x="140943" y="112787"/>
                </a:lnTo>
                <a:cubicBezTo>
                  <a:pt x="143532" y="108127"/>
                  <a:pt x="149466" y="106494"/>
                  <a:pt x="154046" y="109162"/>
                </a:cubicBezTo>
                <a:lnTo>
                  <a:pt x="155958" y="110278"/>
                </a:lnTo>
                <a:cubicBezTo>
                  <a:pt x="162529" y="114061"/>
                  <a:pt x="172167" y="108485"/>
                  <a:pt x="172167" y="100919"/>
                </a:cubicBezTo>
                <a:lnTo>
                  <a:pt x="172167" y="98569"/>
                </a:lnTo>
                <a:close/>
                <a:moveTo>
                  <a:pt x="212072" y="152851"/>
                </a:moveTo>
                <a:cubicBezTo>
                  <a:pt x="212072" y="141422"/>
                  <a:pt x="202793" y="132142"/>
                  <a:pt x="191363" y="132142"/>
                </a:cubicBezTo>
                <a:cubicBezTo>
                  <a:pt x="179933" y="132142"/>
                  <a:pt x="170653" y="141422"/>
                  <a:pt x="170653" y="152851"/>
                </a:cubicBezTo>
                <a:cubicBezTo>
                  <a:pt x="170653" y="164281"/>
                  <a:pt x="179933" y="173561"/>
                  <a:pt x="191363" y="173561"/>
                </a:cubicBezTo>
                <a:cubicBezTo>
                  <a:pt x="202793" y="173561"/>
                  <a:pt x="212072" y="164281"/>
                  <a:pt x="212072" y="152851"/>
                </a:cubicBezTo>
                <a:close/>
              </a:path>
            </a:pathLst>
          </a:custGeom>
          <a:solidFill>
            <a:srgbClr val="1A202C"/>
          </a:solidFill>
        </p:spPr>
      </p:sp>
      <p:sp>
        <p:nvSpPr>
          <p:cNvPr id="35" name="Text 33"/>
          <p:cNvSpPr/>
          <p:nvPr/>
        </p:nvSpPr>
        <p:spPr>
          <a:xfrm>
            <a:off x="8443208" y="5202345"/>
            <a:ext cx="7442643" cy="2718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443208" y="5519536"/>
            <a:ext cx="7442643" cy="2718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443208" y="6153916"/>
            <a:ext cx="7442643" cy="2718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443208" y="6471106"/>
            <a:ext cx="7442643" cy="2718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229954" y="4613278"/>
            <a:ext cx="45313" cy="2027752"/>
          </a:xfrm>
          <a:custGeom>
            <a:avLst/>
            <a:gdLst/>
            <a:ahLst/>
            <a:cxnLst/>
            <a:rect l="l" t="t" r="r" b="b"/>
            <a:pathLst>
              <a:path w="45313" h="2027752">
                <a:moveTo>
                  <a:pt x="0" y="0"/>
                </a:moveTo>
                <a:lnTo>
                  <a:pt x="45313" y="0"/>
                </a:lnTo>
                <a:lnTo>
                  <a:pt x="45313" y="2027752"/>
                </a:lnTo>
                <a:lnTo>
                  <a:pt x="0" y="2027752"/>
                </a:lnTo>
                <a:lnTo>
                  <a:pt x="0" y="0"/>
                </a:lnTo>
                <a:close/>
              </a:path>
            </a:pathLst>
          </a:custGeom>
          <a:solidFill>
            <a:srgbClr val="38B2AC"/>
          </a:solidFill>
        </p:spPr>
      </p:sp>
      <p:sp>
        <p:nvSpPr>
          <p:cNvPr id="40" name="Shape 38"/>
          <p:cNvSpPr/>
          <p:nvPr/>
        </p:nvSpPr>
        <p:spPr>
          <a:xfrm>
            <a:off x="8443208" y="4839842"/>
            <a:ext cx="453129" cy="453129"/>
          </a:xfrm>
          <a:custGeom>
            <a:avLst/>
            <a:gdLst/>
            <a:ahLst/>
            <a:cxnLst/>
            <a:rect l="l" t="t" r="r" b="b"/>
            <a:pathLst>
              <a:path w="453129" h="453129">
                <a:moveTo>
                  <a:pt x="90626" y="0"/>
                </a:moveTo>
                <a:lnTo>
                  <a:pt x="362503" y="0"/>
                </a:lnTo>
                <a:cubicBezTo>
                  <a:pt x="412521" y="0"/>
                  <a:pt x="453129" y="40608"/>
                  <a:pt x="453129" y="90626"/>
                </a:cubicBezTo>
                <a:lnTo>
                  <a:pt x="453129" y="362503"/>
                </a:lnTo>
                <a:cubicBezTo>
                  <a:pt x="453129" y="412521"/>
                  <a:pt x="412521" y="453129"/>
                  <a:pt x="362503" y="453129"/>
                </a:cubicBezTo>
                <a:lnTo>
                  <a:pt x="90626" y="453129"/>
                </a:lnTo>
                <a:cubicBezTo>
                  <a:pt x="40608" y="453129"/>
                  <a:pt x="0" y="412521"/>
                  <a:pt x="0" y="362503"/>
                </a:cubicBezTo>
                <a:lnTo>
                  <a:pt x="0" y="90626"/>
                </a:lnTo>
                <a:cubicBezTo>
                  <a:pt x="0" y="40608"/>
                  <a:pt x="40608" y="0"/>
                  <a:pt x="90626" y="0"/>
                </a:cubicBezTo>
                <a:close/>
              </a:path>
            </a:pathLst>
          </a:custGeom>
          <a:solidFill>
            <a:srgbClr val="38B2AC"/>
          </a:solidFill>
        </p:spPr>
      </p:sp>
      <p:sp>
        <p:nvSpPr>
          <p:cNvPr id="41" name="Shape 39"/>
          <p:cNvSpPr/>
          <p:nvPr/>
        </p:nvSpPr>
        <p:spPr>
          <a:xfrm>
            <a:off x="8555074" y="4964453"/>
            <a:ext cx="229397" cy="203908"/>
          </a:xfrm>
          <a:custGeom>
            <a:avLst/>
            <a:gdLst/>
            <a:ahLst/>
            <a:cxnLst/>
            <a:rect l="l" t="t" r="r" b="b"/>
            <a:pathLst>
              <a:path w="229397" h="203908">
                <a:moveTo>
                  <a:pt x="19116" y="77979"/>
                </a:moveTo>
                <a:lnTo>
                  <a:pt x="102432" y="112269"/>
                </a:lnTo>
                <a:cubicBezTo>
                  <a:pt x="106335" y="113862"/>
                  <a:pt x="110477" y="114698"/>
                  <a:pt x="114698" y="114698"/>
                </a:cubicBezTo>
                <a:cubicBezTo>
                  <a:pt x="118920" y="114698"/>
                  <a:pt x="123062" y="113862"/>
                  <a:pt x="126965" y="112269"/>
                </a:cubicBezTo>
                <a:lnTo>
                  <a:pt x="223502" y="72523"/>
                </a:lnTo>
                <a:cubicBezTo>
                  <a:pt x="227087" y="71049"/>
                  <a:pt x="229397" y="67584"/>
                  <a:pt x="229397" y="63721"/>
                </a:cubicBezTo>
                <a:cubicBezTo>
                  <a:pt x="229397" y="59858"/>
                  <a:pt x="227087" y="56393"/>
                  <a:pt x="223502" y="54920"/>
                </a:cubicBezTo>
                <a:lnTo>
                  <a:pt x="126965" y="15174"/>
                </a:lnTo>
                <a:cubicBezTo>
                  <a:pt x="123062" y="13581"/>
                  <a:pt x="118920" y="12744"/>
                  <a:pt x="114698" y="12744"/>
                </a:cubicBezTo>
                <a:cubicBezTo>
                  <a:pt x="110477" y="12744"/>
                  <a:pt x="106335" y="13581"/>
                  <a:pt x="102432" y="15174"/>
                </a:cubicBezTo>
                <a:lnTo>
                  <a:pt x="5894" y="54920"/>
                </a:lnTo>
                <a:cubicBezTo>
                  <a:pt x="2310" y="56393"/>
                  <a:pt x="0" y="59858"/>
                  <a:pt x="0" y="63721"/>
                </a:cubicBezTo>
                <a:lnTo>
                  <a:pt x="0" y="181606"/>
                </a:lnTo>
                <a:cubicBezTo>
                  <a:pt x="0" y="186902"/>
                  <a:pt x="4261" y="191164"/>
                  <a:pt x="9558" y="191164"/>
                </a:cubicBezTo>
                <a:cubicBezTo>
                  <a:pt x="14855" y="191164"/>
                  <a:pt x="19116" y="186902"/>
                  <a:pt x="19116" y="181606"/>
                </a:cubicBezTo>
                <a:lnTo>
                  <a:pt x="19116" y="77979"/>
                </a:lnTo>
                <a:close/>
                <a:moveTo>
                  <a:pt x="38233" y="106534"/>
                </a:moveTo>
                <a:lnTo>
                  <a:pt x="38233" y="152931"/>
                </a:lnTo>
                <a:cubicBezTo>
                  <a:pt x="38233" y="174039"/>
                  <a:pt x="72483" y="191164"/>
                  <a:pt x="114698" y="191164"/>
                </a:cubicBezTo>
                <a:cubicBezTo>
                  <a:pt x="156914" y="191164"/>
                  <a:pt x="191164" y="174039"/>
                  <a:pt x="191164" y="152931"/>
                </a:cubicBezTo>
                <a:lnTo>
                  <a:pt x="191164" y="106494"/>
                </a:lnTo>
                <a:lnTo>
                  <a:pt x="134253" y="129952"/>
                </a:lnTo>
                <a:cubicBezTo>
                  <a:pt x="128040" y="132500"/>
                  <a:pt x="121429" y="133815"/>
                  <a:pt x="114698" y="133815"/>
                </a:cubicBezTo>
                <a:cubicBezTo>
                  <a:pt x="107968" y="133815"/>
                  <a:pt x="101357" y="132500"/>
                  <a:pt x="95144" y="129952"/>
                </a:cubicBezTo>
                <a:lnTo>
                  <a:pt x="38233" y="106494"/>
                </a:lnTo>
                <a:close/>
              </a:path>
            </a:pathLst>
          </a:custGeom>
          <a:solidFill>
            <a:srgbClr val="1A202C"/>
          </a:solidFill>
        </p:spPr>
      </p:sp>
      <p:sp>
        <p:nvSpPr>
          <p:cNvPr id="42" name="Text 40"/>
          <p:cNvSpPr/>
          <p:nvPr/>
        </p:nvSpPr>
        <p:spPr>
          <a:xfrm>
            <a:off x="9145558" y="4907812"/>
            <a:ext cx="566411" cy="317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85" b="1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教师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443208" y="5338284"/>
            <a:ext cx="15213803" cy="2718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25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负责课程管理与信息维护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443208" y="5649810"/>
            <a:ext cx="15213803" cy="2718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25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考勤录入与查询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443208" y="5972665"/>
            <a:ext cx="15213803" cy="2718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25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成绩录入与查询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443208" y="6289855"/>
            <a:ext cx="15213803" cy="2718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25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个人信息管理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453129" y="9358388"/>
            <a:ext cx="15349742" cy="9063"/>
          </a:xfrm>
          <a:custGeom>
            <a:avLst/>
            <a:gdLst/>
            <a:ahLst/>
            <a:cxnLst/>
            <a:rect l="l" t="t" r="r" b="b"/>
            <a:pathLst>
              <a:path w="15349742" h="9063">
                <a:moveTo>
                  <a:pt x="0" y="0"/>
                </a:moveTo>
                <a:lnTo>
                  <a:pt x="15349742" y="0"/>
                </a:lnTo>
                <a:lnTo>
                  <a:pt x="15349742" y="9063"/>
                </a:lnTo>
                <a:lnTo>
                  <a:pt x="0" y="9063"/>
                </a:lnTo>
                <a:lnTo>
                  <a:pt x="0" y="0"/>
                </a:lnTo>
                <a:close/>
              </a:path>
            </a:pathLst>
          </a:custGeom>
          <a:solidFill>
            <a:srgbClr val="4A5568">
              <a:alpha val="30196"/>
            </a:srgbClr>
          </a:solidFill>
        </p:spPr>
      </p:sp>
      <p:sp>
        <p:nvSpPr>
          <p:cNvPr id="48" name="Shape 46"/>
          <p:cNvSpPr/>
          <p:nvPr/>
        </p:nvSpPr>
        <p:spPr>
          <a:xfrm>
            <a:off x="475785" y="9544172"/>
            <a:ext cx="181252" cy="181252"/>
          </a:xfrm>
          <a:custGeom>
            <a:avLst/>
            <a:gdLst/>
            <a:ahLst/>
            <a:cxnLst/>
            <a:rect l="l" t="t" r="r" b="b"/>
            <a:pathLst>
              <a:path w="181252" h="181252">
                <a:moveTo>
                  <a:pt x="90626" y="181252"/>
                </a:moveTo>
                <a:cubicBezTo>
                  <a:pt x="140644" y="181252"/>
                  <a:pt x="181252" y="140644"/>
                  <a:pt x="181252" y="90626"/>
                </a:cubicBezTo>
                <a:cubicBezTo>
                  <a:pt x="181252" y="40608"/>
                  <a:pt x="140644" y="0"/>
                  <a:pt x="90626" y="0"/>
                </a:cubicBezTo>
                <a:cubicBezTo>
                  <a:pt x="40608" y="0"/>
                  <a:pt x="0" y="40608"/>
                  <a:pt x="0" y="90626"/>
                </a:cubicBezTo>
                <a:cubicBezTo>
                  <a:pt x="0" y="140644"/>
                  <a:pt x="40608" y="181252"/>
                  <a:pt x="90626" y="181252"/>
                </a:cubicBezTo>
                <a:close/>
                <a:moveTo>
                  <a:pt x="79298" y="56641"/>
                </a:moveTo>
                <a:cubicBezTo>
                  <a:pt x="79298" y="50389"/>
                  <a:pt x="84374" y="45313"/>
                  <a:pt x="90626" y="45313"/>
                </a:cubicBezTo>
                <a:cubicBezTo>
                  <a:pt x="96878" y="45313"/>
                  <a:pt x="101954" y="50389"/>
                  <a:pt x="101954" y="56641"/>
                </a:cubicBezTo>
                <a:cubicBezTo>
                  <a:pt x="101954" y="62893"/>
                  <a:pt x="96878" y="67969"/>
                  <a:pt x="90626" y="67969"/>
                </a:cubicBezTo>
                <a:cubicBezTo>
                  <a:pt x="84374" y="67969"/>
                  <a:pt x="79298" y="62893"/>
                  <a:pt x="79298" y="56641"/>
                </a:cubicBezTo>
                <a:close/>
                <a:moveTo>
                  <a:pt x="76466" y="79298"/>
                </a:moveTo>
                <a:lnTo>
                  <a:pt x="93458" y="79298"/>
                </a:lnTo>
                <a:cubicBezTo>
                  <a:pt x="98166" y="79298"/>
                  <a:pt x="101954" y="83085"/>
                  <a:pt x="101954" y="87794"/>
                </a:cubicBezTo>
                <a:lnTo>
                  <a:pt x="101954" y="118946"/>
                </a:lnTo>
                <a:lnTo>
                  <a:pt x="104786" y="118946"/>
                </a:lnTo>
                <a:cubicBezTo>
                  <a:pt x="109494" y="118946"/>
                  <a:pt x="113282" y="122734"/>
                  <a:pt x="113282" y="127443"/>
                </a:cubicBezTo>
                <a:cubicBezTo>
                  <a:pt x="113282" y="132151"/>
                  <a:pt x="109494" y="135939"/>
                  <a:pt x="104786" y="135939"/>
                </a:cubicBezTo>
                <a:lnTo>
                  <a:pt x="76466" y="135939"/>
                </a:lnTo>
                <a:cubicBezTo>
                  <a:pt x="71757" y="135939"/>
                  <a:pt x="67969" y="132151"/>
                  <a:pt x="67969" y="127443"/>
                </a:cubicBezTo>
                <a:cubicBezTo>
                  <a:pt x="67969" y="122734"/>
                  <a:pt x="71757" y="118946"/>
                  <a:pt x="76466" y="118946"/>
                </a:cubicBezTo>
                <a:lnTo>
                  <a:pt x="84962" y="118946"/>
                </a:lnTo>
                <a:lnTo>
                  <a:pt x="84962" y="96290"/>
                </a:lnTo>
                <a:lnTo>
                  <a:pt x="76466" y="96290"/>
                </a:lnTo>
                <a:cubicBezTo>
                  <a:pt x="71757" y="96290"/>
                  <a:pt x="67969" y="92502"/>
                  <a:pt x="67969" y="87794"/>
                </a:cubicBezTo>
                <a:cubicBezTo>
                  <a:pt x="67969" y="83085"/>
                  <a:pt x="71757" y="79298"/>
                  <a:pt x="76466" y="79298"/>
                </a:cubicBezTo>
                <a:close/>
              </a:path>
            </a:pathLst>
          </a:custGeom>
          <a:solidFill>
            <a:srgbClr val="38B2AC"/>
          </a:solidFill>
        </p:spPr>
      </p:sp>
      <p:sp>
        <p:nvSpPr>
          <p:cNvPr id="49" name="Text 47"/>
          <p:cNvSpPr/>
          <p:nvPr/>
        </p:nvSpPr>
        <p:spPr>
          <a:xfrm>
            <a:off x="760530" y="9498859"/>
            <a:ext cx="15132967" cy="29453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25" b="1" dirty="0">
                <a:solidFill>
                  <a:srgbClr val="38B2A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设计亮点：</a:t>
            </a:r>
            <a:r>
              <a:rPr lang="en-US" sz="1425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所有角色共享"个人中心"基础功能，各角色功能通过专属界面实现，权限隔离清晰，操作流程贴合业务场景，确保系统易用性与安全性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000" y="508000"/>
            <a:ext cx="2095500" cy="406400"/>
          </a:xfrm>
          <a:custGeom>
            <a:avLst/>
            <a:gdLst/>
            <a:ahLst/>
            <a:cxnLst/>
            <a:rect l="l" t="t" r="r" b="b"/>
            <a:pathLst>
              <a:path w="2095500" h="406400">
                <a:moveTo>
                  <a:pt x="50800" y="0"/>
                </a:moveTo>
                <a:lnTo>
                  <a:pt x="2044700" y="0"/>
                </a:lnTo>
                <a:cubicBezTo>
                  <a:pt x="2072737" y="0"/>
                  <a:pt x="2095500" y="22763"/>
                  <a:pt x="2095500" y="50800"/>
                </a:cubicBezTo>
                <a:lnTo>
                  <a:pt x="2095500" y="355600"/>
                </a:lnTo>
                <a:cubicBezTo>
                  <a:pt x="2095500" y="383637"/>
                  <a:pt x="2072737" y="406400"/>
                  <a:pt x="2044700" y="406400"/>
                </a:cubicBezTo>
                <a:lnTo>
                  <a:pt x="50800" y="406400"/>
                </a:lnTo>
                <a:cubicBezTo>
                  <a:pt x="22763" y="406400"/>
                  <a:pt x="0" y="383637"/>
                  <a:pt x="0" y="355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660400" y="599439"/>
            <a:ext cx="1882140" cy="233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kern="0" spc="35" dirty="0">
                <a:solidFill>
                  <a:srgbClr val="38B2A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ADMIN DASHBOARD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8000" y="1016000"/>
            <a:ext cx="154686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2E8F0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管理员端：系统全局配置与数据维护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8000" y="1625600"/>
            <a:ext cx="1016000" cy="50800"/>
          </a:xfrm>
          <a:custGeom>
            <a:avLst/>
            <a:gdLst/>
            <a:ahLst/>
            <a:cxnLst/>
            <a:rect l="l" t="t" r="r" b="b"/>
            <a:pathLst>
              <a:path w="1016000" h="50800">
                <a:moveTo>
                  <a:pt x="0" y="0"/>
                </a:moveTo>
                <a:lnTo>
                  <a:pt x="1016000" y="0"/>
                </a:lnTo>
                <a:lnTo>
                  <a:pt x="10160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38B2AC"/>
          </a:solidFill>
        </p:spPr>
      </p:sp>
      <p:sp>
        <p:nvSpPr>
          <p:cNvPr id="6" name="Shape 4"/>
          <p:cNvSpPr/>
          <p:nvPr/>
        </p:nvSpPr>
        <p:spPr>
          <a:xfrm>
            <a:off x="513080" y="1884680"/>
            <a:ext cx="4963160" cy="1965960"/>
          </a:xfrm>
          <a:custGeom>
            <a:avLst/>
            <a:gdLst/>
            <a:ahLst/>
            <a:cxnLst/>
            <a:rect l="l" t="t" r="r" b="b"/>
            <a:pathLst>
              <a:path w="4963160" h="1965960">
                <a:moveTo>
                  <a:pt x="101601" y="0"/>
                </a:moveTo>
                <a:lnTo>
                  <a:pt x="4861559" y="0"/>
                </a:lnTo>
                <a:cubicBezTo>
                  <a:pt x="4917672" y="0"/>
                  <a:pt x="4963160" y="45488"/>
                  <a:pt x="4963160" y="101601"/>
                </a:cubicBezTo>
                <a:lnTo>
                  <a:pt x="4963160" y="1864359"/>
                </a:lnTo>
                <a:cubicBezTo>
                  <a:pt x="4963160" y="1920472"/>
                  <a:pt x="4917672" y="1965960"/>
                  <a:pt x="4861559" y="1965960"/>
                </a:cubicBezTo>
                <a:lnTo>
                  <a:pt x="101601" y="1965960"/>
                </a:lnTo>
                <a:cubicBezTo>
                  <a:pt x="45488" y="1965960"/>
                  <a:pt x="0" y="1920472"/>
                  <a:pt x="0" y="1864359"/>
                </a:cubicBezTo>
                <a:lnTo>
                  <a:pt x="0" y="101601"/>
                </a:lnTo>
                <a:cubicBezTo>
                  <a:pt x="0" y="45488"/>
                  <a:pt x="45488" y="0"/>
                  <a:pt x="101601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10160">
            <a:solidFill>
              <a:srgbClr val="4A5568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2118358"/>
            <a:ext cx="254000" cy="203200"/>
          </a:xfrm>
          <a:custGeom>
            <a:avLst/>
            <a:gdLst/>
            <a:ahLst/>
            <a:cxnLst/>
            <a:rect l="l" t="t" r="r" b="b"/>
            <a:pathLst>
              <a:path w="254000" h="203200">
                <a:moveTo>
                  <a:pt x="127000" y="6350"/>
                </a:moveTo>
                <a:cubicBezTo>
                  <a:pt x="149780" y="6350"/>
                  <a:pt x="168275" y="24845"/>
                  <a:pt x="168275" y="47625"/>
                </a:cubicBezTo>
                <a:cubicBezTo>
                  <a:pt x="168275" y="70405"/>
                  <a:pt x="149780" y="88900"/>
                  <a:pt x="127000" y="88900"/>
                </a:cubicBezTo>
                <a:cubicBezTo>
                  <a:pt x="104220" y="88900"/>
                  <a:pt x="85725" y="70405"/>
                  <a:pt x="85725" y="47625"/>
                </a:cubicBezTo>
                <a:cubicBezTo>
                  <a:pt x="85725" y="24845"/>
                  <a:pt x="104220" y="6350"/>
                  <a:pt x="127000" y="6350"/>
                </a:cubicBezTo>
                <a:close/>
                <a:moveTo>
                  <a:pt x="38100" y="34925"/>
                </a:moveTo>
                <a:cubicBezTo>
                  <a:pt x="53871" y="34925"/>
                  <a:pt x="66675" y="47729"/>
                  <a:pt x="66675" y="63500"/>
                </a:cubicBezTo>
                <a:cubicBezTo>
                  <a:pt x="66675" y="79271"/>
                  <a:pt x="53871" y="92075"/>
                  <a:pt x="38100" y="92075"/>
                </a:cubicBezTo>
                <a:cubicBezTo>
                  <a:pt x="22329" y="92075"/>
                  <a:pt x="9525" y="79271"/>
                  <a:pt x="9525" y="63500"/>
                </a:cubicBezTo>
                <a:cubicBezTo>
                  <a:pt x="9525" y="47729"/>
                  <a:pt x="22329" y="34925"/>
                  <a:pt x="38100" y="34925"/>
                </a:cubicBezTo>
                <a:close/>
                <a:moveTo>
                  <a:pt x="0" y="165100"/>
                </a:moveTo>
                <a:cubicBezTo>
                  <a:pt x="0" y="137041"/>
                  <a:pt x="22741" y="114300"/>
                  <a:pt x="50800" y="114300"/>
                </a:cubicBezTo>
                <a:cubicBezTo>
                  <a:pt x="55880" y="114300"/>
                  <a:pt x="60801" y="115054"/>
                  <a:pt x="65445" y="116443"/>
                </a:cubicBezTo>
                <a:cubicBezTo>
                  <a:pt x="52388" y="131048"/>
                  <a:pt x="44450" y="150336"/>
                  <a:pt x="44450" y="171450"/>
                </a:cubicBezTo>
                <a:lnTo>
                  <a:pt x="44450" y="177800"/>
                </a:lnTo>
                <a:cubicBezTo>
                  <a:pt x="44450" y="182324"/>
                  <a:pt x="45403" y="186611"/>
                  <a:pt x="47109" y="190500"/>
                </a:cubicBezTo>
                <a:lnTo>
                  <a:pt x="12700" y="190500"/>
                </a:lnTo>
                <a:cubicBezTo>
                  <a:pt x="5675" y="190500"/>
                  <a:pt x="0" y="184825"/>
                  <a:pt x="0" y="177800"/>
                </a:cubicBezTo>
                <a:lnTo>
                  <a:pt x="0" y="165100"/>
                </a:lnTo>
                <a:close/>
                <a:moveTo>
                  <a:pt x="206891" y="190500"/>
                </a:moveTo>
                <a:cubicBezTo>
                  <a:pt x="208597" y="186611"/>
                  <a:pt x="209550" y="182324"/>
                  <a:pt x="209550" y="177800"/>
                </a:cubicBezTo>
                <a:lnTo>
                  <a:pt x="209550" y="171450"/>
                </a:lnTo>
                <a:cubicBezTo>
                  <a:pt x="209550" y="150336"/>
                  <a:pt x="201613" y="131048"/>
                  <a:pt x="188555" y="116443"/>
                </a:cubicBezTo>
                <a:cubicBezTo>
                  <a:pt x="193199" y="115054"/>
                  <a:pt x="198120" y="114300"/>
                  <a:pt x="203200" y="114300"/>
                </a:cubicBezTo>
                <a:cubicBezTo>
                  <a:pt x="231259" y="114300"/>
                  <a:pt x="254000" y="137041"/>
                  <a:pt x="254000" y="165100"/>
                </a:cubicBezTo>
                <a:lnTo>
                  <a:pt x="254000" y="177800"/>
                </a:lnTo>
                <a:cubicBezTo>
                  <a:pt x="254000" y="184825"/>
                  <a:pt x="248325" y="190500"/>
                  <a:pt x="241300" y="190500"/>
                </a:cubicBezTo>
                <a:lnTo>
                  <a:pt x="206891" y="190500"/>
                </a:lnTo>
                <a:close/>
                <a:moveTo>
                  <a:pt x="187325" y="63500"/>
                </a:moveTo>
                <a:cubicBezTo>
                  <a:pt x="187325" y="47729"/>
                  <a:pt x="200129" y="34925"/>
                  <a:pt x="215900" y="34925"/>
                </a:cubicBezTo>
                <a:cubicBezTo>
                  <a:pt x="231671" y="34925"/>
                  <a:pt x="244475" y="47729"/>
                  <a:pt x="244475" y="63500"/>
                </a:cubicBezTo>
                <a:cubicBezTo>
                  <a:pt x="244475" y="79271"/>
                  <a:pt x="231671" y="92075"/>
                  <a:pt x="215900" y="92075"/>
                </a:cubicBezTo>
                <a:cubicBezTo>
                  <a:pt x="200129" y="92075"/>
                  <a:pt x="187325" y="79271"/>
                  <a:pt x="187325" y="63500"/>
                </a:cubicBezTo>
                <a:close/>
                <a:moveTo>
                  <a:pt x="63500" y="171450"/>
                </a:moveTo>
                <a:cubicBezTo>
                  <a:pt x="63500" y="136366"/>
                  <a:pt x="91916" y="107950"/>
                  <a:pt x="127000" y="107950"/>
                </a:cubicBezTo>
                <a:cubicBezTo>
                  <a:pt x="162084" y="107950"/>
                  <a:pt x="190500" y="136366"/>
                  <a:pt x="190500" y="171450"/>
                </a:cubicBezTo>
                <a:lnTo>
                  <a:pt x="190500" y="177800"/>
                </a:lnTo>
                <a:cubicBezTo>
                  <a:pt x="190500" y="184825"/>
                  <a:pt x="184825" y="190500"/>
                  <a:pt x="177800" y="190500"/>
                </a:cubicBezTo>
                <a:lnTo>
                  <a:pt x="76200" y="190500"/>
                </a:lnTo>
                <a:cubicBezTo>
                  <a:pt x="69175" y="190500"/>
                  <a:pt x="63500" y="184825"/>
                  <a:pt x="63500" y="177800"/>
                </a:cubicBezTo>
                <a:lnTo>
                  <a:pt x="63500" y="171450"/>
                </a:lnTo>
                <a:close/>
              </a:path>
            </a:pathLst>
          </a:custGeom>
          <a:solidFill>
            <a:srgbClr val="38B2AC"/>
          </a:solidFill>
        </p:spPr>
      </p:sp>
      <p:sp>
        <p:nvSpPr>
          <p:cNvPr id="8" name="Text 6"/>
          <p:cNvSpPr/>
          <p:nvPr/>
        </p:nvSpPr>
        <p:spPr>
          <a:xfrm>
            <a:off x="1026160" y="2042158"/>
            <a:ext cx="14859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学生管理界面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70560" y="2499358"/>
            <a:ext cx="4737100" cy="787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维护学生基础信息，支持新增、编辑、删除及搜索筛选，快速定位目标学生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70560" y="3390106"/>
            <a:ext cx="508000" cy="304800"/>
          </a:xfrm>
          <a:custGeom>
            <a:avLst/>
            <a:gdLst/>
            <a:ahLst/>
            <a:cxnLst/>
            <a:rect l="l" t="t" r="r" b="b"/>
            <a:pathLst>
              <a:path w="508000" h="304800">
                <a:moveTo>
                  <a:pt x="50801" y="0"/>
                </a:moveTo>
                <a:lnTo>
                  <a:pt x="457199" y="0"/>
                </a:lnTo>
                <a:cubicBezTo>
                  <a:pt x="485256" y="0"/>
                  <a:pt x="508000" y="22744"/>
                  <a:pt x="508000" y="50801"/>
                </a:cubicBezTo>
                <a:lnTo>
                  <a:pt x="508000" y="253999"/>
                </a:lnTo>
                <a:cubicBezTo>
                  <a:pt x="508000" y="282056"/>
                  <a:pt x="485256" y="304800"/>
                  <a:pt x="4571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</p:spPr>
      </p:sp>
      <p:sp>
        <p:nvSpPr>
          <p:cNvPr id="11" name="Text 9"/>
          <p:cNvSpPr/>
          <p:nvPr/>
        </p:nvSpPr>
        <p:spPr>
          <a:xfrm>
            <a:off x="670560" y="3390106"/>
            <a:ext cx="584200" cy="304800"/>
          </a:xfrm>
          <a:prstGeom prst="rect">
            <a:avLst/>
          </a:prstGeom>
          <a:noFill/>
        </p:spPr>
        <p:txBody>
          <a:bodyPr wrap="square" lIns="101600" tIns="50800" rIns="101600" bIns="5080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38B2A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新增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280160" y="3390106"/>
            <a:ext cx="508000" cy="304800"/>
          </a:xfrm>
          <a:custGeom>
            <a:avLst/>
            <a:gdLst/>
            <a:ahLst/>
            <a:cxnLst/>
            <a:rect l="l" t="t" r="r" b="b"/>
            <a:pathLst>
              <a:path w="508000" h="304800">
                <a:moveTo>
                  <a:pt x="50801" y="0"/>
                </a:moveTo>
                <a:lnTo>
                  <a:pt x="457199" y="0"/>
                </a:lnTo>
                <a:cubicBezTo>
                  <a:pt x="485256" y="0"/>
                  <a:pt x="508000" y="22744"/>
                  <a:pt x="508000" y="50801"/>
                </a:cubicBezTo>
                <a:lnTo>
                  <a:pt x="508000" y="253999"/>
                </a:lnTo>
                <a:cubicBezTo>
                  <a:pt x="508000" y="282056"/>
                  <a:pt x="485256" y="304800"/>
                  <a:pt x="4571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</p:spPr>
      </p:sp>
      <p:sp>
        <p:nvSpPr>
          <p:cNvPr id="13" name="Text 11"/>
          <p:cNvSpPr/>
          <p:nvPr/>
        </p:nvSpPr>
        <p:spPr>
          <a:xfrm>
            <a:off x="1280160" y="3390106"/>
            <a:ext cx="584200" cy="304800"/>
          </a:xfrm>
          <a:prstGeom prst="rect">
            <a:avLst/>
          </a:prstGeom>
          <a:noFill/>
        </p:spPr>
        <p:txBody>
          <a:bodyPr wrap="square" lIns="101600" tIns="50800" rIns="101600" bIns="5080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38B2A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编辑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889760" y="3390106"/>
            <a:ext cx="508000" cy="304800"/>
          </a:xfrm>
          <a:custGeom>
            <a:avLst/>
            <a:gdLst/>
            <a:ahLst/>
            <a:cxnLst/>
            <a:rect l="l" t="t" r="r" b="b"/>
            <a:pathLst>
              <a:path w="508000" h="304800">
                <a:moveTo>
                  <a:pt x="50801" y="0"/>
                </a:moveTo>
                <a:lnTo>
                  <a:pt x="457199" y="0"/>
                </a:lnTo>
                <a:cubicBezTo>
                  <a:pt x="485256" y="0"/>
                  <a:pt x="508000" y="22744"/>
                  <a:pt x="508000" y="50801"/>
                </a:cubicBezTo>
                <a:lnTo>
                  <a:pt x="508000" y="253999"/>
                </a:lnTo>
                <a:cubicBezTo>
                  <a:pt x="508000" y="282056"/>
                  <a:pt x="485256" y="304800"/>
                  <a:pt x="4571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</p:spPr>
      </p:sp>
      <p:sp>
        <p:nvSpPr>
          <p:cNvPr id="15" name="Text 13"/>
          <p:cNvSpPr/>
          <p:nvPr/>
        </p:nvSpPr>
        <p:spPr>
          <a:xfrm>
            <a:off x="1889760" y="3390106"/>
            <a:ext cx="584200" cy="304800"/>
          </a:xfrm>
          <a:prstGeom prst="rect">
            <a:avLst/>
          </a:prstGeom>
          <a:noFill/>
        </p:spPr>
        <p:txBody>
          <a:bodyPr wrap="square" lIns="101600" tIns="50800" rIns="101600" bIns="5080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38B2A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搜索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444500" y="5409246"/>
            <a:ext cx="4963160" cy="1965960"/>
          </a:xfrm>
          <a:custGeom>
            <a:avLst/>
            <a:gdLst/>
            <a:ahLst/>
            <a:cxnLst/>
            <a:rect l="l" t="t" r="r" b="b"/>
            <a:pathLst>
              <a:path w="4963160" h="1965960">
                <a:moveTo>
                  <a:pt x="101601" y="0"/>
                </a:moveTo>
                <a:lnTo>
                  <a:pt x="4861559" y="0"/>
                </a:lnTo>
                <a:cubicBezTo>
                  <a:pt x="4917672" y="0"/>
                  <a:pt x="4963160" y="45488"/>
                  <a:pt x="4963160" y="101601"/>
                </a:cubicBezTo>
                <a:lnTo>
                  <a:pt x="4963160" y="1864359"/>
                </a:lnTo>
                <a:cubicBezTo>
                  <a:pt x="4963160" y="1920472"/>
                  <a:pt x="4917672" y="1965960"/>
                  <a:pt x="4861559" y="1965960"/>
                </a:cubicBezTo>
                <a:lnTo>
                  <a:pt x="101601" y="1965960"/>
                </a:lnTo>
                <a:cubicBezTo>
                  <a:pt x="45488" y="1965960"/>
                  <a:pt x="0" y="1920472"/>
                  <a:pt x="0" y="1864359"/>
                </a:cubicBezTo>
                <a:lnTo>
                  <a:pt x="0" y="101601"/>
                </a:lnTo>
                <a:cubicBezTo>
                  <a:pt x="0" y="45488"/>
                  <a:pt x="45488" y="0"/>
                  <a:pt x="101601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10160">
            <a:solidFill>
              <a:srgbClr val="4A5568">
                <a:alpha val="30196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27380" y="5642926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101600" y="53975"/>
                </a:moveTo>
                <a:cubicBezTo>
                  <a:pt x="106878" y="53975"/>
                  <a:pt x="111125" y="58222"/>
                  <a:pt x="111125" y="63500"/>
                </a:cubicBezTo>
                <a:lnTo>
                  <a:pt x="111125" y="107950"/>
                </a:lnTo>
                <a:cubicBezTo>
                  <a:pt x="111125" y="113228"/>
                  <a:pt x="106878" y="117475"/>
                  <a:pt x="101600" y="117475"/>
                </a:cubicBezTo>
                <a:cubicBezTo>
                  <a:pt x="96322" y="117475"/>
                  <a:pt x="92075" y="113228"/>
                  <a:pt x="92075" y="107950"/>
                </a:cubicBezTo>
                <a:lnTo>
                  <a:pt x="92075" y="63500"/>
                </a:lnTo>
                <a:cubicBezTo>
                  <a:pt x="92075" y="58222"/>
                  <a:pt x="96322" y="53975"/>
                  <a:pt x="101600" y="53975"/>
                </a:cubicBezTo>
                <a:close/>
                <a:moveTo>
                  <a:pt x="91003" y="139700"/>
                </a:moveTo>
                <a:cubicBezTo>
                  <a:pt x="90762" y="135767"/>
                  <a:pt x="92724" y="132024"/>
                  <a:pt x="96096" y="129985"/>
                </a:cubicBezTo>
                <a:cubicBezTo>
                  <a:pt x="99468" y="127945"/>
                  <a:pt x="103693" y="127945"/>
                  <a:pt x="107065" y="129985"/>
                </a:cubicBezTo>
                <a:cubicBezTo>
                  <a:pt x="110436" y="132024"/>
                  <a:pt x="112398" y="135767"/>
                  <a:pt x="112157" y="139700"/>
                </a:cubicBezTo>
                <a:cubicBezTo>
                  <a:pt x="112398" y="143633"/>
                  <a:pt x="110436" y="147376"/>
                  <a:pt x="107065" y="149415"/>
                </a:cubicBezTo>
                <a:cubicBezTo>
                  <a:pt x="103693" y="151455"/>
                  <a:pt x="99468" y="151455"/>
                  <a:pt x="96096" y="149415"/>
                </a:cubicBezTo>
                <a:cubicBezTo>
                  <a:pt x="92724" y="147376"/>
                  <a:pt x="90762" y="143633"/>
                  <a:pt x="91003" y="139700"/>
                </a:cubicBezTo>
                <a:close/>
              </a:path>
            </a:pathLst>
          </a:custGeom>
          <a:solidFill>
            <a:srgbClr val="38B2AC"/>
          </a:solidFill>
        </p:spPr>
      </p:sp>
      <p:sp>
        <p:nvSpPr>
          <p:cNvPr id="52" name="Text 50"/>
          <p:cNvSpPr/>
          <p:nvPr/>
        </p:nvSpPr>
        <p:spPr>
          <a:xfrm>
            <a:off x="957580" y="5566726"/>
            <a:ext cx="19431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预警信息管理界面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01980" y="6023926"/>
            <a:ext cx="4737100" cy="787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查看全系统预警数据，支持编辑或删除预警内容，修正误触发预警信息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01980" y="6914830"/>
            <a:ext cx="812800" cy="304800"/>
          </a:xfrm>
          <a:custGeom>
            <a:avLst/>
            <a:gdLst/>
            <a:ahLst/>
            <a:cxnLst/>
            <a:rect l="l" t="t" r="r" b="b"/>
            <a:pathLst>
              <a:path w="812800" h="304800">
                <a:moveTo>
                  <a:pt x="50801" y="0"/>
                </a:moveTo>
                <a:lnTo>
                  <a:pt x="761999" y="0"/>
                </a:lnTo>
                <a:cubicBezTo>
                  <a:pt x="790056" y="0"/>
                  <a:pt x="812800" y="22744"/>
                  <a:pt x="812800" y="50801"/>
                </a:cubicBezTo>
                <a:lnTo>
                  <a:pt x="812800" y="253999"/>
                </a:lnTo>
                <a:cubicBezTo>
                  <a:pt x="812800" y="282056"/>
                  <a:pt x="790056" y="304800"/>
                  <a:pt x="7619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</p:spPr>
      </p:sp>
      <p:sp>
        <p:nvSpPr>
          <p:cNvPr id="55" name="Text 53"/>
          <p:cNvSpPr/>
          <p:nvPr/>
        </p:nvSpPr>
        <p:spPr>
          <a:xfrm>
            <a:off x="601980" y="6914830"/>
            <a:ext cx="889000" cy="304800"/>
          </a:xfrm>
          <a:prstGeom prst="rect">
            <a:avLst/>
          </a:prstGeom>
          <a:noFill/>
        </p:spPr>
        <p:txBody>
          <a:bodyPr wrap="square" lIns="101600" tIns="50800" rIns="101600" bIns="5080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38B2A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全局查看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1516380" y="6914830"/>
            <a:ext cx="965200" cy="304800"/>
          </a:xfrm>
          <a:custGeom>
            <a:avLst/>
            <a:gdLst/>
            <a:ahLst/>
            <a:cxnLst/>
            <a:rect l="l" t="t" r="r" b="b"/>
            <a:pathLst>
              <a:path w="965200" h="304800">
                <a:moveTo>
                  <a:pt x="50801" y="0"/>
                </a:moveTo>
                <a:lnTo>
                  <a:pt x="914399" y="0"/>
                </a:lnTo>
                <a:cubicBezTo>
                  <a:pt x="942456" y="0"/>
                  <a:pt x="965200" y="22744"/>
                  <a:pt x="965200" y="50801"/>
                </a:cubicBezTo>
                <a:lnTo>
                  <a:pt x="965200" y="253999"/>
                </a:lnTo>
                <a:cubicBezTo>
                  <a:pt x="965200" y="282056"/>
                  <a:pt x="942456" y="304800"/>
                  <a:pt x="9143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</p:spPr>
      </p:sp>
      <p:sp>
        <p:nvSpPr>
          <p:cNvPr id="57" name="Text 55"/>
          <p:cNvSpPr/>
          <p:nvPr/>
        </p:nvSpPr>
        <p:spPr>
          <a:xfrm>
            <a:off x="1516380" y="6914830"/>
            <a:ext cx="1041400" cy="304800"/>
          </a:xfrm>
          <a:prstGeom prst="rect">
            <a:avLst/>
          </a:prstGeom>
          <a:noFill/>
        </p:spPr>
        <p:txBody>
          <a:bodyPr wrap="square" lIns="101600" tIns="50800" rIns="101600" bIns="5080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38B2A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误触发修正</a:t>
            </a:r>
            <a:endParaRPr lang="en-US" sz="1600" dirty="0"/>
          </a:p>
        </p:txBody>
      </p:sp>
      <p:sp>
        <p:nvSpPr>
          <p:cNvPr id="81" name="Text 79"/>
          <p:cNvSpPr/>
          <p:nvPr/>
        </p:nvSpPr>
        <p:spPr>
          <a:xfrm>
            <a:off x="838200" y="8382000"/>
            <a:ext cx="149987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38B2A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权限控制：</a:t>
            </a:r>
            <a:r>
              <a:rPr lang="en-US" sz="1400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管理员拥有系统最高权限，负责全局配置与数据维护，确保系统稳定运行</a:t>
            </a:r>
            <a:endParaRPr lang="en-US" sz="1600" dirty="0"/>
          </a:p>
        </p:txBody>
      </p:sp>
      <p:pic>
        <p:nvPicPr>
          <p:cNvPr id="82" name="图片 8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8295" y="4952365"/>
            <a:ext cx="6136640" cy="3214370"/>
          </a:xfrm>
          <a:prstGeom prst="rect">
            <a:avLst/>
          </a:prstGeom>
        </p:spPr>
      </p:pic>
      <p:pic>
        <p:nvPicPr>
          <p:cNvPr id="83" name="图片 8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8295" y="1706880"/>
            <a:ext cx="6184265" cy="303022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000" y="508000"/>
            <a:ext cx="2324100" cy="406400"/>
          </a:xfrm>
          <a:custGeom>
            <a:avLst/>
            <a:gdLst/>
            <a:ahLst/>
            <a:cxnLst/>
            <a:rect l="l" t="t" r="r" b="b"/>
            <a:pathLst>
              <a:path w="2324100" h="406400">
                <a:moveTo>
                  <a:pt x="50800" y="0"/>
                </a:moveTo>
                <a:lnTo>
                  <a:pt x="2273300" y="0"/>
                </a:lnTo>
                <a:cubicBezTo>
                  <a:pt x="2301337" y="0"/>
                  <a:pt x="2324100" y="22763"/>
                  <a:pt x="2324100" y="50800"/>
                </a:cubicBezTo>
                <a:lnTo>
                  <a:pt x="2324100" y="355600"/>
                </a:lnTo>
                <a:cubicBezTo>
                  <a:pt x="2324100" y="383637"/>
                  <a:pt x="2301337" y="406400"/>
                  <a:pt x="2273300" y="406400"/>
                </a:cubicBezTo>
                <a:lnTo>
                  <a:pt x="50800" y="406400"/>
                </a:lnTo>
                <a:cubicBezTo>
                  <a:pt x="22763" y="406400"/>
                  <a:pt x="0" y="383637"/>
                  <a:pt x="0" y="355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660400" y="599442"/>
            <a:ext cx="2112010" cy="233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kern="0" spc="35" dirty="0">
                <a:solidFill>
                  <a:srgbClr val="38B2A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TEACHER DASHBOARD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8000" y="1016000"/>
            <a:ext cx="154686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2E8F0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教师端：课程教学与数据录入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8000" y="1625600"/>
            <a:ext cx="1016000" cy="50800"/>
          </a:xfrm>
          <a:custGeom>
            <a:avLst/>
            <a:gdLst/>
            <a:ahLst/>
            <a:cxnLst/>
            <a:rect l="l" t="t" r="r" b="b"/>
            <a:pathLst>
              <a:path w="1016000" h="50800">
                <a:moveTo>
                  <a:pt x="0" y="0"/>
                </a:moveTo>
                <a:lnTo>
                  <a:pt x="1016000" y="0"/>
                </a:lnTo>
                <a:lnTo>
                  <a:pt x="10160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38B2AC"/>
          </a:solidFill>
        </p:spPr>
      </p:sp>
      <p:sp>
        <p:nvSpPr>
          <p:cNvPr id="19" name="Shape 17"/>
          <p:cNvSpPr/>
          <p:nvPr/>
        </p:nvSpPr>
        <p:spPr>
          <a:xfrm>
            <a:off x="636270" y="6253326"/>
            <a:ext cx="7503160" cy="2118360"/>
          </a:xfrm>
          <a:custGeom>
            <a:avLst/>
            <a:gdLst/>
            <a:ahLst/>
            <a:cxnLst/>
            <a:rect l="l" t="t" r="r" b="b"/>
            <a:pathLst>
              <a:path w="7503160" h="2118360">
                <a:moveTo>
                  <a:pt x="101597" y="0"/>
                </a:moveTo>
                <a:lnTo>
                  <a:pt x="7401563" y="0"/>
                </a:lnTo>
                <a:cubicBezTo>
                  <a:pt x="7457674" y="0"/>
                  <a:pt x="7503160" y="45486"/>
                  <a:pt x="7503160" y="101597"/>
                </a:cubicBezTo>
                <a:lnTo>
                  <a:pt x="7503160" y="2016763"/>
                </a:lnTo>
                <a:cubicBezTo>
                  <a:pt x="7503160" y="2072874"/>
                  <a:pt x="7457674" y="2118360"/>
                  <a:pt x="7401563" y="2118360"/>
                </a:cubicBezTo>
                <a:lnTo>
                  <a:pt x="101597" y="2118360"/>
                </a:lnTo>
                <a:cubicBezTo>
                  <a:pt x="45486" y="2118360"/>
                  <a:pt x="0" y="2072874"/>
                  <a:pt x="0" y="2016763"/>
                </a:cubicBezTo>
                <a:lnTo>
                  <a:pt x="0" y="101597"/>
                </a:lnTo>
                <a:cubicBezTo>
                  <a:pt x="0" y="45524"/>
                  <a:pt x="45524" y="0"/>
                  <a:pt x="10159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10160">
            <a:solidFill>
              <a:srgbClr val="4A5568">
                <a:alpha val="30196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5980" y="6512404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70098"/>
                </a:moveTo>
                <a:lnTo>
                  <a:pt x="127000" y="223540"/>
                </a:lnTo>
                <a:lnTo>
                  <a:pt x="127248" y="223441"/>
                </a:lnTo>
                <a:cubicBezTo>
                  <a:pt x="154335" y="212179"/>
                  <a:pt x="183406" y="206375"/>
                  <a:pt x="212725" y="206375"/>
                </a:cubicBezTo>
                <a:lnTo>
                  <a:pt x="222250" y="206375"/>
                </a:lnTo>
                <a:lnTo>
                  <a:pt x="222250" y="47625"/>
                </a:lnTo>
                <a:lnTo>
                  <a:pt x="212725" y="47625"/>
                </a:lnTo>
                <a:cubicBezTo>
                  <a:pt x="191790" y="47625"/>
                  <a:pt x="171004" y="51792"/>
                  <a:pt x="151656" y="59829"/>
                </a:cubicBezTo>
                <a:cubicBezTo>
                  <a:pt x="143321" y="63302"/>
                  <a:pt x="135086" y="66725"/>
                  <a:pt x="127000" y="70098"/>
                </a:cubicBezTo>
                <a:close/>
                <a:moveTo>
                  <a:pt x="114548" y="30510"/>
                </a:moveTo>
                <a:lnTo>
                  <a:pt x="127000" y="35719"/>
                </a:lnTo>
                <a:lnTo>
                  <a:pt x="139452" y="30510"/>
                </a:lnTo>
                <a:cubicBezTo>
                  <a:pt x="162669" y="20836"/>
                  <a:pt x="187573" y="15875"/>
                  <a:pt x="212725" y="15875"/>
                </a:cubicBezTo>
                <a:lnTo>
                  <a:pt x="230188" y="15875"/>
                </a:lnTo>
                <a:cubicBezTo>
                  <a:pt x="243334" y="15875"/>
                  <a:pt x="254000" y="26541"/>
                  <a:pt x="254000" y="39688"/>
                </a:cubicBezTo>
                <a:lnTo>
                  <a:pt x="254000" y="214313"/>
                </a:lnTo>
                <a:cubicBezTo>
                  <a:pt x="254000" y="227459"/>
                  <a:pt x="243334" y="238125"/>
                  <a:pt x="230188" y="238125"/>
                </a:cubicBezTo>
                <a:lnTo>
                  <a:pt x="212725" y="238125"/>
                </a:lnTo>
                <a:cubicBezTo>
                  <a:pt x="187573" y="238125"/>
                  <a:pt x="162669" y="243086"/>
                  <a:pt x="139452" y="252760"/>
                </a:cubicBezTo>
                <a:lnTo>
                  <a:pt x="133102" y="255389"/>
                </a:lnTo>
                <a:cubicBezTo>
                  <a:pt x="129183" y="257026"/>
                  <a:pt x="124817" y="257026"/>
                  <a:pt x="120898" y="255389"/>
                </a:cubicBezTo>
                <a:lnTo>
                  <a:pt x="114548" y="252760"/>
                </a:lnTo>
                <a:cubicBezTo>
                  <a:pt x="91331" y="243086"/>
                  <a:pt x="66427" y="238125"/>
                  <a:pt x="41275" y="238125"/>
                </a:cubicBezTo>
                <a:lnTo>
                  <a:pt x="23812" y="238125"/>
                </a:lnTo>
                <a:cubicBezTo>
                  <a:pt x="10666" y="238125"/>
                  <a:pt x="0" y="227459"/>
                  <a:pt x="0" y="214313"/>
                </a:cubicBezTo>
                <a:lnTo>
                  <a:pt x="0" y="39688"/>
                </a:lnTo>
                <a:cubicBezTo>
                  <a:pt x="0" y="26541"/>
                  <a:pt x="10666" y="15875"/>
                  <a:pt x="23812" y="15875"/>
                </a:cubicBezTo>
                <a:lnTo>
                  <a:pt x="41275" y="15875"/>
                </a:lnTo>
                <a:cubicBezTo>
                  <a:pt x="66427" y="15875"/>
                  <a:pt x="91331" y="20836"/>
                  <a:pt x="114548" y="30510"/>
                </a:cubicBezTo>
                <a:close/>
              </a:path>
            </a:pathLst>
          </a:custGeom>
          <a:solidFill>
            <a:srgbClr val="38B2AC"/>
          </a:solidFill>
        </p:spPr>
      </p:sp>
      <p:sp>
        <p:nvSpPr>
          <p:cNvPr id="21" name="Text 19"/>
          <p:cNvSpPr/>
          <p:nvPr/>
        </p:nvSpPr>
        <p:spPr>
          <a:xfrm>
            <a:off x="1294130" y="6461604"/>
            <a:ext cx="1905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所负责课程界面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24230" y="6969604"/>
            <a:ext cx="7188200" cy="330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展示个人教授的全部课程，可查看每门课程选课学生名单，快速掌握授课对象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24230" y="7452204"/>
            <a:ext cx="2298700" cy="711200"/>
          </a:xfrm>
          <a:custGeom>
            <a:avLst/>
            <a:gdLst/>
            <a:ahLst/>
            <a:cxnLst/>
            <a:rect l="l" t="t" r="r" b="b"/>
            <a:pathLst>
              <a:path w="2298700" h="711200">
                <a:moveTo>
                  <a:pt x="50801" y="0"/>
                </a:moveTo>
                <a:lnTo>
                  <a:pt x="2247899" y="0"/>
                </a:lnTo>
                <a:cubicBezTo>
                  <a:pt x="2275956" y="0"/>
                  <a:pt x="2298700" y="22744"/>
                  <a:pt x="2298700" y="50801"/>
                </a:cubicBezTo>
                <a:lnTo>
                  <a:pt x="2298700" y="660399"/>
                </a:lnTo>
                <a:cubicBezTo>
                  <a:pt x="2298700" y="688456"/>
                  <a:pt x="2275956" y="711200"/>
                  <a:pt x="2247899" y="711200"/>
                </a:cubicBezTo>
                <a:lnTo>
                  <a:pt x="50801" y="711200"/>
                </a:lnTo>
                <a:cubicBezTo>
                  <a:pt x="22744" y="711200"/>
                  <a:pt x="0" y="688456"/>
                  <a:pt x="0" y="6603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</p:spPr>
      </p:sp>
      <p:sp>
        <p:nvSpPr>
          <p:cNvPr id="24" name="Text 22"/>
          <p:cNvSpPr/>
          <p:nvPr/>
        </p:nvSpPr>
        <p:spPr>
          <a:xfrm>
            <a:off x="881380" y="7553804"/>
            <a:ext cx="21844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8B2A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课程列表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87730" y="7858604"/>
            <a:ext cx="21717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71809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全部教授课程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221990" y="7452204"/>
            <a:ext cx="2298700" cy="711200"/>
          </a:xfrm>
          <a:custGeom>
            <a:avLst/>
            <a:gdLst/>
            <a:ahLst/>
            <a:cxnLst/>
            <a:rect l="l" t="t" r="r" b="b"/>
            <a:pathLst>
              <a:path w="2298700" h="711200">
                <a:moveTo>
                  <a:pt x="50801" y="0"/>
                </a:moveTo>
                <a:lnTo>
                  <a:pt x="2247899" y="0"/>
                </a:lnTo>
                <a:cubicBezTo>
                  <a:pt x="2275956" y="0"/>
                  <a:pt x="2298700" y="22744"/>
                  <a:pt x="2298700" y="50801"/>
                </a:cubicBezTo>
                <a:lnTo>
                  <a:pt x="2298700" y="660399"/>
                </a:lnTo>
                <a:cubicBezTo>
                  <a:pt x="2298700" y="688456"/>
                  <a:pt x="2275956" y="711200"/>
                  <a:pt x="2247899" y="711200"/>
                </a:cubicBezTo>
                <a:lnTo>
                  <a:pt x="50801" y="711200"/>
                </a:lnTo>
                <a:cubicBezTo>
                  <a:pt x="22744" y="711200"/>
                  <a:pt x="0" y="688456"/>
                  <a:pt x="0" y="6603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</p:spPr>
      </p:sp>
      <p:sp>
        <p:nvSpPr>
          <p:cNvPr id="27" name="Text 25"/>
          <p:cNvSpPr/>
          <p:nvPr/>
        </p:nvSpPr>
        <p:spPr>
          <a:xfrm>
            <a:off x="3279140" y="7553804"/>
            <a:ext cx="21844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8B2A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学生名单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285490" y="7858604"/>
            <a:ext cx="21717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71809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选课学生信息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619750" y="7452204"/>
            <a:ext cx="2298700" cy="711200"/>
          </a:xfrm>
          <a:custGeom>
            <a:avLst/>
            <a:gdLst/>
            <a:ahLst/>
            <a:cxnLst/>
            <a:rect l="l" t="t" r="r" b="b"/>
            <a:pathLst>
              <a:path w="2298700" h="711200">
                <a:moveTo>
                  <a:pt x="50801" y="0"/>
                </a:moveTo>
                <a:lnTo>
                  <a:pt x="2247899" y="0"/>
                </a:lnTo>
                <a:cubicBezTo>
                  <a:pt x="2275956" y="0"/>
                  <a:pt x="2298700" y="22744"/>
                  <a:pt x="2298700" y="50801"/>
                </a:cubicBezTo>
                <a:lnTo>
                  <a:pt x="2298700" y="660399"/>
                </a:lnTo>
                <a:cubicBezTo>
                  <a:pt x="2298700" y="688456"/>
                  <a:pt x="2275956" y="711200"/>
                  <a:pt x="2247899" y="711200"/>
                </a:cubicBezTo>
                <a:lnTo>
                  <a:pt x="50801" y="711200"/>
                </a:lnTo>
                <a:cubicBezTo>
                  <a:pt x="22744" y="711200"/>
                  <a:pt x="0" y="688456"/>
                  <a:pt x="0" y="6603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</p:spPr>
      </p:sp>
      <p:sp>
        <p:nvSpPr>
          <p:cNvPr id="30" name="Text 28"/>
          <p:cNvSpPr/>
          <p:nvPr/>
        </p:nvSpPr>
        <p:spPr>
          <a:xfrm>
            <a:off x="5676900" y="7553804"/>
            <a:ext cx="21844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8B2A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快速查看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683250" y="7858604"/>
            <a:ext cx="21717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71809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便捷操作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60400" y="1935480"/>
            <a:ext cx="7503160" cy="1991360"/>
          </a:xfrm>
          <a:custGeom>
            <a:avLst/>
            <a:gdLst/>
            <a:ahLst/>
            <a:cxnLst/>
            <a:rect l="l" t="t" r="r" b="b"/>
            <a:pathLst>
              <a:path w="7503160" h="2042160">
                <a:moveTo>
                  <a:pt x="101597" y="0"/>
                </a:moveTo>
                <a:lnTo>
                  <a:pt x="7401563" y="0"/>
                </a:lnTo>
                <a:cubicBezTo>
                  <a:pt x="7457673" y="0"/>
                  <a:pt x="7503160" y="45487"/>
                  <a:pt x="7503160" y="101597"/>
                </a:cubicBezTo>
                <a:lnTo>
                  <a:pt x="7503160" y="1940563"/>
                </a:lnTo>
                <a:cubicBezTo>
                  <a:pt x="7503160" y="1996673"/>
                  <a:pt x="7457673" y="2042160"/>
                  <a:pt x="7401563" y="2042160"/>
                </a:cubicBezTo>
                <a:lnTo>
                  <a:pt x="101597" y="2042160"/>
                </a:lnTo>
                <a:cubicBezTo>
                  <a:pt x="45487" y="2042160"/>
                  <a:pt x="0" y="1996673"/>
                  <a:pt x="0" y="194056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10160">
            <a:solidFill>
              <a:srgbClr val="38B2AC">
                <a:alpha val="30196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32180" y="2150110"/>
            <a:ext cx="190500" cy="247650"/>
          </a:xfrm>
          <a:custGeom>
            <a:avLst/>
            <a:gdLst/>
            <a:ahLst/>
            <a:cxnLst/>
            <a:rect l="l" t="t" r="r" b="b"/>
            <a:pathLst>
              <a:path w="190500" h="254000">
                <a:moveTo>
                  <a:pt x="154484" y="15875"/>
                </a:moveTo>
                <a:lnTo>
                  <a:pt x="158750" y="15875"/>
                </a:lnTo>
                <a:cubicBezTo>
                  <a:pt x="176262" y="15875"/>
                  <a:pt x="190500" y="30113"/>
                  <a:pt x="190500" y="47625"/>
                </a:cubicBezTo>
                <a:lnTo>
                  <a:pt x="190500" y="222250"/>
                </a:lnTo>
                <a:cubicBezTo>
                  <a:pt x="190500" y="239762"/>
                  <a:pt x="176262" y="254000"/>
                  <a:pt x="158750" y="254000"/>
                </a:cubicBezTo>
                <a:lnTo>
                  <a:pt x="31750" y="254000"/>
                </a:lnTo>
                <a:cubicBezTo>
                  <a:pt x="14238" y="254000"/>
                  <a:pt x="0" y="239762"/>
                  <a:pt x="0" y="222250"/>
                </a:cubicBezTo>
                <a:lnTo>
                  <a:pt x="0" y="47625"/>
                </a:lnTo>
                <a:cubicBezTo>
                  <a:pt x="0" y="30113"/>
                  <a:pt x="14238" y="15875"/>
                  <a:pt x="31750" y="15875"/>
                </a:cubicBezTo>
                <a:lnTo>
                  <a:pt x="36016" y="15875"/>
                </a:lnTo>
                <a:cubicBezTo>
                  <a:pt x="41473" y="6400"/>
                  <a:pt x="51743" y="0"/>
                  <a:pt x="63500" y="0"/>
                </a:cubicBezTo>
                <a:lnTo>
                  <a:pt x="127000" y="0"/>
                </a:lnTo>
                <a:cubicBezTo>
                  <a:pt x="138757" y="0"/>
                  <a:pt x="149027" y="6400"/>
                  <a:pt x="154484" y="15875"/>
                </a:cubicBezTo>
                <a:close/>
                <a:moveTo>
                  <a:pt x="123031" y="55563"/>
                </a:moveTo>
                <a:cubicBezTo>
                  <a:pt x="129629" y="55563"/>
                  <a:pt x="134938" y="50254"/>
                  <a:pt x="134938" y="43656"/>
                </a:cubicBezTo>
                <a:cubicBezTo>
                  <a:pt x="134938" y="37058"/>
                  <a:pt x="129629" y="31750"/>
                  <a:pt x="123031" y="31750"/>
                </a:cubicBezTo>
                <a:lnTo>
                  <a:pt x="67469" y="31750"/>
                </a:lnTo>
                <a:cubicBezTo>
                  <a:pt x="60871" y="31750"/>
                  <a:pt x="55563" y="37058"/>
                  <a:pt x="55563" y="43656"/>
                </a:cubicBezTo>
                <a:cubicBezTo>
                  <a:pt x="55563" y="50254"/>
                  <a:pt x="60871" y="55563"/>
                  <a:pt x="67469" y="55563"/>
                </a:cubicBezTo>
                <a:lnTo>
                  <a:pt x="123031" y="55563"/>
                </a:lnTo>
                <a:close/>
                <a:moveTo>
                  <a:pt x="137120" y="129332"/>
                </a:moveTo>
                <a:cubicBezTo>
                  <a:pt x="140593" y="123775"/>
                  <a:pt x="138906" y="116433"/>
                  <a:pt x="133350" y="112911"/>
                </a:cubicBezTo>
                <a:cubicBezTo>
                  <a:pt x="127794" y="109389"/>
                  <a:pt x="120452" y="111125"/>
                  <a:pt x="116929" y="116681"/>
                </a:cubicBezTo>
                <a:lnTo>
                  <a:pt x="86469" y="165447"/>
                </a:lnTo>
                <a:lnTo>
                  <a:pt x="73075" y="147588"/>
                </a:lnTo>
                <a:cubicBezTo>
                  <a:pt x="69106" y="142329"/>
                  <a:pt x="61664" y="141238"/>
                  <a:pt x="56406" y="145207"/>
                </a:cubicBezTo>
                <a:cubicBezTo>
                  <a:pt x="51147" y="149175"/>
                  <a:pt x="50056" y="156617"/>
                  <a:pt x="54025" y="161875"/>
                </a:cubicBezTo>
                <a:lnTo>
                  <a:pt x="77837" y="193625"/>
                </a:lnTo>
                <a:cubicBezTo>
                  <a:pt x="80169" y="196751"/>
                  <a:pt x="83939" y="198537"/>
                  <a:pt x="87858" y="198388"/>
                </a:cubicBezTo>
                <a:cubicBezTo>
                  <a:pt x="91777" y="198239"/>
                  <a:pt x="95349" y="196155"/>
                  <a:pt x="97433" y="192782"/>
                </a:cubicBezTo>
                <a:lnTo>
                  <a:pt x="137120" y="129282"/>
                </a:lnTo>
                <a:close/>
              </a:path>
            </a:pathLst>
          </a:custGeom>
          <a:solidFill>
            <a:srgbClr val="38B2AC"/>
          </a:solidFill>
        </p:spPr>
      </p:sp>
      <p:sp>
        <p:nvSpPr>
          <p:cNvPr id="34" name="Text 32"/>
          <p:cNvSpPr/>
          <p:nvPr/>
        </p:nvSpPr>
        <p:spPr>
          <a:xfrm>
            <a:off x="1338580" y="2101850"/>
            <a:ext cx="1651000" cy="3467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考勤管理界面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7147560" y="2125980"/>
            <a:ext cx="812800" cy="297180"/>
          </a:xfrm>
          <a:custGeom>
            <a:avLst/>
            <a:gdLst/>
            <a:ahLst/>
            <a:cxnLst/>
            <a:rect l="l" t="t" r="r" b="b"/>
            <a:pathLst>
              <a:path w="812800" h="304800">
                <a:moveTo>
                  <a:pt x="50801" y="0"/>
                </a:moveTo>
                <a:lnTo>
                  <a:pt x="761999" y="0"/>
                </a:lnTo>
                <a:cubicBezTo>
                  <a:pt x="790056" y="0"/>
                  <a:pt x="812800" y="22744"/>
                  <a:pt x="812800" y="50801"/>
                </a:cubicBezTo>
                <a:lnTo>
                  <a:pt x="812800" y="253999"/>
                </a:lnTo>
                <a:cubicBezTo>
                  <a:pt x="812800" y="282056"/>
                  <a:pt x="790056" y="304800"/>
                  <a:pt x="7619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38B2AC"/>
          </a:solidFill>
        </p:spPr>
      </p:sp>
      <p:sp>
        <p:nvSpPr>
          <p:cNvPr id="36" name="Text 34"/>
          <p:cNvSpPr/>
          <p:nvPr/>
        </p:nvSpPr>
        <p:spPr>
          <a:xfrm>
            <a:off x="7147560" y="2125980"/>
            <a:ext cx="889000" cy="297180"/>
          </a:xfrm>
          <a:prstGeom prst="rect">
            <a:avLst/>
          </a:prstGeom>
          <a:noFill/>
        </p:spPr>
        <p:txBody>
          <a:bodyPr wrap="square" lIns="101600" tIns="50800" rIns="101600" bIns="5080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1A202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核心功能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68680" y="2617470"/>
            <a:ext cx="7188200" cy="6438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录入学生缺勤记录，选择对应科目与学生，支持查看和删除历史考勤数据，为预警系统提供考勤数据源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68680" y="3421380"/>
            <a:ext cx="1701800" cy="297180"/>
          </a:xfrm>
          <a:custGeom>
            <a:avLst/>
            <a:gdLst/>
            <a:ahLst/>
            <a:cxnLst/>
            <a:rect l="l" t="t" r="r" b="b"/>
            <a:pathLst>
              <a:path w="1701800" h="304800">
                <a:moveTo>
                  <a:pt x="50801" y="0"/>
                </a:moveTo>
                <a:lnTo>
                  <a:pt x="1650999" y="0"/>
                </a:lnTo>
                <a:cubicBezTo>
                  <a:pt x="1679056" y="0"/>
                  <a:pt x="1701800" y="22744"/>
                  <a:pt x="1701800" y="50801"/>
                </a:cubicBezTo>
                <a:lnTo>
                  <a:pt x="1701800" y="253999"/>
                </a:lnTo>
                <a:cubicBezTo>
                  <a:pt x="1701800" y="282056"/>
                  <a:pt x="1679056" y="304800"/>
                  <a:pt x="16509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</p:spPr>
      </p:sp>
      <p:sp>
        <p:nvSpPr>
          <p:cNvPr id="39" name="Text 37"/>
          <p:cNvSpPr/>
          <p:nvPr/>
        </p:nvSpPr>
        <p:spPr>
          <a:xfrm>
            <a:off x="830580" y="3421380"/>
            <a:ext cx="1778000" cy="297180"/>
          </a:xfrm>
          <a:prstGeom prst="rect">
            <a:avLst/>
          </a:prstGeom>
          <a:noFill/>
        </p:spPr>
        <p:txBody>
          <a:bodyPr wrap="square" lIns="101600" tIns="50800" rIns="101600" bIns="5080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38B2A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缺勤录入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2667000" y="3421380"/>
            <a:ext cx="1701800" cy="297180"/>
          </a:xfrm>
          <a:custGeom>
            <a:avLst/>
            <a:gdLst/>
            <a:ahLst/>
            <a:cxnLst/>
            <a:rect l="l" t="t" r="r" b="b"/>
            <a:pathLst>
              <a:path w="1701800" h="304800">
                <a:moveTo>
                  <a:pt x="50801" y="0"/>
                </a:moveTo>
                <a:lnTo>
                  <a:pt x="1650999" y="0"/>
                </a:lnTo>
                <a:cubicBezTo>
                  <a:pt x="1679056" y="0"/>
                  <a:pt x="1701800" y="22744"/>
                  <a:pt x="1701800" y="50801"/>
                </a:cubicBezTo>
                <a:lnTo>
                  <a:pt x="1701800" y="253999"/>
                </a:lnTo>
                <a:cubicBezTo>
                  <a:pt x="1701800" y="282056"/>
                  <a:pt x="1679056" y="304800"/>
                  <a:pt x="16509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</p:spPr>
      </p:sp>
      <p:sp>
        <p:nvSpPr>
          <p:cNvPr id="41" name="Text 39"/>
          <p:cNvSpPr/>
          <p:nvPr/>
        </p:nvSpPr>
        <p:spPr>
          <a:xfrm>
            <a:off x="2628900" y="3421380"/>
            <a:ext cx="1778000" cy="297180"/>
          </a:xfrm>
          <a:prstGeom prst="rect">
            <a:avLst/>
          </a:prstGeom>
          <a:noFill/>
        </p:spPr>
        <p:txBody>
          <a:bodyPr wrap="square" lIns="101600" tIns="50800" rIns="101600" bIns="5080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38B2A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科目选择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4465320" y="3421380"/>
            <a:ext cx="1701800" cy="297180"/>
          </a:xfrm>
          <a:custGeom>
            <a:avLst/>
            <a:gdLst/>
            <a:ahLst/>
            <a:cxnLst/>
            <a:rect l="l" t="t" r="r" b="b"/>
            <a:pathLst>
              <a:path w="1701800" h="304800">
                <a:moveTo>
                  <a:pt x="50801" y="0"/>
                </a:moveTo>
                <a:lnTo>
                  <a:pt x="1650999" y="0"/>
                </a:lnTo>
                <a:cubicBezTo>
                  <a:pt x="1679056" y="0"/>
                  <a:pt x="1701800" y="22744"/>
                  <a:pt x="1701800" y="50801"/>
                </a:cubicBezTo>
                <a:lnTo>
                  <a:pt x="1701800" y="253999"/>
                </a:lnTo>
                <a:cubicBezTo>
                  <a:pt x="1701800" y="282056"/>
                  <a:pt x="1679056" y="304800"/>
                  <a:pt x="16509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</p:spPr>
      </p:sp>
      <p:sp>
        <p:nvSpPr>
          <p:cNvPr id="43" name="Text 41"/>
          <p:cNvSpPr/>
          <p:nvPr/>
        </p:nvSpPr>
        <p:spPr>
          <a:xfrm>
            <a:off x="4427220" y="3421380"/>
            <a:ext cx="1778000" cy="297180"/>
          </a:xfrm>
          <a:prstGeom prst="rect">
            <a:avLst/>
          </a:prstGeom>
          <a:noFill/>
        </p:spPr>
        <p:txBody>
          <a:bodyPr wrap="square" lIns="101600" tIns="50800" rIns="101600" bIns="5080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38B2A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历史查看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263640" y="3421380"/>
            <a:ext cx="1701800" cy="297180"/>
          </a:xfrm>
          <a:custGeom>
            <a:avLst/>
            <a:gdLst/>
            <a:ahLst/>
            <a:cxnLst/>
            <a:rect l="l" t="t" r="r" b="b"/>
            <a:pathLst>
              <a:path w="1701800" h="304800">
                <a:moveTo>
                  <a:pt x="50801" y="0"/>
                </a:moveTo>
                <a:lnTo>
                  <a:pt x="1650999" y="0"/>
                </a:lnTo>
                <a:cubicBezTo>
                  <a:pt x="1679056" y="0"/>
                  <a:pt x="1701800" y="22744"/>
                  <a:pt x="1701800" y="50801"/>
                </a:cubicBezTo>
                <a:lnTo>
                  <a:pt x="1701800" y="253999"/>
                </a:lnTo>
                <a:cubicBezTo>
                  <a:pt x="1701800" y="282056"/>
                  <a:pt x="1679056" y="304800"/>
                  <a:pt x="16509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</p:spPr>
      </p:sp>
      <p:sp>
        <p:nvSpPr>
          <p:cNvPr id="45" name="Text 43"/>
          <p:cNvSpPr/>
          <p:nvPr/>
        </p:nvSpPr>
        <p:spPr>
          <a:xfrm>
            <a:off x="6225540" y="3421380"/>
            <a:ext cx="1778000" cy="297180"/>
          </a:xfrm>
          <a:prstGeom prst="rect">
            <a:avLst/>
          </a:prstGeom>
          <a:noFill/>
        </p:spPr>
        <p:txBody>
          <a:bodyPr wrap="square" lIns="101600" tIns="50800" rIns="101600" bIns="5080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38B2A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数据删除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51510" y="4140046"/>
            <a:ext cx="7503160" cy="2042160"/>
          </a:xfrm>
          <a:custGeom>
            <a:avLst/>
            <a:gdLst/>
            <a:ahLst/>
            <a:cxnLst/>
            <a:rect l="l" t="t" r="r" b="b"/>
            <a:pathLst>
              <a:path w="7503160" h="2042160">
                <a:moveTo>
                  <a:pt x="101597" y="0"/>
                </a:moveTo>
                <a:lnTo>
                  <a:pt x="7401563" y="0"/>
                </a:lnTo>
                <a:cubicBezTo>
                  <a:pt x="7457673" y="0"/>
                  <a:pt x="7503160" y="45487"/>
                  <a:pt x="7503160" y="101597"/>
                </a:cubicBezTo>
                <a:lnTo>
                  <a:pt x="7503160" y="1940563"/>
                </a:lnTo>
                <a:cubicBezTo>
                  <a:pt x="7503160" y="1996673"/>
                  <a:pt x="7457673" y="2042160"/>
                  <a:pt x="7401563" y="2042160"/>
                </a:cubicBezTo>
                <a:lnTo>
                  <a:pt x="101597" y="2042160"/>
                </a:lnTo>
                <a:cubicBezTo>
                  <a:pt x="45487" y="2042160"/>
                  <a:pt x="0" y="1996673"/>
                  <a:pt x="0" y="194056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10160">
            <a:solidFill>
              <a:srgbClr val="38B2AC">
                <a:alpha val="30196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91540" y="4399124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31750" y="31750"/>
                </a:moveTo>
                <a:cubicBezTo>
                  <a:pt x="31750" y="22969"/>
                  <a:pt x="24656" y="15875"/>
                  <a:pt x="15875" y="15875"/>
                </a:cubicBezTo>
                <a:cubicBezTo>
                  <a:pt x="7094" y="15875"/>
                  <a:pt x="0" y="22969"/>
                  <a:pt x="0" y="31750"/>
                </a:cubicBezTo>
                <a:lnTo>
                  <a:pt x="0" y="198438"/>
                </a:lnTo>
                <a:cubicBezTo>
                  <a:pt x="0" y="220365"/>
                  <a:pt x="17760" y="238125"/>
                  <a:pt x="39688" y="238125"/>
                </a:cubicBezTo>
                <a:lnTo>
                  <a:pt x="238125" y="238125"/>
                </a:lnTo>
                <a:cubicBezTo>
                  <a:pt x="246906" y="238125"/>
                  <a:pt x="254000" y="231031"/>
                  <a:pt x="254000" y="222250"/>
                </a:cubicBezTo>
                <a:cubicBezTo>
                  <a:pt x="254000" y="213469"/>
                  <a:pt x="246906" y="206375"/>
                  <a:pt x="238125" y="206375"/>
                </a:cubicBezTo>
                <a:lnTo>
                  <a:pt x="39688" y="206375"/>
                </a:lnTo>
                <a:cubicBezTo>
                  <a:pt x="35322" y="206375"/>
                  <a:pt x="31750" y="202803"/>
                  <a:pt x="31750" y="198438"/>
                </a:cubicBezTo>
                <a:lnTo>
                  <a:pt x="31750" y="31750"/>
                </a:lnTo>
                <a:close/>
                <a:moveTo>
                  <a:pt x="233462" y="74712"/>
                </a:moveTo>
                <a:cubicBezTo>
                  <a:pt x="239663" y="68511"/>
                  <a:pt x="239663" y="58440"/>
                  <a:pt x="233462" y="52239"/>
                </a:cubicBezTo>
                <a:cubicBezTo>
                  <a:pt x="227261" y="46037"/>
                  <a:pt x="217190" y="46037"/>
                  <a:pt x="210989" y="52239"/>
                </a:cubicBezTo>
                <a:lnTo>
                  <a:pt x="158750" y="104527"/>
                </a:lnTo>
                <a:lnTo>
                  <a:pt x="130274" y="76101"/>
                </a:lnTo>
                <a:cubicBezTo>
                  <a:pt x="124073" y="69900"/>
                  <a:pt x="114002" y="69900"/>
                  <a:pt x="107801" y="76101"/>
                </a:cubicBezTo>
                <a:lnTo>
                  <a:pt x="60176" y="123726"/>
                </a:lnTo>
                <a:cubicBezTo>
                  <a:pt x="53975" y="129927"/>
                  <a:pt x="53975" y="139998"/>
                  <a:pt x="60176" y="146199"/>
                </a:cubicBezTo>
                <a:cubicBezTo>
                  <a:pt x="66377" y="152400"/>
                  <a:pt x="76448" y="152400"/>
                  <a:pt x="82649" y="146199"/>
                </a:cubicBezTo>
                <a:lnTo>
                  <a:pt x="119063" y="109786"/>
                </a:lnTo>
                <a:lnTo>
                  <a:pt x="147538" y="138261"/>
                </a:lnTo>
                <a:cubicBezTo>
                  <a:pt x="153739" y="144463"/>
                  <a:pt x="163810" y="144463"/>
                  <a:pt x="170011" y="138261"/>
                </a:cubicBezTo>
                <a:lnTo>
                  <a:pt x="233511" y="74761"/>
                </a:lnTo>
                <a:close/>
              </a:path>
            </a:pathLst>
          </a:custGeom>
          <a:solidFill>
            <a:srgbClr val="38B2AC"/>
          </a:solidFill>
        </p:spPr>
      </p:sp>
      <p:sp>
        <p:nvSpPr>
          <p:cNvPr id="48" name="Text 46"/>
          <p:cNvSpPr/>
          <p:nvPr/>
        </p:nvSpPr>
        <p:spPr>
          <a:xfrm>
            <a:off x="1329690" y="4348324"/>
            <a:ext cx="1651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成绩管理界面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7138671" y="4373724"/>
            <a:ext cx="812800" cy="304800"/>
          </a:xfrm>
          <a:custGeom>
            <a:avLst/>
            <a:gdLst/>
            <a:ahLst/>
            <a:cxnLst/>
            <a:rect l="l" t="t" r="r" b="b"/>
            <a:pathLst>
              <a:path w="812800" h="304800">
                <a:moveTo>
                  <a:pt x="50801" y="0"/>
                </a:moveTo>
                <a:lnTo>
                  <a:pt x="761999" y="0"/>
                </a:lnTo>
                <a:cubicBezTo>
                  <a:pt x="790056" y="0"/>
                  <a:pt x="812800" y="22744"/>
                  <a:pt x="812800" y="50801"/>
                </a:cubicBezTo>
                <a:lnTo>
                  <a:pt x="812800" y="253999"/>
                </a:lnTo>
                <a:cubicBezTo>
                  <a:pt x="812800" y="282056"/>
                  <a:pt x="790056" y="304800"/>
                  <a:pt x="7619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38B2AC"/>
          </a:solidFill>
        </p:spPr>
      </p:sp>
      <p:sp>
        <p:nvSpPr>
          <p:cNvPr id="50" name="Text 48"/>
          <p:cNvSpPr/>
          <p:nvPr/>
        </p:nvSpPr>
        <p:spPr>
          <a:xfrm>
            <a:off x="7138671" y="4373724"/>
            <a:ext cx="889000" cy="304800"/>
          </a:xfrm>
          <a:prstGeom prst="rect">
            <a:avLst/>
          </a:prstGeom>
          <a:noFill/>
        </p:spPr>
        <p:txBody>
          <a:bodyPr wrap="square" lIns="101600" tIns="50800" rIns="101600" bIns="5080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1A202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核心功能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859790" y="4856324"/>
            <a:ext cx="7188200" cy="660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录入学生课程分数，支持成绩编辑与删除，确保学生成绩数据准确录入系统，是预警系统的核心数据源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859790" y="5669124"/>
            <a:ext cx="1701800" cy="304800"/>
          </a:xfrm>
          <a:custGeom>
            <a:avLst/>
            <a:gdLst/>
            <a:ahLst/>
            <a:cxnLst/>
            <a:rect l="l" t="t" r="r" b="b"/>
            <a:pathLst>
              <a:path w="1701800" h="304800">
                <a:moveTo>
                  <a:pt x="50801" y="0"/>
                </a:moveTo>
                <a:lnTo>
                  <a:pt x="1650999" y="0"/>
                </a:lnTo>
                <a:cubicBezTo>
                  <a:pt x="1679056" y="0"/>
                  <a:pt x="1701800" y="22744"/>
                  <a:pt x="1701800" y="50801"/>
                </a:cubicBezTo>
                <a:lnTo>
                  <a:pt x="1701800" y="253999"/>
                </a:lnTo>
                <a:cubicBezTo>
                  <a:pt x="1701800" y="282056"/>
                  <a:pt x="1679056" y="304800"/>
                  <a:pt x="16509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</p:spPr>
      </p:sp>
      <p:sp>
        <p:nvSpPr>
          <p:cNvPr id="53" name="Text 51"/>
          <p:cNvSpPr/>
          <p:nvPr/>
        </p:nvSpPr>
        <p:spPr>
          <a:xfrm>
            <a:off x="821690" y="5669124"/>
            <a:ext cx="1778000" cy="304800"/>
          </a:xfrm>
          <a:prstGeom prst="rect">
            <a:avLst/>
          </a:prstGeom>
          <a:noFill/>
        </p:spPr>
        <p:txBody>
          <a:bodyPr wrap="square" lIns="101600" tIns="50800" rIns="101600" bIns="5080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38B2A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成绩录入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2658110" y="5669124"/>
            <a:ext cx="1701800" cy="304800"/>
          </a:xfrm>
          <a:custGeom>
            <a:avLst/>
            <a:gdLst/>
            <a:ahLst/>
            <a:cxnLst/>
            <a:rect l="l" t="t" r="r" b="b"/>
            <a:pathLst>
              <a:path w="1701800" h="304800">
                <a:moveTo>
                  <a:pt x="50801" y="0"/>
                </a:moveTo>
                <a:lnTo>
                  <a:pt x="1650999" y="0"/>
                </a:lnTo>
                <a:cubicBezTo>
                  <a:pt x="1679056" y="0"/>
                  <a:pt x="1701800" y="22744"/>
                  <a:pt x="1701800" y="50801"/>
                </a:cubicBezTo>
                <a:lnTo>
                  <a:pt x="1701800" y="253999"/>
                </a:lnTo>
                <a:cubicBezTo>
                  <a:pt x="1701800" y="282056"/>
                  <a:pt x="1679056" y="304800"/>
                  <a:pt x="16509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</p:spPr>
      </p:sp>
      <p:sp>
        <p:nvSpPr>
          <p:cNvPr id="55" name="Text 53"/>
          <p:cNvSpPr/>
          <p:nvPr/>
        </p:nvSpPr>
        <p:spPr>
          <a:xfrm>
            <a:off x="2620010" y="5669124"/>
            <a:ext cx="1778000" cy="304800"/>
          </a:xfrm>
          <a:prstGeom prst="rect">
            <a:avLst/>
          </a:prstGeom>
          <a:noFill/>
        </p:spPr>
        <p:txBody>
          <a:bodyPr wrap="square" lIns="101600" tIns="50800" rIns="101600" bIns="5080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38B2A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分数编辑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4456430" y="5669124"/>
            <a:ext cx="1701800" cy="304800"/>
          </a:xfrm>
          <a:custGeom>
            <a:avLst/>
            <a:gdLst/>
            <a:ahLst/>
            <a:cxnLst/>
            <a:rect l="l" t="t" r="r" b="b"/>
            <a:pathLst>
              <a:path w="1701800" h="304800">
                <a:moveTo>
                  <a:pt x="50801" y="0"/>
                </a:moveTo>
                <a:lnTo>
                  <a:pt x="1650999" y="0"/>
                </a:lnTo>
                <a:cubicBezTo>
                  <a:pt x="1679056" y="0"/>
                  <a:pt x="1701800" y="22744"/>
                  <a:pt x="1701800" y="50801"/>
                </a:cubicBezTo>
                <a:lnTo>
                  <a:pt x="1701800" y="253999"/>
                </a:lnTo>
                <a:cubicBezTo>
                  <a:pt x="1701800" y="282056"/>
                  <a:pt x="1679056" y="304800"/>
                  <a:pt x="16509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</p:spPr>
      </p:sp>
      <p:sp>
        <p:nvSpPr>
          <p:cNvPr id="57" name="Text 55"/>
          <p:cNvSpPr/>
          <p:nvPr/>
        </p:nvSpPr>
        <p:spPr>
          <a:xfrm>
            <a:off x="4418330" y="5669124"/>
            <a:ext cx="1778000" cy="304800"/>
          </a:xfrm>
          <a:prstGeom prst="rect">
            <a:avLst/>
          </a:prstGeom>
          <a:noFill/>
        </p:spPr>
        <p:txBody>
          <a:bodyPr wrap="square" lIns="101600" tIns="50800" rIns="101600" bIns="5080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38B2A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数据删除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254750" y="5669124"/>
            <a:ext cx="1701800" cy="304800"/>
          </a:xfrm>
          <a:custGeom>
            <a:avLst/>
            <a:gdLst/>
            <a:ahLst/>
            <a:cxnLst/>
            <a:rect l="l" t="t" r="r" b="b"/>
            <a:pathLst>
              <a:path w="1701800" h="304800">
                <a:moveTo>
                  <a:pt x="50801" y="0"/>
                </a:moveTo>
                <a:lnTo>
                  <a:pt x="1650999" y="0"/>
                </a:lnTo>
                <a:cubicBezTo>
                  <a:pt x="1679056" y="0"/>
                  <a:pt x="1701800" y="22744"/>
                  <a:pt x="1701800" y="50801"/>
                </a:cubicBezTo>
                <a:lnTo>
                  <a:pt x="1701800" y="253999"/>
                </a:lnTo>
                <a:cubicBezTo>
                  <a:pt x="1701800" y="282056"/>
                  <a:pt x="1679056" y="304800"/>
                  <a:pt x="16509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</p:spPr>
      </p:sp>
      <p:sp>
        <p:nvSpPr>
          <p:cNvPr id="59" name="Text 57"/>
          <p:cNvSpPr/>
          <p:nvPr/>
        </p:nvSpPr>
        <p:spPr>
          <a:xfrm>
            <a:off x="6216650" y="5669124"/>
            <a:ext cx="1778000" cy="304800"/>
          </a:xfrm>
          <a:prstGeom prst="rect">
            <a:avLst/>
          </a:prstGeom>
          <a:noFill/>
        </p:spPr>
        <p:txBody>
          <a:bodyPr wrap="square" lIns="101600" tIns="50800" rIns="101600" bIns="5080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38B2A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准确性保障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508000" y="8173722"/>
            <a:ext cx="15240000" cy="10160"/>
          </a:xfrm>
          <a:custGeom>
            <a:avLst/>
            <a:gdLst/>
            <a:ahLst/>
            <a:cxnLst/>
            <a:rect l="l" t="t" r="r" b="b"/>
            <a:pathLst>
              <a:path w="15240000" h="10160">
                <a:moveTo>
                  <a:pt x="0" y="0"/>
                </a:moveTo>
                <a:lnTo>
                  <a:pt x="15240000" y="0"/>
                </a:lnTo>
                <a:lnTo>
                  <a:pt x="15240000" y="10160"/>
                </a:lnTo>
                <a:lnTo>
                  <a:pt x="0" y="10160"/>
                </a:lnTo>
                <a:lnTo>
                  <a:pt x="0" y="0"/>
                </a:lnTo>
                <a:close/>
              </a:path>
            </a:pathLst>
          </a:custGeom>
          <a:solidFill>
            <a:srgbClr val="4A5568">
              <a:alpha val="30196"/>
            </a:srgbClr>
          </a:solidFill>
        </p:spPr>
      </p:sp>
      <p:sp>
        <p:nvSpPr>
          <p:cNvPr id="61" name="Shape 59"/>
          <p:cNvSpPr/>
          <p:nvPr/>
        </p:nvSpPr>
        <p:spPr>
          <a:xfrm>
            <a:off x="546100" y="8371842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177800" y="81677"/>
                </a:moveTo>
                <a:cubicBezTo>
                  <a:pt x="171926" y="85566"/>
                  <a:pt x="165179" y="88702"/>
                  <a:pt x="158155" y="91202"/>
                </a:cubicBezTo>
                <a:cubicBezTo>
                  <a:pt x="139502" y="97869"/>
                  <a:pt x="115014" y="101600"/>
                  <a:pt x="88900" y="101600"/>
                </a:cubicBezTo>
                <a:cubicBezTo>
                  <a:pt x="62786" y="101600"/>
                  <a:pt x="38259" y="97830"/>
                  <a:pt x="19645" y="91202"/>
                </a:cubicBezTo>
                <a:cubicBezTo>
                  <a:pt x="12660" y="88702"/>
                  <a:pt x="5874" y="85566"/>
                  <a:pt x="0" y="81677"/>
                </a:cubicBezTo>
                <a:lnTo>
                  <a:pt x="0" y="114300"/>
                </a:lnTo>
                <a:cubicBezTo>
                  <a:pt x="0" y="131842"/>
                  <a:pt x="39807" y="146050"/>
                  <a:pt x="88900" y="146050"/>
                </a:cubicBezTo>
                <a:cubicBezTo>
                  <a:pt x="137993" y="146050"/>
                  <a:pt x="177800" y="131842"/>
                  <a:pt x="177800" y="114300"/>
                </a:cubicBezTo>
                <a:lnTo>
                  <a:pt x="177800" y="81677"/>
                </a:lnTo>
                <a:close/>
                <a:moveTo>
                  <a:pt x="177800" y="50800"/>
                </a:moveTo>
                <a:lnTo>
                  <a:pt x="177800" y="31750"/>
                </a:lnTo>
                <a:cubicBezTo>
                  <a:pt x="177800" y="14208"/>
                  <a:pt x="137993" y="0"/>
                  <a:pt x="88900" y="0"/>
                </a:cubicBezTo>
                <a:cubicBezTo>
                  <a:pt x="39807" y="0"/>
                  <a:pt x="0" y="14208"/>
                  <a:pt x="0" y="31750"/>
                </a:cubicBezTo>
                <a:lnTo>
                  <a:pt x="0" y="50800"/>
                </a:lnTo>
                <a:cubicBezTo>
                  <a:pt x="0" y="68342"/>
                  <a:pt x="39807" y="82550"/>
                  <a:pt x="88900" y="82550"/>
                </a:cubicBezTo>
                <a:cubicBezTo>
                  <a:pt x="137993" y="82550"/>
                  <a:pt x="177800" y="68342"/>
                  <a:pt x="177800" y="50800"/>
                </a:cubicBezTo>
                <a:close/>
                <a:moveTo>
                  <a:pt x="158155" y="154702"/>
                </a:moveTo>
                <a:cubicBezTo>
                  <a:pt x="139541" y="161330"/>
                  <a:pt x="115054" y="165100"/>
                  <a:pt x="88900" y="165100"/>
                </a:cubicBezTo>
                <a:cubicBezTo>
                  <a:pt x="62746" y="165100"/>
                  <a:pt x="38259" y="161330"/>
                  <a:pt x="19645" y="154702"/>
                </a:cubicBezTo>
                <a:cubicBezTo>
                  <a:pt x="12660" y="152202"/>
                  <a:pt x="5874" y="149066"/>
                  <a:pt x="0" y="145177"/>
                </a:cubicBezTo>
                <a:lnTo>
                  <a:pt x="0" y="171450"/>
                </a:lnTo>
                <a:cubicBezTo>
                  <a:pt x="0" y="188992"/>
                  <a:pt x="39807" y="203200"/>
                  <a:pt x="88900" y="203200"/>
                </a:cubicBezTo>
                <a:cubicBezTo>
                  <a:pt x="137993" y="203200"/>
                  <a:pt x="177800" y="188992"/>
                  <a:pt x="177800" y="171450"/>
                </a:cubicBezTo>
                <a:lnTo>
                  <a:pt x="177800" y="145177"/>
                </a:lnTo>
                <a:cubicBezTo>
                  <a:pt x="171926" y="149066"/>
                  <a:pt x="165179" y="152202"/>
                  <a:pt x="158155" y="154702"/>
                </a:cubicBezTo>
                <a:close/>
              </a:path>
            </a:pathLst>
          </a:custGeom>
          <a:solidFill>
            <a:srgbClr val="38B2AC"/>
          </a:solidFill>
        </p:spPr>
      </p:sp>
      <p:sp>
        <p:nvSpPr>
          <p:cNvPr id="62" name="Text 60"/>
          <p:cNvSpPr/>
          <p:nvPr/>
        </p:nvSpPr>
        <p:spPr>
          <a:xfrm>
            <a:off x="863600" y="8331200"/>
            <a:ext cx="14986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38B2A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数据价值：</a:t>
            </a:r>
            <a:r>
              <a:rPr lang="en-US" sz="1600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教师端是预警系统的数据源入口，考勤和成绩数据实时同步至预警模块，触发规则匹配</a:t>
            </a:r>
            <a:endParaRPr lang="en-US" sz="1600" dirty="0"/>
          </a:p>
        </p:txBody>
      </p:sp>
      <p:pic>
        <p:nvPicPr>
          <p:cNvPr id="63" name="图片 6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89210" y="419100"/>
            <a:ext cx="5162550" cy="2842260"/>
          </a:xfrm>
          <a:prstGeom prst="rect">
            <a:avLst/>
          </a:prstGeom>
        </p:spPr>
      </p:pic>
      <p:pic>
        <p:nvPicPr>
          <p:cNvPr id="64" name="图片 6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9210" y="3499485"/>
            <a:ext cx="5017135" cy="2474595"/>
          </a:xfrm>
          <a:prstGeom prst="rect">
            <a:avLst/>
          </a:prstGeom>
        </p:spPr>
      </p:pic>
      <p:pic>
        <p:nvPicPr>
          <p:cNvPr id="65" name="图片 6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2530" y="6253480"/>
            <a:ext cx="5230495" cy="245491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000" y="508000"/>
            <a:ext cx="2717800" cy="406400"/>
          </a:xfrm>
          <a:custGeom>
            <a:avLst/>
            <a:gdLst/>
            <a:ahLst/>
            <a:cxnLst/>
            <a:rect l="l" t="t" r="r" b="b"/>
            <a:pathLst>
              <a:path w="2717800" h="406400">
                <a:moveTo>
                  <a:pt x="50800" y="0"/>
                </a:moveTo>
                <a:lnTo>
                  <a:pt x="2667000" y="0"/>
                </a:lnTo>
                <a:cubicBezTo>
                  <a:pt x="2695037" y="0"/>
                  <a:pt x="2717800" y="22763"/>
                  <a:pt x="2717800" y="50800"/>
                </a:cubicBezTo>
                <a:lnTo>
                  <a:pt x="2717800" y="355600"/>
                </a:lnTo>
                <a:cubicBezTo>
                  <a:pt x="2717800" y="383637"/>
                  <a:pt x="2695037" y="406400"/>
                  <a:pt x="2667000" y="406400"/>
                </a:cubicBezTo>
                <a:lnTo>
                  <a:pt x="50800" y="406400"/>
                </a:lnTo>
                <a:cubicBezTo>
                  <a:pt x="22763" y="406400"/>
                  <a:pt x="0" y="383637"/>
                  <a:pt x="0" y="355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660400" y="599442"/>
            <a:ext cx="2507456" cy="233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kern="0" spc="35" dirty="0">
                <a:solidFill>
                  <a:srgbClr val="38B2A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COUNSELLOR DASHBOARD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8000" y="1016000"/>
            <a:ext cx="154686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2E8F0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辅导员端：学业风险监控与干预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8000" y="1625600"/>
            <a:ext cx="1016000" cy="50800"/>
          </a:xfrm>
          <a:custGeom>
            <a:avLst/>
            <a:gdLst/>
            <a:ahLst/>
            <a:cxnLst/>
            <a:rect l="l" t="t" r="r" b="b"/>
            <a:pathLst>
              <a:path w="1016000" h="50800">
                <a:moveTo>
                  <a:pt x="0" y="0"/>
                </a:moveTo>
                <a:lnTo>
                  <a:pt x="1016000" y="0"/>
                </a:lnTo>
                <a:lnTo>
                  <a:pt x="10160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38B2AC"/>
          </a:solidFill>
        </p:spPr>
      </p:sp>
      <p:sp>
        <p:nvSpPr>
          <p:cNvPr id="19" name="Shape 17"/>
          <p:cNvSpPr/>
          <p:nvPr/>
        </p:nvSpPr>
        <p:spPr>
          <a:xfrm>
            <a:off x="576580" y="3804131"/>
            <a:ext cx="7503160" cy="2042160"/>
          </a:xfrm>
          <a:custGeom>
            <a:avLst/>
            <a:gdLst/>
            <a:ahLst/>
            <a:cxnLst/>
            <a:rect l="l" t="t" r="r" b="b"/>
            <a:pathLst>
              <a:path w="7503160" h="2042160">
                <a:moveTo>
                  <a:pt x="101597" y="0"/>
                </a:moveTo>
                <a:lnTo>
                  <a:pt x="7401563" y="0"/>
                </a:lnTo>
                <a:cubicBezTo>
                  <a:pt x="7457673" y="0"/>
                  <a:pt x="7503160" y="45487"/>
                  <a:pt x="7503160" y="101597"/>
                </a:cubicBezTo>
                <a:lnTo>
                  <a:pt x="7503160" y="1940563"/>
                </a:lnTo>
                <a:cubicBezTo>
                  <a:pt x="7503160" y="1996673"/>
                  <a:pt x="7457673" y="2042160"/>
                  <a:pt x="7401563" y="2042160"/>
                </a:cubicBezTo>
                <a:lnTo>
                  <a:pt x="101597" y="2042160"/>
                </a:lnTo>
                <a:cubicBezTo>
                  <a:pt x="45487" y="2042160"/>
                  <a:pt x="0" y="1996673"/>
                  <a:pt x="0" y="194056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10160">
            <a:solidFill>
              <a:srgbClr val="38B2AC">
                <a:alpha val="30196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2485" y="4063209"/>
            <a:ext cx="222250" cy="254000"/>
          </a:xfrm>
          <a:custGeom>
            <a:avLst/>
            <a:gdLst/>
            <a:ahLst/>
            <a:cxnLst/>
            <a:rect l="l" t="t" r="r" b="b"/>
            <a:pathLst>
              <a:path w="222250" h="254000">
                <a:moveTo>
                  <a:pt x="111125" y="0"/>
                </a:moveTo>
                <a:cubicBezTo>
                  <a:pt x="102344" y="0"/>
                  <a:pt x="95250" y="7094"/>
                  <a:pt x="95250" y="15875"/>
                </a:cubicBezTo>
                <a:lnTo>
                  <a:pt x="95250" y="17463"/>
                </a:lnTo>
                <a:cubicBezTo>
                  <a:pt x="59035" y="24805"/>
                  <a:pt x="31750" y="56852"/>
                  <a:pt x="31750" y="95250"/>
                </a:cubicBezTo>
                <a:lnTo>
                  <a:pt x="31750" y="106015"/>
                </a:lnTo>
                <a:cubicBezTo>
                  <a:pt x="31750" y="129877"/>
                  <a:pt x="23614" y="153045"/>
                  <a:pt x="8731" y="171698"/>
                </a:cubicBezTo>
                <a:lnTo>
                  <a:pt x="3870" y="177750"/>
                </a:lnTo>
                <a:cubicBezTo>
                  <a:pt x="1339" y="180876"/>
                  <a:pt x="0" y="184745"/>
                  <a:pt x="0" y="188764"/>
                </a:cubicBezTo>
                <a:cubicBezTo>
                  <a:pt x="0" y="198487"/>
                  <a:pt x="7888" y="206375"/>
                  <a:pt x="17611" y="206375"/>
                </a:cubicBezTo>
                <a:lnTo>
                  <a:pt x="204589" y="206375"/>
                </a:lnTo>
                <a:cubicBezTo>
                  <a:pt x="214313" y="206375"/>
                  <a:pt x="222200" y="198487"/>
                  <a:pt x="222200" y="188764"/>
                </a:cubicBezTo>
                <a:cubicBezTo>
                  <a:pt x="222200" y="184745"/>
                  <a:pt x="220861" y="180876"/>
                  <a:pt x="218331" y="177750"/>
                </a:cubicBezTo>
                <a:lnTo>
                  <a:pt x="213469" y="171698"/>
                </a:lnTo>
                <a:cubicBezTo>
                  <a:pt x="198636" y="153045"/>
                  <a:pt x="190500" y="129877"/>
                  <a:pt x="190500" y="106015"/>
                </a:cubicBezTo>
                <a:lnTo>
                  <a:pt x="190500" y="95250"/>
                </a:lnTo>
                <a:cubicBezTo>
                  <a:pt x="190500" y="56852"/>
                  <a:pt x="163215" y="24805"/>
                  <a:pt x="127000" y="17462"/>
                </a:cubicBezTo>
                <a:lnTo>
                  <a:pt x="127000" y="15875"/>
                </a:lnTo>
                <a:cubicBezTo>
                  <a:pt x="127000" y="7094"/>
                  <a:pt x="119906" y="0"/>
                  <a:pt x="111125" y="0"/>
                </a:cubicBezTo>
                <a:close/>
                <a:moveTo>
                  <a:pt x="80367" y="230188"/>
                </a:moveTo>
                <a:cubicBezTo>
                  <a:pt x="83889" y="243880"/>
                  <a:pt x="96341" y="254000"/>
                  <a:pt x="111125" y="254000"/>
                </a:cubicBezTo>
                <a:cubicBezTo>
                  <a:pt x="125909" y="254000"/>
                  <a:pt x="138361" y="243880"/>
                  <a:pt x="141883" y="230188"/>
                </a:cubicBezTo>
                <a:lnTo>
                  <a:pt x="80367" y="230188"/>
                </a:lnTo>
                <a:close/>
              </a:path>
            </a:pathLst>
          </a:custGeom>
          <a:solidFill>
            <a:srgbClr val="38B2AC"/>
          </a:solidFill>
        </p:spPr>
      </p:sp>
      <p:sp>
        <p:nvSpPr>
          <p:cNvPr id="21" name="Text 19"/>
          <p:cNvSpPr/>
          <p:nvPr/>
        </p:nvSpPr>
        <p:spPr>
          <a:xfrm>
            <a:off x="1254760" y="4012409"/>
            <a:ext cx="2159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学生预警管理界面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063740" y="4037809"/>
            <a:ext cx="812800" cy="304800"/>
          </a:xfrm>
          <a:custGeom>
            <a:avLst/>
            <a:gdLst/>
            <a:ahLst/>
            <a:cxnLst/>
            <a:rect l="l" t="t" r="r" b="b"/>
            <a:pathLst>
              <a:path w="812800" h="304800">
                <a:moveTo>
                  <a:pt x="50801" y="0"/>
                </a:moveTo>
                <a:lnTo>
                  <a:pt x="761999" y="0"/>
                </a:lnTo>
                <a:cubicBezTo>
                  <a:pt x="790056" y="0"/>
                  <a:pt x="812800" y="22744"/>
                  <a:pt x="812800" y="50801"/>
                </a:cubicBezTo>
                <a:lnTo>
                  <a:pt x="812800" y="253999"/>
                </a:lnTo>
                <a:cubicBezTo>
                  <a:pt x="812800" y="282056"/>
                  <a:pt x="790056" y="304800"/>
                  <a:pt x="7619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38B2AC"/>
          </a:solidFill>
        </p:spPr>
      </p:sp>
      <p:sp>
        <p:nvSpPr>
          <p:cNvPr id="23" name="Text 21"/>
          <p:cNvSpPr/>
          <p:nvPr/>
        </p:nvSpPr>
        <p:spPr>
          <a:xfrm>
            <a:off x="7063740" y="4037809"/>
            <a:ext cx="889000" cy="304800"/>
          </a:xfrm>
          <a:prstGeom prst="rect">
            <a:avLst/>
          </a:prstGeom>
          <a:noFill/>
        </p:spPr>
        <p:txBody>
          <a:bodyPr wrap="square" lIns="101600" tIns="50800" rIns="101600" bIns="5080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1A202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核心功能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84860" y="4520409"/>
            <a:ext cx="7188200" cy="660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查看本院学生所有预警信息，包含预警标题、发送时间，支持点击查看详情，是辅导员进行学业干预的主要工作界面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84860" y="5333209"/>
            <a:ext cx="1701800" cy="304800"/>
          </a:xfrm>
          <a:custGeom>
            <a:avLst/>
            <a:gdLst/>
            <a:ahLst/>
            <a:cxnLst/>
            <a:rect l="l" t="t" r="r" b="b"/>
            <a:pathLst>
              <a:path w="1701800" h="304800">
                <a:moveTo>
                  <a:pt x="50801" y="0"/>
                </a:moveTo>
                <a:lnTo>
                  <a:pt x="1650999" y="0"/>
                </a:lnTo>
                <a:cubicBezTo>
                  <a:pt x="1679056" y="0"/>
                  <a:pt x="1701800" y="22744"/>
                  <a:pt x="1701800" y="50801"/>
                </a:cubicBezTo>
                <a:lnTo>
                  <a:pt x="1701800" y="253999"/>
                </a:lnTo>
                <a:cubicBezTo>
                  <a:pt x="1701800" y="282056"/>
                  <a:pt x="1679056" y="304800"/>
                  <a:pt x="16509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</p:spPr>
      </p:sp>
      <p:sp>
        <p:nvSpPr>
          <p:cNvPr id="26" name="Text 24"/>
          <p:cNvSpPr/>
          <p:nvPr/>
        </p:nvSpPr>
        <p:spPr>
          <a:xfrm>
            <a:off x="746760" y="5333209"/>
            <a:ext cx="1778000" cy="304800"/>
          </a:xfrm>
          <a:prstGeom prst="rect">
            <a:avLst/>
          </a:prstGeom>
          <a:noFill/>
        </p:spPr>
        <p:txBody>
          <a:bodyPr wrap="square" lIns="101600" tIns="50800" rIns="101600" bIns="5080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38B2A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预警查看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2583180" y="5333209"/>
            <a:ext cx="1701800" cy="304800"/>
          </a:xfrm>
          <a:custGeom>
            <a:avLst/>
            <a:gdLst/>
            <a:ahLst/>
            <a:cxnLst/>
            <a:rect l="l" t="t" r="r" b="b"/>
            <a:pathLst>
              <a:path w="1701800" h="304800">
                <a:moveTo>
                  <a:pt x="50801" y="0"/>
                </a:moveTo>
                <a:lnTo>
                  <a:pt x="1650999" y="0"/>
                </a:lnTo>
                <a:cubicBezTo>
                  <a:pt x="1679056" y="0"/>
                  <a:pt x="1701800" y="22744"/>
                  <a:pt x="1701800" y="50801"/>
                </a:cubicBezTo>
                <a:lnTo>
                  <a:pt x="1701800" y="253999"/>
                </a:lnTo>
                <a:cubicBezTo>
                  <a:pt x="1701800" y="282056"/>
                  <a:pt x="1679056" y="304800"/>
                  <a:pt x="16509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</p:spPr>
      </p:sp>
      <p:sp>
        <p:nvSpPr>
          <p:cNvPr id="28" name="Text 26"/>
          <p:cNvSpPr/>
          <p:nvPr/>
        </p:nvSpPr>
        <p:spPr>
          <a:xfrm>
            <a:off x="2545080" y="5333209"/>
            <a:ext cx="1778000" cy="304800"/>
          </a:xfrm>
          <a:prstGeom prst="rect">
            <a:avLst/>
          </a:prstGeom>
          <a:noFill/>
        </p:spPr>
        <p:txBody>
          <a:bodyPr wrap="square" lIns="101600" tIns="50800" rIns="101600" bIns="5080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38B2A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详情展示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381500" y="5333209"/>
            <a:ext cx="1701800" cy="304800"/>
          </a:xfrm>
          <a:custGeom>
            <a:avLst/>
            <a:gdLst/>
            <a:ahLst/>
            <a:cxnLst/>
            <a:rect l="l" t="t" r="r" b="b"/>
            <a:pathLst>
              <a:path w="1701800" h="304800">
                <a:moveTo>
                  <a:pt x="50801" y="0"/>
                </a:moveTo>
                <a:lnTo>
                  <a:pt x="1650999" y="0"/>
                </a:lnTo>
                <a:cubicBezTo>
                  <a:pt x="1679056" y="0"/>
                  <a:pt x="1701800" y="22744"/>
                  <a:pt x="1701800" y="50801"/>
                </a:cubicBezTo>
                <a:lnTo>
                  <a:pt x="1701800" y="253999"/>
                </a:lnTo>
                <a:cubicBezTo>
                  <a:pt x="1701800" y="282056"/>
                  <a:pt x="1679056" y="304800"/>
                  <a:pt x="16509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</p:spPr>
      </p:sp>
      <p:sp>
        <p:nvSpPr>
          <p:cNvPr id="30" name="Text 28"/>
          <p:cNvSpPr/>
          <p:nvPr/>
        </p:nvSpPr>
        <p:spPr>
          <a:xfrm>
            <a:off x="4343400" y="5333209"/>
            <a:ext cx="1778000" cy="304800"/>
          </a:xfrm>
          <a:prstGeom prst="rect">
            <a:avLst/>
          </a:prstGeom>
          <a:noFill/>
        </p:spPr>
        <p:txBody>
          <a:bodyPr wrap="square" lIns="101600" tIns="50800" rIns="101600" bIns="5080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38B2A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干预记录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179820" y="5333209"/>
            <a:ext cx="1701800" cy="304800"/>
          </a:xfrm>
          <a:custGeom>
            <a:avLst/>
            <a:gdLst/>
            <a:ahLst/>
            <a:cxnLst/>
            <a:rect l="l" t="t" r="r" b="b"/>
            <a:pathLst>
              <a:path w="1701800" h="304800">
                <a:moveTo>
                  <a:pt x="50801" y="0"/>
                </a:moveTo>
                <a:lnTo>
                  <a:pt x="1650999" y="0"/>
                </a:lnTo>
                <a:cubicBezTo>
                  <a:pt x="1679056" y="0"/>
                  <a:pt x="1701800" y="22744"/>
                  <a:pt x="1701800" y="50801"/>
                </a:cubicBezTo>
                <a:lnTo>
                  <a:pt x="1701800" y="253999"/>
                </a:lnTo>
                <a:cubicBezTo>
                  <a:pt x="1701800" y="282056"/>
                  <a:pt x="1679056" y="304800"/>
                  <a:pt x="16509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</p:spPr>
      </p:sp>
      <p:sp>
        <p:nvSpPr>
          <p:cNvPr id="32" name="Text 30"/>
          <p:cNvSpPr/>
          <p:nvPr/>
        </p:nvSpPr>
        <p:spPr>
          <a:xfrm>
            <a:off x="6141720" y="5333209"/>
            <a:ext cx="1778000" cy="304800"/>
          </a:xfrm>
          <a:prstGeom prst="rect">
            <a:avLst/>
          </a:prstGeom>
          <a:noFill/>
        </p:spPr>
        <p:txBody>
          <a:bodyPr wrap="square" lIns="101600" tIns="50800" rIns="101600" bIns="5080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38B2A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本院数据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60400" y="1676400"/>
            <a:ext cx="7503160" cy="2042160"/>
          </a:xfrm>
          <a:custGeom>
            <a:avLst/>
            <a:gdLst/>
            <a:ahLst/>
            <a:cxnLst/>
            <a:rect l="l" t="t" r="r" b="b"/>
            <a:pathLst>
              <a:path w="7503160" h="2042160">
                <a:moveTo>
                  <a:pt x="101597" y="0"/>
                </a:moveTo>
                <a:lnTo>
                  <a:pt x="7401563" y="0"/>
                </a:lnTo>
                <a:cubicBezTo>
                  <a:pt x="7457673" y="0"/>
                  <a:pt x="7503160" y="45487"/>
                  <a:pt x="7503160" y="101597"/>
                </a:cubicBezTo>
                <a:lnTo>
                  <a:pt x="7503160" y="1940563"/>
                </a:lnTo>
                <a:cubicBezTo>
                  <a:pt x="7503160" y="1996673"/>
                  <a:pt x="7457673" y="2042160"/>
                  <a:pt x="7401563" y="2042160"/>
                </a:cubicBezTo>
                <a:lnTo>
                  <a:pt x="101597" y="2042160"/>
                </a:lnTo>
                <a:cubicBezTo>
                  <a:pt x="45487" y="2042160"/>
                  <a:pt x="0" y="1996673"/>
                  <a:pt x="0" y="194056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10160">
            <a:solidFill>
              <a:srgbClr val="4A5568">
                <a:alpha val="30196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00430" y="1935484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5875" y="15875"/>
                </a:moveTo>
                <a:cubicBezTo>
                  <a:pt x="24656" y="15875"/>
                  <a:pt x="31750" y="22969"/>
                  <a:pt x="31750" y="31750"/>
                </a:cubicBezTo>
                <a:lnTo>
                  <a:pt x="31750" y="198438"/>
                </a:lnTo>
                <a:cubicBezTo>
                  <a:pt x="31750" y="202803"/>
                  <a:pt x="35322" y="206375"/>
                  <a:pt x="39688" y="206375"/>
                </a:cubicBezTo>
                <a:lnTo>
                  <a:pt x="238125" y="206375"/>
                </a:lnTo>
                <a:cubicBezTo>
                  <a:pt x="246906" y="206375"/>
                  <a:pt x="254000" y="213469"/>
                  <a:pt x="254000" y="222250"/>
                </a:cubicBezTo>
                <a:cubicBezTo>
                  <a:pt x="254000" y="231031"/>
                  <a:pt x="246906" y="238125"/>
                  <a:pt x="238125" y="238125"/>
                </a:cubicBezTo>
                <a:lnTo>
                  <a:pt x="39688" y="238125"/>
                </a:lnTo>
                <a:cubicBezTo>
                  <a:pt x="17760" y="238125"/>
                  <a:pt x="0" y="220365"/>
                  <a:pt x="0" y="198438"/>
                </a:cubicBezTo>
                <a:lnTo>
                  <a:pt x="0" y="31750"/>
                </a:lnTo>
                <a:cubicBezTo>
                  <a:pt x="0" y="22969"/>
                  <a:pt x="7094" y="15875"/>
                  <a:pt x="15875" y="15875"/>
                </a:cubicBezTo>
                <a:close/>
                <a:moveTo>
                  <a:pt x="63500" y="47625"/>
                </a:moveTo>
                <a:cubicBezTo>
                  <a:pt x="63500" y="38844"/>
                  <a:pt x="70594" y="31750"/>
                  <a:pt x="79375" y="31750"/>
                </a:cubicBezTo>
                <a:lnTo>
                  <a:pt x="174625" y="31750"/>
                </a:lnTo>
                <a:cubicBezTo>
                  <a:pt x="183406" y="31750"/>
                  <a:pt x="190500" y="38844"/>
                  <a:pt x="190500" y="47625"/>
                </a:cubicBezTo>
                <a:cubicBezTo>
                  <a:pt x="190500" y="56406"/>
                  <a:pt x="183406" y="63500"/>
                  <a:pt x="174625" y="63500"/>
                </a:cubicBezTo>
                <a:lnTo>
                  <a:pt x="79375" y="63500"/>
                </a:lnTo>
                <a:cubicBezTo>
                  <a:pt x="70594" y="63500"/>
                  <a:pt x="63500" y="56406"/>
                  <a:pt x="63500" y="47625"/>
                </a:cubicBezTo>
                <a:close/>
                <a:moveTo>
                  <a:pt x="79375" y="87313"/>
                </a:moveTo>
                <a:lnTo>
                  <a:pt x="142875" y="87313"/>
                </a:lnTo>
                <a:cubicBezTo>
                  <a:pt x="151656" y="87313"/>
                  <a:pt x="158750" y="94407"/>
                  <a:pt x="158750" y="103188"/>
                </a:cubicBezTo>
                <a:cubicBezTo>
                  <a:pt x="158750" y="111968"/>
                  <a:pt x="151656" y="119063"/>
                  <a:pt x="142875" y="119063"/>
                </a:cubicBezTo>
                <a:lnTo>
                  <a:pt x="79375" y="119063"/>
                </a:lnTo>
                <a:cubicBezTo>
                  <a:pt x="70594" y="119063"/>
                  <a:pt x="63500" y="111968"/>
                  <a:pt x="63500" y="103188"/>
                </a:cubicBezTo>
                <a:cubicBezTo>
                  <a:pt x="63500" y="94407"/>
                  <a:pt x="70594" y="87313"/>
                  <a:pt x="79375" y="87313"/>
                </a:cubicBezTo>
                <a:close/>
                <a:moveTo>
                  <a:pt x="79375" y="142875"/>
                </a:moveTo>
                <a:lnTo>
                  <a:pt x="206375" y="142875"/>
                </a:lnTo>
                <a:cubicBezTo>
                  <a:pt x="215156" y="142875"/>
                  <a:pt x="222250" y="149969"/>
                  <a:pt x="222250" y="158750"/>
                </a:cubicBezTo>
                <a:cubicBezTo>
                  <a:pt x="222250" y="167531"/>
                  <a:pt x="215156" y="174625"/>
                  <a:pt x="206375" y="174625"/>
                </a:cubicBezTo>
                <a:lnTo>
                  <a:pt x="79375" y="174625"/>
                </a:lnTo>
                <a:cubicBezTo>
                  <a:pt x="70594" y="174625"/>
                  <a:pt x="63500" y="167531"/>
                  <a:pt x="63500" y="158750"/>
                </a:cubicBezTo>
                <a:cubicBezTo>
                  <a:pt x="63500" y="149969"/>
                  <a:pt x="70594" y="142875"/>
                  <a:pt x="79375" y="142875"/>
                </a:cubicBezTo>
                <a:close/>
              </a:path>
            </a:pathLst>
          </a:custGeom>
          <a:solidFill>
            <a:srgbClr val="38B2AC"/>
          </a:solidFill>
        </p:spPr>
      </p:sp>
      <p:sp>
        <p:nvSpPr>
          <p:cNvPr id="35" name="Text 33"/>
          <p:cNvSpPr/>
          <p:nvPr/>
        </p:nvSpPr>
        <p:spPr>
          <a:xfrm>
            <a:off x="1338580" y="1884684"/>
            <a:ext cx="2159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学生成绩概览界面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68680" y="2392684"/>
            <a:ext cx="7188200" cy="660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汇总本院学生选课及成绩数据，支持搜索筛选，快速定位成绩异常学生，便于及时发现潜在风险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68680" y="3205484"/>
            <a:ext cx="1701800" cy="304800"/>
          </a:xfrm>
          <a:custGeom>
            <a:avLst/>
            <a:gdLst/>
            <a:ahLst/>
            <a:cxnLst/>
            <a:rect l="l" t="t" r="r" b="b"/>
            <a:pathLst>
              <a:path w="1701800" h="304800">
                <a:moveTo>
                  <a:pt x="50801" y="0"/>
                </a:moveTo>
                <a:lnTo>
                  <a:pt x="1650999" y="0"/>
                </a:lnTo>
                <a:cubicBezTo>
                  <a:pt x="1679056" y="0"/>
                  <a:pt x="1701800" y="22744"/>
                  <a:pt x="1701800" y="50801"/>
                </a:cubicBezTo>
                <a:lnTo>
                  <a:pt x="1701800" y="253999"/>
                </a:lnTo>
                <a:cubicBezTo>
                  <a:pt x="1701800" y="282056"/>
                  <a:pt x="1679056" y="304800"/>
                  <a:pt x="16509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</p:spPr>
      </p:sp>
      <p:sp>
        <p:nvSpPr>
          <p:cNvPr id="38" name="Text 36"/>
          <p:cNvSpPr/>
          <p:nvPr/>
        </p:nvSpPr>
        <p:spPr>
          <a:xfrm>
            <a:off x="830580" y="3205484"/>
            <a:ext cx="1778000" cy="304800"/>
          </a:xfrm>
          <a:prstGeom prst="rect">
            <a:avLst/>
          </a:prstGeom>
          <a:noFill/>
        </p:spPr>
        <p:txBody>
          <a:bodyPr wrap="square" lIns="101600" tIns="50800" rIns="101600" bIns="5080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38B2A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成绩汇总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2667000" y="3205484"/>
            <a:ext cx="1701800" cy="304800"/>
          </a:xfrm>
          <a:custGeom>
            <a:avLst/>
            <a:gdLst/>
            <a:ahLst/>
            <a:cxnLst/>
            <a:rect l="l" t="t" r="r" b="b"/>
            <a:pathLst>
              <a:path w="1701800" h="304800">
                <a:moveTo>
                  <a:pt x="50801" y="0"/>
                </a:moveTo>
                <a:lnTo>
                  <a:pt x="1650999" y="0"/>
                </a:lnTo>
                <a:cubicBezTo>
                  <a:pt x="1679056" y="0"/>
                  <a:pt x="1701800" y="22744"/>
                  <a:pt x="1701800" y="50801"/>
                </a:cubicBezTo>
                <a:lnTo>
                  <a:pt x="1701800" y="253999"/>
                </a:lnTo>
                <a:cubicBezTo>
                  <a:pt x="1701800" y="282056"/>
                  <a:pt x="1679056" y="304800"/>
                  <a:pt x="16509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</p:spPr>
      </p:sp>
      <p:sp>
        <p:nvSpPr>
          <p:cNvPr id="40" name="Text 38"/>
          <p:cNvSpPr/>
          <p:nvPr/>
        </p:nvSpPr>
        <p:spPr>
          <a:xfrm>
            <a:off x="2628900" y="3205484"/>
            <a:ext cx="1778000" cy="304800"/>
          </a:xfrm>
          <a:prstGeom prst="rect">
            <a:avLst/>
          </a:prstGeom>
          <a:noFill/>
        </p:spPr>
        <p:txBody>
          <a:bodyPr wrap="square" lIns="101600" tIns="50800" rIns="101600" bIns="5080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38B2A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搜索筛选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4465320" y="3205484"/>
            <a:ext cx="1701800" cy="304800"/>
          </a:xfrm>
          <a:custGeom>
            <a:avLst/>
            <a:gdLst/>
            <a:ahLst/>
            <a:cxnLst/>
            <a:rect l="l" t="t" r="r" b="b"/>
            <a:pathLst>
              <a:path w="1701800" h="304800">
                <a:moveTo>
                  <a:pt x="50801" y="0"/>
                </a:moveTo>
                <a:lnTo>
                  <a:pt x="1650999" y="0"/>
                </a:lnTo>
                <a:cubicBezTo>
                  <a:pt x="1679056" y="0"/>
                  <a:pt x="1701800" y="22744"/>
                  <a:pt x="1701800" y="50801"/>
                </a:cubicBezTo>
                <a:lnTo>
                  <a:pt x="1701800" y="253999"/>
                </a:lnTo>
                <a:cubicBezTo>
                  <a:pt x="1701800" y="282056"/>
                  <a:pt x="1679056" y="304800"/>
                  <a:pt x="16509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</p:spPr>
      </p:sp>
      <p:sp>
        <p:nvSpPr>
          <p:cNvPr id="42" name="Text 40"/>
          <p:cNvSpPr/>
          <p:nvPr/>
        </p:nvSpPr>
        <p:spPr>
          <a:xfrm>
            <a:off x="4427220" y="3205484"/>
            <a:ext cx="1778000" cy="304800"/>
          </a:xfrm>
          <a:prstGeom prst="rect">
            <a:avLst/>
          </a:prstGeom>
          <a:noFill/>
        </p:spPr>
        <p:txBody>
          <a:bodyPr wrap="square" lIns="101600" tIns="50800" rIns="101600" bIns="5080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38B2A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异常定位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263640" y="3205484"/>
            <a:ext cx="1701800" cy="304800"/>
          </a:xfrm>
          <a:custGeom>
            <a:avLst/>
            <a:gdLst/>
            <a:ahLst/>
            <a:cxnLst/>
            <a:rect l="l" t="t" r="r" b="b"/>
            <a:pathLst>
              <a:path w="1701800" h="304800">
                <a:moveTo>
                  <a:pt x="50801" y="0"/>
                </a:moveTo>
                <a:lnTo>
                  <a:pt x="1650999" y="0"/>
                </a:lnTo>
                <a:cubicBezTo>
                  <a:pt x="1679056" y="0"/>
                  <a:pt x="1701800" y="22744"/>
                  <a:pt x="1701800" y="50801"/>
                </a:cubicBezTo>
                <a:lnTo>
                  <a:pt x="1701800" y="253999"/>
                </a:lnTo>
                <a:cubicBezTo>
                  <a:pt x="1701800" y="282056"/>
                  <a:pt x="1679056" y="304800"/>
                  <a:pt x="16509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</p:spPr>
      </p:sp>
      <p:sp>
        <p:nvSpPr>
          <p:cNvPr id="44" name="Text 42"/>
          <p:cNvSpPr/>
          <p:nvPr/>
        </p:nvSpPr>
        <p:spPr>
          <a:xfrm>
            <a:off x="6225540" y="3205484"/>
            <a:ext cx="1778000" cy="304800"/>
          </a:xfrm>
          <a:prstGeom prst="rect">
            <a:avLst/>
          </a:prstGeom>
          <a:noFill/>
        </p:spPr>
        <p:txBody>
          <a:bodyPr wrap="square" lIns="101600" tIns="50800" rIns="101600" bIns="5080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38B2A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本院数据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576580" y="5973926"/>
            <a:ext cx="7503160" cy="2042160"/>
          </a:xfrm>
          <a:custGeom>
            <a:avLst/>
            <a:gdLst/>
            <a:ahLst/>
            <a:cxnLst/>
            <a:rect l="l" t="t" r="r" b="b"/>
            <a:pathLst>
              <a:path w="7503160" h="2042160">
                <a:moveTo>
                  <a:pt x="101597" y="0"/>
                </a:moveTo>
                <a:lnTo>
                  <a:pt x="7401563" y="0"/>
                </a:lnTo>
                <a:cubicBezTo>
                  <a:pt x="7457673" y="0"/>
                  <a:pt x="7503160" y="45487"/>
                  <a:pt x="7503160" y="101597"/>
                </a:cubicBezTo>
                <a:lnTo>
                  <a:pt x="7503160" y="1940563"/>
                </a:lnTo>
                <a:cubicBezTo>
                  <a:pt x="7503160" y="1996673"/>
                  <a:pt x="7457673" y="2042160"/>
                  <a:pt x="7401563" y="2042160"/>
                </a:cubicBezTo>
                <a:lnTo>
                  <a:pt x="101597" y="2042160"/>
                </a:lnTo>
                <a:cubicBezTo>
                  <a:pt x="45487" y="2042160"/>
                  <a:pt x="0" y="1996673"/>
                  <a:pt x="0" y="194056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10160">
            <a:solidFill>
              <a:srgbClr val="38B2AC">
                <a:alpha val="30196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16610" y="6233004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cubicBezTo>
                  <a:pt x="134293" y="0"/>
                  <a:pt x="140990" y="4018"/>
                  <a:pt x="144463" y="10418"/>
                </a:cubicBezTo>
                <a:lnTo>
                  <a:pt x="251619" y="208855"/>
                </a:lnTo>
                <a:cubicBezTo>
                  <a:pt x="254943" y="215007"/>
                  <a:pt x="254794" y="222448"/>
                  <a:pt x="251222" y="228451"/>
                </a:cubicBezTo>
                <a:cubicBezTo>
                  <a:pt x="247650" y="234454"/>
                  <a:pt x="241151" y="238125"/>
                  <a:pt x="234156" y="238125"/>
                </a:cubicBezTo>
                <a:lnTo>
                  <a:pt x="19844" y="238125"/>
                </a:lnTo>
                <a:cubicBezTo>
                  <a:pt x="12849" y="238125"/>
                  <a:pt x="6400" y="234454"/>
                  <a:pt x="2778" y="228451"/>
                </a:cubicBezTo>
                <a:cubicBezTo>
                  <a:pt x="-843" y="222448"/>
                  <a:pt x="-943" y="215007"/>
                  <a:pt x="2381" y="208855"/>
                </a:cubicBezTo>
                <a:lnTo>
                  <a:pt x="109538" y="10418"/>
                </a:lnTo>
                <a:cubicBezTo>
                  <a:pt x="113010" y="4018"/>
                  <a:pt x="119707" y="0"/>
                  <a:pt x="127000" y="0"/>
                </a:cubicBezTo>
                <a:close/>
                <a:moveTo>
                  <a:pt x="127000" y="83344"/>
                </a:moveTo>
                <a:cubicBezTo>
                  <a:pt x="120402" y="83344"/>
                  <a:pt x="115094" y="88652"/>
                  <a:pt x="115094" y="95250"/>
                </a:cubicBezTo>
                <a:lnTo>
                  <a:pt x="115094" y="150813"/>
                </a:lnTo>
                <a:cubicBezTo>
                  <a:pt x="115094" y="157411"/>
                  <a:pt x="120402" y="162719"/>
                  <a:pt x="127000" y="162719"/>
                </a:cubicBezTo>
                <a:cubicBezTo>
                  <a:pt x="133598" y="162719"/>
                  <a:pt x="138906" y="157411"/>
                  <a:pt x="138906" y="150813"/>
                </a:cubicBezTo>
                <a:lnTo>
                  <a:pt x="138906" y="95250"/>
                </a:lnTo>
                <a:cubicBezTo>
                  <a:pt x="138906" y="88652"/>
                  <a:pt x="133598" y="83344"/>
                  <a:pt x="127000" y="83344"/>
                </a:cubicBezTo>
                <a:close/>
                <a:moveTo>
                  <a:pt x="140246" y="190500"/>
                </a:moveTo>
                <a:cubicBezTo>
                  <a:pt x="140547" y="185583"/>
                  <a:pt x="138095" y="180906"/>
                  <a:pt x="133880" y="178356"/>
                </a:cubicBezTo>
                <a:cubicBezTo>
                  <a:pt x="129666" y="175807"/>
                  <a:pt x="124384" y="175807"/>
                  <a:pt x="120169" y="178356"/>
                </a:cubicBezTo>
                <a:cubicBezTo>
                  <a:pt x="115955" y="180906"/>
                  <a:pt x="113503" y="185583"/>
                  <a:pt x="113804" y="190500"/>
                </a:cubicBezTo>
                <a:cubicBezTo>
                  <a:pt x="113503" y="195417"/>
                  <a:pt x="115955" y="200094"/>
                  <a:pt x="120169" y="202644"/>
                </a:cubicBezTo>
                <a:cubicBezTo>
                  <a:pt x="124384" y="205193"/>
                  <a:pt x="129666" y="205193"/>
                  <a:pt x="133880" y="202644"/>
                </a:cubicBezTo>
                <a:cubicBezTo>
                  <a:pt x="138095" y="200094"/>
                  <a:pt x="140547" y="195417"/>
                  <a:pt x="140246" y="190500"/>
                </a:cubicBezTo>
                <a:close/>
              </a:path>
            </a:pathLst>
          </a:custGeom>
          <a:solidFill>
            <a:srgbClr val="38B2AC"/>
          </a:solidFill>
        </p:spPr>
      </p:sp>
      <p:sp>
        <p:nvSpPr>
          <p:cNvPr id="47" name="Text 45"/>
          <p:cNvSpPr/>
          <p:nvPr/>
        </p:nvSpPr>
        <p:spPr>
          <a:xfrm>
            <a:off x="1254760" y="6182204"/>
            <a:ext cx="1651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挂科统计界面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7063741" y="6207604"/>
            <a:ext cx="812800" cy="304800"/>
          </a:xfrm>
          <a:custGeom>
            <a:avLst/>
            <a:gdLst/>
            <a:ahLst/>
            <a:cxnLst/>
            <a:rect l="l" t="t" r="r" b="b"/>
            <a:pathLst>
              <a:path w="812800" h="304800">
                <a:moveTo>
                  <a:pt x="50801" y="0"/>
                </a:moveTo>
                <a:lnTo>
                  <a:pt x="761999" y="0"/>
                </a:lnTo>
                <a:cubicBezTo>
                  <a:pt x="790056" y="0"/>
                  <a:pt x="812800" y="22744"/>
                  <a:pt x="812800" y="50801"/>
                </a:cubicBezTo>
                <a:lnTo>
                  <a:pt x="812800" y="253999"/>
                </a:lnTo>
                <a:cubicBezTo>
                  <a:pt x="812800" y="282056"/>
                  <a:pt x="790056" y="304800"/>
                  <a:pt x="7619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38B2AC"/>
          </a:solidFill>
        </p:spPr>
      </p:sp>
      <p:sp>
        <p:nvSpPr>
          <p:cNvPr id="49" name="Text 47"/>
          <p:cNvSpPr/>
          <p:nvPr/>
        </p:nvSpPr>
        <p:spPr>
          <a:xfrm>
            <a:off x="7063741" y="6207604"/>
            <a:ext cx="889000" cy="304800"/>
          </a:xfrm>
          <a:prstGeom prst="rect">
            <a:avLst/>
          </a:prstGeom>
          <a:noFill/>
        </p:spPr>
        <p:txBody>
          <a:bodyPr wrap="square" lIns="101600" tIns="50800" rIns="101600" bIns="5080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1A202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核心功能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784860" y="6690204"/>
            <a:ext cx="7188200" cy="660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以卡片形式展示各科目挂科率，直观呈现学院挂科情况，聚焦高风险课程，为教学改进提供数据支撑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784860" y="7503004"/>
            <a:ext cx="1701800" cy="304800"/>
          </a:xfrm>
          <a:custGeom>
            <a:avLst/>
            <a:gdLst/>
            <a:ahLst/>
            <a:cxnLst/>
            <a:rect l="l" t="t" r="r" b="b"/>
            <a:pathLst>
              <a:path w="1701800" h="304800">
                <a:moveTo>
                  <a:pt x="50801" y="0"/>
                </a:moveTo>
                <a:lnTo>
                  <a:pt x="1650999" y="0"/>
                </a:lnTo>
                <a:cubicBezTo>
                  <a:pt x="1679056" y="0"/>
                  <a:pt x="1701800" y="22744"/>
                  <a:pt x="1701800" y="50801"/>
                </a:cubicBezTo>
                <a:lnTo>
                  <a:pt x="1701800" y="253999"/>
                </a:lnTo>
                <a:cubicBezTo>
                  <a:pt x="1701800" y="282056"/>
                  <a:pt x="1679056" y="304800"/>
                  <a:pt x="16509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</p:spPr>
      </p:sp>
      <p:sp>
        <p:nvSpPr>
          <p:cNvPr id="52" name="Text 50"/>
          <p:cNvSpPr/>
          <p:nvPr/>
        </p:nvSpPr>
        <p:spPr>
          <a:xfrm>
            <a:off x="746760" y="7503004"/>
            <a:ext cx="1778000" cy="304800"/>
          </a:xfrm>
          <a:prstGeom prst="rect">
            <a:avLst/>
          </a:prstGeom>
          <a:noFill/>
        </p:spPr>
        <p:txBody>
          <a:bodyPr wrap="square" lIns="101600" tIns="50800" rIns="101600" bIns="5080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38B2A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挂科率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2583180" y="7503004"/>
            <a:ext cx="1701800" cy="304800"/>
          </a:xfrm>
          <a:custGeom>
            <a:avLst/>
            <a:gdLst/>
            <a:ahLst/>
            <a:cxnLst/>
            <a:rect l="l" t="t" r="r" b="b"/>
            <a:pathLst>
              <a:path w="1701800" h="304800">
                <a:moveTo>
                  <a:pt x="50801" y="0"/>
                </a:moveTo>
                <a:lnTo>
                  <a:pt x="1650999" y="0"/>
                </a:lnTo>
                <a:cubicBezTo>
                  <a:pt x="1679056" y="0"/>
                  <a:pt x="1701800" y="22744"/>
                  <a:pt x="1701800" y="50801"/>
                </a:cubicBezTo>
                <a:lnTo>
                  <a:pt x="1701800" y="253999"/>
                </a:lnTo>
                <a:cubicBezTo>
                  <a:pt x="1701800" y="282056"/>
                  <a:pt x="1679056" y="304800"/>
                  <a:pt x="16509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</p:spPr>
      </p:sp>
      <p:sp>
        <p:nvSpPr>
          <p:cNvPr id="54" name="Text 52"/>
          <p:cNvSpPr/>
          <p:nvPr/>
        </p:nvSpPr>
        <p:spPr>
          <a:xfrm>
            <a:off x="2545080" y="7503004"/>
            <a:ext cx="1778000" cy="304800"/>
          </a:xfrm>
          <a:prstGeom prst="rect">
            <a:avLst/>
          </a:prstGeom>
          <a:noFill/>
        </p:spPr>
        <p:txBody>
          <a:bodyPr wrap="square" lIns="101600" tIns="50800" rIns="101600" bIns="5080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38B2A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卡片展示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4381500" y="7503004"/>
            <a:ext cx="1701800" cy="304800"/>
          </a:xfrm>
          <a:custGeom>
            <a:avLst/>
            <a:gdLst/>
            <a:ahLst/>
            <a:cxnLst/>
            <a:rect l="l" t="t" r="r" b="b"/>
            <a:pathLst>
              <a:path w="1701800" h="304800">
                <a:moveTo>
                  <a:pt x="50801" y="0"/>
                </a:moveTo>
                <a:lnTo>
                  <a:pt x="1650999" y="0"/>
                </a:lnTo>
                <a:cubicBezTo>
                  <a:pt x="1679056" y="0"/>
                  <a:pt x="1701800" y="22744"/>
                  <a:pt x="1701800" y="50801"/>
                </a:cubicBezTo>
                <a:lnTo>
                  <a:pt x="1701800" y="253999"/>
                </a:lnTo>
                <a:cubicBezTo>
                  <a:pt x="1701800" y="282056"/>
                  <a:pt x="1679056" y="304800"/>
                  <a:pt x="16509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</p:spPr>
      </p:sp>
      <p:sp>
        <p:nvSpPr>
          <p:cNvPr id="56" name="Text 54"/>
          <p:cNvSpPr/>
          <p:nvPr/>
        </p:nvSpPr>
        <p:spPr>
          <a:xfrm>
            <a:off x="4343400" y="7503004"/>
            <a:ext cx="1778000" cy="304800"/>
          </a:xfrm>
          <a:prstGeom prst="rect">
            <a:avLst/>
          </a:prstGeom>
          <a:noFill/>
        </p:spPr>
        <p:txBody>
          <a:bodyPr wrap="square" lIns="101600" tIns="50800" rIns="101600" bIns="5080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38B2A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风险课程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179820" y="7503004"/>
            <a:ext cx="1701800" cy="304800"/>
          </a:xfrm>
          <a:custGeom>
            <a:avLst/>
            <a:gdLst/>
            <a:ahLst/>
            <a:cxnLst/>
            <a:rect l="l" t="t" r="r" b="b"/>
            <a:pathLst>
              <a:path w="1701800" h="304800">
                <a:moveTo>
                  <a:pt x="50801" y="0"/>
                </a:moveTo>
                <a:lnTo>
                  <a:pt x="1650999" y="0"/>
                </a:lnTo>
                <a:cubicBezTo>
                  <a:pt x="1679056" y="0"/>
                  <a:pt x="1701800" y="22744"/>
                  <a:pt x="1701800" y="50801"/>
                </a:cubicBezTo>
                <a:lnTo>
                  <a:pt x="1701800" y="253999"/>
                </a:lnTo>
                <a:cubicBezTo>
                  <a:pt x="1701800" y="282056"/>
                  <a:pt x="1679056" y="304800"/>
                  <a:pt x="16509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</p:spPr>
      </p:sp>
      <p:sp>
        <p:nvSpPr>
          <p:cNvPr id="58" name="Text 56"/>
          <p:cNvSpPr/>
          <p:nvPr/>
        </p:nvSpPr>
        <p:spPr>
          <a:xfrm>
            <a:off x="6141720" y="7503004"/>
            <a:ext cx="1778000" cy="304800"/>
          </a:xfrm>
          <a:prstGeom prst="rect">
            <a:avLst/>
          </a:prstGeom>
          <a:noFill/>
        </p:spPr>
        <p:txBody>
          <a:bodyPr wrap="square" lIns="101600" tIns="50800" rIns="101600" bIns="5080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38B2A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教学改进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513080" y="8067045"/>
            <a:ext cx="4963160" cy="975360"/>
          </a:xfrm>
          <a:custGeom>
            <a:avLst/>
            <a:gdLst/>
            <a:ahLst/>
            <a:cxnLst/>
            <a:rect l="l" t="t" r="r" b="b"/>
            <a:pathLst>
              <a:path w="4963160" h="975360">
                <a:moveTo>
                  <a:pt x="101603" y="0"/>
                </a:moveTo>
                <a:lnTo>
                  <a:pt x="4861557" y="0"/>
                </a:lnTo>
                <a:cubicBezTo>
                  <a:pt x="4917671" y="0"/>
                  <a:pt x="4963160" y="45489"/>
                  <a:pt x="4963160" y="101603"/>
                </a:cubicBezTo>
                <a:lnTo>
                  <a:pt x="4963160" y="873757"/>
                </a:lnTo>
                <a:cubicBezTo>
                  <a:pt x="4963160" y="929871"/>
                  <a:pt x="4917671" y="975360"/>
                  <a:pt x="4861557" y="975360"/>
                </a:cubicBezTo>
                <a:lnTo>
                  <a:pt x="101603" y="975360"/>
                </a:lnTo>
                <a:cubicBezTo>
                  <a:pt x="45489" y="975360"/>
                  <a:pt x="0" y="929871"/>
                  <a:pt x="0" y="87375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38B2AC">
              <a:alpha val="10196"/>
            </a:srgbClr>
          </a:solidFill>
          <a:ln w="10160">
            <a:solidFill>
              <a:srgbClr val="38B2AC">
                <a:alpha val="30196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83260" y="8275322"/>
            <a:ext cx="228600" cy="203200"/>
          </a:xfrm>
          <a:custGeom>
            <a:avLst/>
            <a:gdLst/>
            <a:ahLst/>
            <a:cxnLst/>
            <a:rect l="l" t="t" r="r" b="b"/>
            <a:pathLst>
              <a:path w="228600" h="203200">
                <a:moveTo>
                  <a:pt x="114300" y="12700"/>
                </a:moveTo>
                <a:cubicBezTo>
                  <a:pt x="82233" y="12700"/>
                  <a:pt x="56555" y="27305"/>
                  <a:pt x="37862" y="44688"/>
                </a:cubicBezTo>
                <a:cubicBezTo>
                  <a:pt x="19288" y="61952"/>
                  <a:pt x="6866" y="82550"/>
                  <a:pt x="953" y="96718"/>
                </a:cubicBezTo>
                <a:cubicBezTo>
                  <a:pt x="-357" y="99854"/>
                  <a:pt x="-357" y="103346"/>
                  <a:pt x="953" y="106482"/>
                </a:cubicBezTo>
                <a:cubicBezTo>
                  <a:pt x="6866" y="120650"/>
                  <a:pt x="19288" y="141288"/>
                  <a:pt x="37862" y="158512"/>
                </a:cubicBezTo>
                <a:cubicBezTo>
                  <a:pt x="56555" y="175855"/>
                  <a:pt x="82233" y="190500"/>
                  <a:pt x="114300" y="190500"/>
                </a:cubicBezTo>
                <a:cubicBezTo>
                  <a:pt x="146368" y="190500"/>
                  <a:pt x="172045" y="175895"/>
                  <a:pt x="190738" y="158512"/>
                </a:cubicBezTo>
                <a:cubicBezTo>
                  <a:pt x="209312" y="141248"/>
                  <a:pt x="221734" y="120650"/>
                  <a:pt x="227648" y="106482"/>
                </a:cubicBezTo>
                <a:cubicBezTo>
                  <a:pt x="228957" y="103346"/>
                  <a:pt x="228957" y="99854"/>
                  <a:pt x="227648" y="96718"/>
                </a:cubicBezTo>
                <a:cubicBezTo>
                  <a:pt x="221734" y="82550"/>
                  <a:pt x="209312" y="61912"/>
                  <a:pt x="190738" y="44688"/>
                </a:cubicBezTo>
                <a:cubicBezTo>
                  <a:pt x="172045" y="27345"/>
                  <a:pt x="146368" y="12700"/>
                  <a:pt x="114300" y="12700"/>
                </a:cubicBezTo>
                <a:close/>
                <a:moveTo>
                  <a:pt x="57150" y="101600"/>
                </a:moveTo>
                <a:cubicBezTo>
                  <a:pt x="57150" y="70058"/>
                  <a:pt x="82758" y="44450"/>
                  <a:pt x="114300" y="44450"/>
                </a:cubicBezTo>
                <a:cubicBezTo>
                  <a:pt x="145842" y="44450"/>
                  <a:pt x="171450" y="70058"/>
                  <a:pt x="171450" y="101600"/>
                </a:cubicBezTo>
                <a:cubicBezTo>
                  <a:pt x="171450" y="133142"/>
                  <a:pt x="145842" y="158750"/>
                  <a:pt x="114300" y="158750"/>
                </a:cubicBezTo>
                <a:cubicBezTo>
                  <a:pt x="82758" y="158750"/>
                  <a:pt x="57150" y="133142"/>
                  <a:pt x="57150" y="101600"/>
                </a:cubicBezTo>
                <a:close/>
                <a:moveTo>
                  <a:pt x="114300" y="76200"/>
                </a:moveTo>
                <a:cubicBezTo>
                  <a:pt x="114300" y="90210"/>
                  <a:pt x="102910" y="101600"/>
                  <a:pt x="88900" y="101600"/>
                </a:cubicBezTo>
                <a:cubicBezTo>
                  <a:pt x="84336" y="101600"/>
                  <a:pt x="80050" y="100409"/>
                  <a:pt x="76319" y="98266"/>
                </a:cubicBezTo>
                <a:cubicBezTo>
                  <a:pt x="75922" y="102592"/>
                  <a:pt x="76279" y="107037"/>
                  <a:pt x="77470" y="111443"/>
                </a:cubicBezTo>
                <a:cubicBezTo>
                  <a:pt x="82907" y="131763"/>
                  <a:pt x="103823" y="143828"/>
                  <a:pt x="124143" y="138390"/>
                </a:cubicBezTo>
                <a:cubicBezTo>
                  <a:pt x="144463" y="132953"/>
                  <a:pt x="156528" y="112038"/>
                  <a:pt x="151090" y="91718"/>
                </a:cubicBezTo>
                <a:cubicBezTo>
                  <a:pt x="146248" y="73581"/>
                  <a:pt x="129064" y="62032"/>
                  <a:pt x="110966" y="63619"/>
                </a:cubicBezTo>
                <a:cubicBezTo>
                  <a:pt x="113070" y="67310"/>
                  <a:pt x="114300" y="71596"/>
                  <a:pt x="114300" y="76200"/>
                </a:cubicBezTo>
                <a:close/>
              </a:path>
            </a:pathLst>
          </a:custGeom>
          <a:solidFill>
            <a:srgbClr val="38B2AC"/>
          </a:solidFill>
        </p:spPr>
      </p:sp>
      <p:sp>
        <p:nvSpPr>
          <p:cNvPr id="61" name="Text 59"/>
          <p:cNvSpPr/>
          <p:nvPr/>
        </p:nvSpPr>
        <p:spPr>
          <a:xfrm>
            <a:off x="1026160" y="8224522"/>
            <a:ext cx="9144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风险监控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670560" y="8630922"/>
            <a:ext cx="47371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实时监控本院学生学业风险，及时发现潜在问题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5643880" y="8067045"/>
            <a:ext cx="4963160" cy="975360"/>
          </a:xfrm>
          <a:custGeom>
            <a:avLst/>
            <a:gdLst/>
            <a:ahLst/>
            <a:cxnLst/>
            <a:rect l="l" t="t" r="r" b="b"/>
            <a:pathLst>
              <a:path w="4963160" h="975360">
                <a:moveTo>
                  <a:pt x="101603" y="0"/>
                </a:moveTo>
                <a:lnTo>
                  <a:pt x="4861557" y="0"/>
                </a:lnTo>
                <a:cubicBezTo>
                  <a:pt x="4917671" y="0"/>
                  <a:pt x="4963160" y="45489"/>
                  <a:pt x="4963160" y="101603"/>
                </a:cubicBezTo>
                <a:lnTo>
                  <a:pt x="4963160" y="873757"/>
                </a:lnTo>
                <a:cubicBezTo>
                  <a:pt x="4963160" y="929871"/>
                  <a:pt x="4917671" y="975360"/>
                  <a:pt x="4861557" y="975360"/>
                </a:cubicBezTo>
                <a:lnTo>
                  <a:pt x="101603" y="975360"/>
                </a:lnTo>
                <a:cubicBezTo>
                  <a:pt x="45489" y="975360"/>
                  <a:pt x="0" y="929871"/>
                  <a:pt x="0" y="87375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38B2AC">
              <a:alpha val="10196"/>
            </a:srgbClr>
          </a:solidFill>
          <a:ln w="10160">
            <a:solidFill>
              <a:srgbClr val="38B2AC">
                <a:alpha val="30196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814060" y="8275322"/>
            <a:ext cx="228600" cy="203200"/>
          </a:xfrm>
          <a:custGeom>
            <a:avLst/>
            <a:gdLst/>
            <a:ahLst/>
            <a:cxnLst/>
            <a:rect l="l" t="t" r="r" b="b"/>
            <a:pathLst>
              <a:path w="228600" h="203200">
                <a:moveTo>
                  <a:pt x="106720" y="21114"/>
                </a:moveTo>
                <a:lnTo>
                  <a:pt x="60444" y="72549"/>
                </a:lnTo>
                <a:cubicBezTo>
                  <a:pt x="58618" y="74573"/>
                  <a:pt x="58698" y="77708"/>
                  <a:pt x="60643" y="79653"/>
                </a:cubicBezTo>
                <a:cubicBezTo>
                  <a:pt x="72747" y="91758"/>
                  <a:pt x="92393" y="91758"/>
                  <a:pt x="104497" y="79653"/>
                </a:cubicBezTo>
                <a:lnTo>
                  <a:pt x="117118" y="67032"/>
                </a:lnTo>
                <a:cubicBezTo>
                  <a:pt x="118785" y="65365"/>
                  <a:pt x="120888" y="64453"/>
                  <a:pt x="123031" y="64294"/>
                </a:cubicBezTo>
                <a:cubicBezTo>
                  <a:pt x="125730" y="64056"/>
                  <a:pt x="128508" y="64968"/>
                  <a:pt x="130572" y="67032"/>
                </a:cubicBezTo>
                <a:lnTo>
                  <a:pt x="200660" y="136525"/>
                </a:lnTo>
                <a:lnTo>
                  <a:pt x="228600" y="114300"/>
                </a:lnTo>
                <a:lnTo>
                  <a:pt x="228600" y="0"/>
                </a:lnTo>
                <a:lnTo>
                  <a:pt x="184150" y="25400"/>
                </a:lnTo>
                <a:lnTo>
                  <a:pt x="174704" y="19090"/>
                </a:lnTo>
                <a:cubicBezTo>
                  <a:pt x="168434" y="14923"/>
                  <a:pt x="161092" y="12700"/>
                  <a:pt x="153551" y="12700"/>
                </a:cubicBezTo>
                <a:lnTo>
                  <a:pt x="125611" y="12700"/>
                </a:lnTo>
                <a:cubicBezTo>
                  <a:pt x="125174" y="12700"/>
                  <a:pt x="124698" y="12700"/>
                  <a:pt x="124262" y="12740"/>
                </a:cubicBezTo>
                <a:cubicBezTo>
                  <a:pt x="117554" y="13097"/>
                  <a:pt x="111244" y="16113"/>
                  <a:pt x="106720" y="21114"/>
                </a:cubicBezTo>
                <a:close/>
                <a:moveTo>
                  <a:pt x="46276" y="59809"/>
                </a:moveTo>
                <a:lnTo>
                  <a:pt x="88662" y="12700"/>
                </a:lnTo>
                <a:lnTo>
                  <a:pt x="72946" y="12700"/>
                </a:lnTo>
                <a:cubicBezTo>
                  <a:pt x="62825" y="12700"/>
                  <a:pt x="53142" y="16708"/>
                  <a:pt x="45998" y="23852"/>
                </a:cubicBezTo>
                <a:lnTo>
                  <a:pt x="0" y="76200"/>
                </a:lnTo>
                <a:lnTo>
                  <a:pt x="0" y="215900"/>
                </a:lnTo>
                <a:lnTo>
                  <a:pt x="57150" y="161925"/>
                </a:lnTo>
                <a:lnTo>
                  <a:pt x="62071" y="166013"/>
                </a:lnTo>
                <a:cubicBezTo>
                  <a:pt x="71199" y="173633"/>
                  <a:pt x="82709" y="177800"/>
                  <a:pt x="94575" y="177800"/>
                </a:cubicBezTo>
                <a:lnTo>
                  <a:pt x="100806" y="177800"/>
                </a:lnTo>
                <a:lnTo>
                  <a:pt x="98028" y="175022"/>
                </a:lnTo>
                <a:cubicBezTo>
                  <a:pt x="94298" y="171291"/>
                  <a:pt x="94298" y="165259"/>
                  <a:pt x="98028" y="161568"/>
                </a:cubicBezTo>
                <a:cubicBezTo>
                  <a:pt x="101759" y="157877"/>
                  <a:pt x="107791" y="157837"/>
                  <a:pt x="111482" y="161568"/>
                </a:cubicBezTo>
                <a:lnTo>
                  <a:pt x="127754" y="177840"/>
                </a:lnTo>
                <a:lnTo>
                  <a:pt x="131326" y="177840"/>
                </a:lnTo>
                <a:cubicBezTo>
                  <a:pt x="138906" y="177840"/>
                  <a:pt x="146328" y="176133"/>
                  <a:pt x="153075" y="172958"/>
                </a:cubicBezTo>
                <a:lnTo>
                  <a:pt x="142478" y="162322"/>
                </a:lnTo>
                <a:cubicBezTo>
                  <a:pt x="138748" y="158591"/>
                  <a:pt x="138748" y="152559"/>
                  <a:pt x="142478" y="148868"/>
                </a:cubicBezTo>
                <a:cubicBezTo>
                  <a:pt x="146209" y="145177"/>
                  <a:pt x="152241" y="145137"/>
                  <a:pt x="155932" y="148868"/>
                </a:cubicBezTo>
                <a:lnTo>
                  <a:pt x="168632" y="161568"/>
                </a:lnTo>
                <a:lnTo>
                  <a:pt x="175577" y="154623"/>
                </a:lnTo>
                <a:cubicBezTo>
                  <a:pt x="179110" y="151090"/>
                  <a:pt x="180142" y="145971"/>
                  <a:pt x="178594" y="141486"/>
                </a:cubicBezTo>
                <a:lnTo>
                  <a:pt x="123865" y="87193"/>
                </a:lnTo>
                <a:lnTo>
                  <a:pt x="117951" y="93107"/>
                </a:lnTo>
                <a:cubicBezTo>
                  <a:pt x="98385" y="112673"/>
                  <a:pt x="66715" y="112673"/>
                  <a:pt x="47149" y="93107"/>
                </a:cubicBezTo>
                <a:cubicBezTo>
                  <a:pt x="38021" y="83979"/>
                  <a:pt x="37663" y="69334"/>
                  <a:pt x="46276" y="59769"/>
                </a:cubicBezTo>
                <a:close/>
              </a:path>
            </a:pathLst>
          </a:custGeom>
          <a:solidFill>
            <a:srgbClr val="38B2AC"/>
          </a:solidFill>
        </p:spPr>
      </p:sp>
      <p:sp>
        <p:nvSpPr>
          <p:cNvPr id="65" name="Text 63"/>
          <p:cNvSpPr/>
          <p:nvPr/>
        </p:nvSpPr>
        <p:spPr>
          <a:xfrm>
            <a:off x="6156960" y="8224522"/>
            <a:ext cx="9144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干预跟踪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5801360" y="8630922"/>
            <a:ext cx="47371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记录每次干预过程，跟踪学生整改情况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10774680" y="8067045"/>
            <a:ext cx="4963160" cy="975360"/>
          </a:xfrm>
          <a:custGeom>
            <a:avLst/>
            <a:gdLst/>
            <a:ahLst/>
            <a:cxnLst/>
            <a:rect l="l" t="t" r="r" b="b"/>
            <a:pathLst>
              <a:path w="4963160" h="975360">
                <a:moveTo>
                  <a:pt x="101603" y="0"/>
                </a:moveTo>
                <a:lnTo>
                  <a:pt x="4861557" y="0"/>
                </a:lnTo>
                <a:cubicBezTo>
                  <a:pt x="4917671" y="0"/>
                  <a:pt x="4963160" y="45489"/>
                  <a:pt x="4963160" y="101603"/>
                </a:cubicBezTo>
                <a:lnTo>
                  <a:pt x="4963160" y="873757"/>
                </a:lnTo>
                <a:cubicBezTo>
                  <a:pt x="4963160" y="929871"/>
                  <a:pt x="4917671" y="975360"/>
                  <a:pt x="4861557" y="975360"/>
                </a:cubicBezTo>
                <a:lnTo>
                  <a:pt x="101603" y="975360"/>
                </a:lnTo>
                <a:cubicBezTo>
                  <a:pt x="45489" y="975360"/>
                  <a:pt x="0" y="929871"/>
                  <a:pt x="0" y="87375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38B2AC">
              <a:alpha val="10196"/>
            </a:srgbClr>
          </a:solidFill>
          <a:ln w="10160">
            <a:solidFill>
              <a:srgbClr val="38B2AC">
                <a:alpha val="30196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0957560" y="8275322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25400" y="25400"/>
                </a:moveTo>
                <a:cubicBezTo>
                  <a:pt x="25400" y="18375"/>
                  <a:pt x="19725" y="12700"/>
                  <a:pt x="12700" y="12700"/>
                </a:cubicBezTo>
                <a:cubicBezTo>
                  <a:pt x="5675" y="12700"/>
                  <a:pt x="0" y="18375"/>
                  <a:pt x="0" y="25400"/>
                </a:cubicBezTo>
                <a:lnTo>
                  <a:pt x="0" y="158750"/>
                </a:lnTo>
                <a:cubicBezTo>
                  <a:pt x="0" y="176292"/>
                  <a:pt x="14208" y="190500"/>
                  <a:pt x="31750" y="190500"/>
                </a:cubicBezTo>
                <a:lnTo>
                  <a:pt x="190500" y="190500"/>
                </a:lnTo>
                <a:cubicBezTo>
                  <a:pt x="197525" y="190500"/>
                  <a:pt x="203200" y="184825"/>
                  <a:pt x="203200" y="177800"/>
                </a:cubicBezTo>
                <a:cubicBezTo>
                  <a:pt x="203200" y="170775"/>
                  <a:pt x="197525" y="165100"/>
                  <a:pt x="190500" y="165100"/>
                </a:cubicBezTo>
                <a:lnTo>
                  <a:pt x="31750" y="165100"/>
                </a:lnTo>
                <a:cubicBezTo>
                  <a:pt x="28258" y="165100"/>
                  <a:pt x="25400" y="162243"/>
                  <a:pt x="25400" y="158750"/>
                </a:cubicBezTo>
                <a:lnTo>
                  <a:pt x="25400" y="25400"/>
                </a:lnTo>
                <a:close/>
                <a:moveTo>
                  <a:pt x="186769" y="59769"/>
                </a:moveTo>
                <a:cubicBezTo>
                  <a:pt x="191730" y="54808"/>
                  <a:pt x="191730" y="46752"/>
                  <a:pt x="186769" y="41791"/>
                </a:cubicBezTo>
                <a:cubicBezTo>
                  <a:pt x="181808" y="36830"/>
                  <a:pt x="173752" y="36830"/>
                  <a:pt x="168791" y="41791"/>
                </a:cubicBezTo>
                <a:lnTo>
                  <a:pt x="127000" y="83622"/>
                </a:lnTo>
                <a:lnTo>
                  <a:pt x="104219" y="60881"/>
                </a:lnTo>
                <a:cubicBezTo>
                  <a:pt x="99258" y="55920"/>
                  <a:pt x="91202" y="55920"/>
                  <a:pt x="86241" y="60881"/>
                </a:cubicBezTo>
                <a:lnTo>
                  <a:pt x="48141" y="98981"/>
                </a:lnTo>
                <a:cubicBezTo>
                  <a:pt x="43180" y="103942"/>
                  <a:pt x="43180" y="111998"/>
                  <a:pt x="48141" y="116959"/>
                </a:cubicBezTo>
                <a:cubicBezTo>
                  <a:pt x="53102" y="121920"/>
                  <a:pt x="61158" y="121920"/>
                  <a:pt x="66119" y="116959"/>
                </a:cubicBezTo>
                <a:lnTo>
                  <a:pt x="95250" y="87828"/>
                </a:lnTo>
                <a:lnTo>
                  <a:pt x="118031" y="110609"/>
                </a:lnTo>
                <a:cubicBezTo>
                  <a:pt x="122992" y="115570"/>
                  <a:pt x="131048" y="115570"/>
                  <a:pt x="136009" y="110609"/>
                </a:cubicBezTo>
                <a:lnTo>
                  <a:pt x="186809" y="59809"/>
                </a:lnTo>
                <a:close/>
              </a:path>
            </a:pathLst>
          </a:custGeom>
          <a:solidFill>
            <a:srgbClr val="38B2AC"/>
          </a:solidFill>
        </p:spPr>
      </p:sp>
      <p:sp>
        <p:nvSpPr>
          <p:cNvPr id="69" name="Text 67"/>
          <p:cNvSpPr/>
          <p:nvPr/>
        </p:nvSpPr>
        <p:spPr>
          <a:xfrm>
            <a:off x="11287760" y="8224522"/>
            <a:ext cx="9144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数据支撑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10932160" y="8630922"/>
            <a:ext cx="47371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提供挂科统计与分析，为教学管理提供依据</a:t>
            </a:r>
            <a:endParaRPr lang="en-US" sz="1600" dirty="0"/>
          </a:p>
        </p:txBody>
      </p:sp>
      <p:pic>
        <p:nvPicPr>
          <p:cNvPr id="71" name="图片 7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2070" y="917575"/>
            <a:ext cx="5335270" cy="2287905"/>
          </a:xfrm>
          <a:prstGeom prst="rect">
            <a:avLst/>
          </a:prstGeom>
        </p:spPr>
      </p:pic>
      <p:pic>
        <p:nvPicPr>
          <p:cNvPr id="72" name="图片 7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3010" y="3331210"/>
            <a:ext cx="5803900" cy="2231390"/>
          </a:xfrm>
          <a:prstGeom prst="rect">
            <a:avLst/>
          </a:prstGeom>
        </p:spPr>
      </p:pic>
      <p:pic>
        <p:nvPicPr>
          <p:cNvPr id="73" name="图片 7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3010" y="5638165"/>
            <a:ext cx="6102350" cy="223075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000" y="508000"/>
            <a:ext cx="2336800" cy="406400"/>
          </a:xfrm>
          <a:custGeom>
            <a:avLst/>
            <a:gdLst/>
            <a:ahLst/>
            <a:cxnLst/>
            <a:rect l="l" t="t" r="r" b="b"/>
            <a:pathLst>
              <a:path w="2336800" h="406400">
                <a:moveTo>
                  <a:pt x="50800" y="0"/>
                </a:moveTo>
                <a:lnTo>
                  <a:pt x="2286000" y="0"/>
                </a:lnTo>
                <a:cubicBezTo>
                  <a:pt x="2314037" y="0"/>
                  <a:pt x="2336800" y="22763"/>
                  <a:pt x="2336800" y="50800"/>
                </a:cubicBezTo>
                <a:lnTo>
                  <a:pt x="2336800" y="355600"/>
                </a:lnTo>
                <a:cubicBezTo>
                  <a:pt x="2336800" y="383637"/>
                  <a:pt x="2314037" y="406400"/>
                  <a:pt x="2286000" y="406400"/>
                </a:cubicBezTo>
                <a:lnTo>
                  <a:pt x="50800" y="406400"/>
                </a:lnTo>
                <a:cubicBezTo>
                  <a:pt x="22763" y="406400"/>
                  <a:pt x="0" y="383637"/>
                  <a:pt x="0" y="355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660400" y="599442"/>
            <a:ext cx="2126615" cy="233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kern="0" spc="35" dirty="0">
                <a:solidFill>
                  <a:srgbClr val="38B2A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STUDENT DASHBOARD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8000" y="1016000"/>
            <a:ext cx="154686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2E8F0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学生端：个人学业信息查询与预警接收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8000" y="1625600"/>
            <a:ext cx="1016000" cy="50800"/>
          </a:xfrm>
          <a:custGeom>
            <a:avLst/>
            <a:gdLst/>
            <a:ahLst/>
            <a:cxnLst/>
            <a:rect l="l" t="t" r="r" b="b"/>
            <a:pathLst>
              <a:path w="1016000" h="50800">
                <a:moveTo>
                  <a:pt x="0" y="0"/>
                </a:moveTo>
                <a:lnTo>
                  <a:pt x="1016000" y="0"/>
                </a:lnTo>
                <a:lnTo>
                  <a:pt x="10160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38B2AC"/>
          </a:solidFill>
        </p:spPr>
      </p:sp>
      <p:sp>
        <p:nvSpPr>
          <p:cNvPr id="31" name="Shape 29"/>
          <p:cNvSpPr/>
          <p:nvPr/>
        </p:nvSpPr>
        <p:spPr>
          <a:xfrm>
            <a:off x="513080" y="6141406"/>
            <a:ext cx="7503160" cy="1711960"/>
          </a:xfrm>
          <a:custGeom>
            <a:avLst/>
            <a:gdLst/>
            <a:ahLst/>
            <a:cxnLst/>
            <a:rect l="l" t="t" r="r" b="b"/>
            <a:pathLst>
              <a:path w="7503160" h="1711960">
                <a:moveTo>
                  <a:pt x="101605" y="0"/>
                </a:moveTo>
                <a:lnTo>
                  <a:pt x="7401555" y="0"/>
                </a:lnTo>
                <a:cubicBezTo>
                  <a:pt x="7457670" y="0"/>
                  <a:pt x="7503160" y="45490"/>
                  <a:pt x="7503160" y="101605"/>
                </a:cubicBezTo>
                <a:lnTo>
                  <a:pt x="7503160" y="1610355"/>
                </a:lnTo>
                <a:cubicBezTo>
                  <a:pt x="7503160" y="1666470"/>
                  <a:pt x="7457670" y="1711960"/>
                  <a:pt x="7401555" y="1711960"/>
                </a:cubicBezTo>
                <a:lnTo>
                  <a:pt x="101605" y="1711960"/>
                </a:lnTo>
                <a:cubicBezTo>
                  <a:pt x="45490" y="1711960"/>
                  <a:pt x="0" y="1666470"/>
                  <a:pt x="0" y="1610355"/>
                </a:cubicBezTo>
                <a:lnTo>
                  <a:pt x="0" y="101605"/>
                </a:lnTo>
                <a:cubicBezTo>
                  <a:pt x="0" y="45490"/>
                  <a:pt x="45490" y="0"/>
                  <a:pt x="101605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10160">
            <a:solidFill>
              <a:srgbClr val="38B2AC">
                <a:alpha val="30196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53110" y="6400484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206375" y="103188"/>
                </a:moveTo>
                <a:cubicBezTo>
                  <a:pt x="206375" y="125958"/>
                  <a:pt x="198983" y="146993"/>
                  <a:pt x="186531" y="164058"/>
                </a:cubicBezTo>
                <a:lnTo>
                  <a:pt x="249337" y="226913"/>
                </a:lnTo>
                <a:cubicBezTo>
                  <a:pt x="255538" y="233114"/>
                  <a:pt x="255538" y="243185"/>
                  <a:pt x="249337" y="249386"/>
                </a:cubicBezTo>
                <a:cubicBezTo>
                  <a:pt x="243136" y="255588"/>
                  <a:pt x="233065" y="255588"/>
                  <a:pt x="226864" y="249386"/>
                </a:cubicBezTo>
                <a:lnTo>
                  <a:pt x="164058" y="186531"/>
                </a:lnTo>
                <a:cubicBezTo>
                  <a:pt x="146993" y="198983"/>
                  <a:pt x="125958" y="206375"/>
                  <a:pt x="103188" y="206375"/>
                </a:cubicBezTo>
                <a:cubicBezTo>
                  <a:pt x="46186" y="206375"/>
                  <a:pt x="0" y="160189"/>
                  <a:pt x="0" y="103188"/>
                </a:cubicBezTo>
                <a:cubicBezTo>
                  <a:pt x="0" y="46186"/>
                  <a:pt x="46186" y="0"/>
                  <a:pt x="103188" y="0"/>
                </a:cubicBezTo>
                <a:cubicBezTo>
                  <a:pt x="160189" y="0"/>
                  <a:pt x="206375" y="46186"/>
                  <a:pt x="206375" y="103188"/>
                </a:cubicBezTo>
                <a:close/>
                <a:moveTo>
                  <a:pt x="103188" y="174625"/>
                </a:moveTo>
                <a:cubicBezTo>
                  <a:pt x="142615" y="174625"/>
                  <a:pt x="174625" y="142615"/>
                  <a:pt x="174625" y="103188"/>
                </a:cubicBezTo>
                <a:cubicBezTo>
                  <a:pt x="174625" y="63760"/>
                  <a:pt x="142615" y="31750"/>
                  <a:pt x="103188" y="31750"/>
                </a:cubicBezTo>
                <a:cubicBezTo>
                  <a:pt x="63760" y="31750"/>
                  <a:pt x="31750" y="63760"/>
                  <a:pt x="31750" y="103187"/>
                </a:cubicBezTo>
                <a:cubicBezTo>
                  <a:pt x="31750" y="142615"/>
                  <a:pt x="63760" y="174625"/>
                  <a:pt x="103187" y="174625"/>
                </a:cubicBezTo>
                <a:close/>
              </a:path>
            </a:pathLst>
          </a:custGeom>
          <a:solidFill>
            <a:srgbClr val="38B2AC"/>
          </a:solidFill>
        </p:spPr>
      </p:sp>
      <p:sp>
        <p:nvSpPr>
          <p:cNvPr id="33" name="Text 31"/>
          <p:cNvSpPr/>
          <p:nvPr/>
        </p:nvSpPr>
        <p:spPr>
          <a:xfrm>
            <a:off x="1191260" y="6349684"/>
            <a:ext cx="1651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成绩查询界面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000240" y="6375084"/>
            <a:ext cx="812800" cy="304800"/>
          </a:xfrm>
          <a:custGeom>
            <a:avLst/>
            <a:gdLst/>
            <a:ahLst/>
            <a:cxnLst/>
            <a:rect l="l" t="t" r="r" b="b"/>
            <a:pathLst>
              <a:path w="812800" h="304800">
                <a:moveTo>
                  <a:pt x="50801" y="0"/>
                </a:moveTo>
                <a:lnTo>
                  <a:pt x="761999" y="0"/>
                </a:lnTo>
                <a:cubicBezTo>
                  <a:pt x="790056" y="0"/>
                  <a:pt x="812800" y="22744"/>
                  <a:pt x="812800" y="50801"/>
                </a:cubicBezTo>
                <a:lnTo>
                  <a:pt x="812800" y="253999"/>
                </a:lnTo>
                <a:cubicBezTo>
                  <a:pt x="812800" y="282056"/>
                  <a:pt x="790056" y="304800"/>
                  <a:pt x="7619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38B2AC"/>
          </a:solidFill>
        </p:spPr>
      </p:sp>
      <p:sp>
        <p:nvSpPr>
          <p:cNvPr id="35" name="Text 33"/>
          <p:cNvSpPr/>
          <p:nvPr/>
        </p:nvSpPr>
        <p:spPr>
          <a:xfrm>
            <a:off x="7000240" y="6375084"/>
            <a:ext cx="889000" cy="304800"/>
          </a:xfrm>
          <a:prstGeom prst="rect">
            <a:avLst/>
          </a:prstGeom>
          <a:noFill/>
        </p:spPr>
        <p:txBody>
          <a:bodyPr wrap="square" lIns="101600" tIns="50800" rIns="101600" bIns="5080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1A202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核心功能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21360" y="6857684"/>
            <a:ext cx="7188200" cy="330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查看个人各科成绩、学分及绩点，用颜色区分合格状态，清晰了解学业表现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21360" y="7340284"/>
            <a:ext cx="1701800" cy="304800"/>
          </a:xfrm>
          <a:custGeom>
            <a:avLst/>
            <a:gdLst/>
            <a:ahLst/>
            <a:cxnLst/>
            <a:rect l="l" t="t" r="r" b="b"/>
            <a:pathLst>
              <a:path w="1701800" h="304800">
                <a:moveTo>
                  <a:pt x="50801" y="0"/>
                </a:moveTo>
                <a:lnTo>
                  <a:pt x="1650999" y="0"/>
                </a:lnTo>
                <a:cubicBezTo>
                  <a:pt x="1679056" y="0"/>
                  <a:pt x="1701800" y="22744"/>
                  <a:pt x="1701800" y="50801"/>
                </a:cubicBezTo>
                <a:lnTo>
                  <a:pt x="1701800" y="253999"/>
                </a:lnTo>
                <a:cubicBezTo>
                  <a:pt x="1701800" y="282056"/>
                  <a:pt x="1679056" y="304800"/>
                  <a:pt x="16509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</p:spPr>
      </p:sp>
      <p:sp>
        <p:nvSpPr>
          <p:cNvPr id="38" name="Text 36"/>
          <p:cNvSpPr/>
          <p:nvPr/>
        </p:nvSpPr>
        <p:spPr>
          <a:xfrm>
            <a:off x="683260" y="7340284"/>
            <a:ext cx="1778000" cy="304800"/>
          </a:xfrm>
          <a:prstGeom prst="rect">
            <a:avLst/>
          </a:prstGeom>
          <a:noFill/>
        </p:spPr>
        <p:txBody>
          <a:bodyPr wrap="square" lIns="101600" tIns="50800" rIns="101600" bIns="5080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38B2A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各科成绩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2519680" y="7340284"/>
            <a:ext cx="1701800" cy="304800"/>
          </a:xfrm>
          <a:custGeom>
            <a:avLst/>
            <a:gdLst/>
            <a:ahLst/>
            <a:cxnLst/>
            <a:rect l="l" t="t" r="r" b="b"/>
            <a:pathLst>
              <a:path w="1701800" h="304800">
                <a:moveTo>
                  <a:pt x="50801" y="0"/>
                </a:moveTo>
                <a:lnTo>
                  <a:pt x="1650999" y="0"/>
                </a:lnTo>
                <a:cubicBezTo>
                  <a:pt x="1679056" y="0"/>
                  <a:pt x="1701800" y="22744"/>
                  <a:pt x="1701800" y="50801"/>
                </a:cubicBezTo>
                <a:lnTo>
                  <a:pt x="1701800" y="253999"/>
                </a:lnTo>
                <a:cubicBezTo>
                  <a:pt x="1701800" y="282056"/>
                  <a:pt x="1679056" y="304800"/>
                  <a:pt x="16509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</p:spPr>
      </p:sp>
      <p:sp>
        <p:nvSpPr>
          <p:cNvPr id="40" name="Text 38"/>
          <p:cNvSpPr/>
          <p:nvPr/>
        </p:nvSpPr>
        <p:spPr>
          <a:xfrm>
            <a:off x="2481580" y="7340284"/>
            <a:ext cx="1778000" cy="304800"/>
          </a:xfrm>
          <a:prstGeom prst="rect">
            <a:avLst/>
          </a:prstGeom>
          <a:noFill/>
        </p:spPr>
        <p:txBody>
          <a:bodyPr wrap="square" lIns="101600" tIns="50800" rIns="101600" bIns="5080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38B2A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学分绩点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4318000" y="7340284"/>
            <a:ext cx="1701800" cy="304800"/>
          </a:xfrm>
          <a:custGeom>
            <a:avLst/>
            <a:gdLst/>
            <a:ahLst/>
            <a:cxnLst/>
            <a:rect l="l" t="t" r="r" b="b"/>
            <a:pathLst>
              <a:path w="1701800" h="304800">
                <a:moveTo>
                  <a:pt x="50801" y="0"/>
                </a:moveTo>
                <a:lnTo>
                  <a:pt x="1650999" y="0"/>
                </a:lnTo>
                <a:cubicBezTo>
                  <a:pt x="1679056" y="0"/>
                  <a:pt x="1701800" y="22744"/>
                  <a:pt x="1701800" y="50801"/>
                </a:cubicBezTo>
                <a:lnTo>
                  <a:pt x="1701800" y="253999"/>
                </a:lnTo>
                <a:cubicBezTo>
                  <a:pt x="1701800" y="282056"/>
                  <a:pt x="1679056" y="304800"/>
                  <a:pt x="16509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</p:spPr>
      </p:sp>
      <p:sp>
        <p:nvSpPr>
          <p:cNvPr id="42" name="Text 40"/>
          <p:cNvSpPr/>
          <p:nvPr/>
        </p:nvSpPr>
        <p:spPr>
          <a:xfrm>
            <a:off x="4279900" y="7340284"/>
            <a:ext cx="1778000" cy="304800"/>
          </a:xfrm>
          <a:prstGeom prst="rect">
            <a:avLst/>
          </a:prstGeom>
          <a:noFill/>
        </p:spPr>
        <p:txBody>
          <a:bodyPr wrap="square" lIns="101600" tIns="50800" rIns="101600" bIns="5080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38B2A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颜色标识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116320" y="7340284"/>
            <a:ext cx="1701800" cy="304800"/>
          </a:xfrm>
          <a:custGeom>
            <a:avLst/>
            <a:gdLst/>
            <a:ahLst/>
            <a:cxnLst/>
            <a:rect l="l" t="t" r="r" b="b"/>
            <a:pathLst>
              <a:path w="1701800" h="304800">
                <a:moveTo>
                  <a:pt x="50801" y="0"/>
                </a:moveTo>
                <a:lnTo>
                  <a:pt x="1650999" y="0"/>
                </a:lnTo>
                <a:cubicBezTo>
                  <a:pt x="1679056" y="0"/>
                  <a:pt x="1701800" y="22744"/>
                  <a:pt x="1701800" y="50801"/>
                </a:cubicBezTo>
                <a:lnTo>
                  <a:pt x="1701800" y="253999"/>
                </a:lnTo>
                <a:cubicBezTo>
                  <a:pt x="1701800" y="282056"/>
                  <a:pt x="1679056" y="304800"/>
                  <a:pt x="16509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</p:spPr>
      </p:sp>
      <p:sp>
        <p:nvSpPr>
          <p:cNvPr id="44" name="Text 42"/>
          <p:cNvSpPr/>
          <p:nvPr/>
        </p:nvSpPr>
        <p:spPr>
          <a:xfrm>
            <a:off x="6078220" y="7340284"/>
            <a:ext cx="1778000" cy="304800"/>
          </a:xfrm>
          <a:prstGeom prst="rect">
            <a:avLst/>
          </a:prstGeom>
          <a:noFill/>
        </p:spPr>
        <p:txBody>
          <a:bodyPr wrap="square" lIns="101600" tIns="50800" rIns="101600" bIns="5080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38B2A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清晰直观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508000" y="1676400"/>
            <a:ext cx="7503160" cy="2118360"/>
          </a:xfrm>
          <a:custGeom>
            <a:avLst/>
            <a:gdLst/>
            <a:ahLst/>
            <a:cxnLst/>
            <a:rect l="l" t="t" r="r" b="b"/>
            <a:pathLst>
              <a:path w="7503160" h="2118360">
                <a:moveTo>
                  <a:pt x="101597" y="0"/>
                </a:moveTo>
                <a:lnTo>
                  <a:pt x="7401563" y="0"/>
                </a:lnTo>
                <a:cubicBezTo>
                  <a:pt x="7457674" y="0"/>
                  <a:pt x="7503160" y="45486"/>
                  <a:pt x="7503160" y="101597"/>
                </a:cubicBezTo>
                <a:lnTo>
                  <a:pt x="7503160" y="2016763"/>
                </a:lnTo>
                <a:cubicBezTo>
                  <a:pt x="7503160" y="2072874"/>
                  <a:pt x="7457674" y="2118360"/>
                  <a:pt x="7401563" y="2118360"/>
                </a:cubicBezTo>
                <a:lnTo>
                  <a:pt x="101597" y="2118360"/>
                </a:lnTo>
                <a:cubicBezTo>
                  <a:pt x="45486" y="2118360"/>
                  <a:pt x="0" y="2072874"/>
                  <a:pt x="0" y="2016763"/>
                </a:cubicBezTo>
                <a:lnTo>
                  <a:pt x="0" y="101597"/>
                </a:lnTo>
                <a:cubicBezTo>
                  <a:pt x="0" y="45524"/>
                  <a:pt x="45524" y="0"/>
                  <a:pt x="10159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10160">
            <a:solidFill>
              <a:srgbClr val="4A5568">
                <a:alpha val="30196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48030" y="1935484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23812" y="31750"/>
                </a:moveTo>
                <a:cubicBezTo>
                  <a:pt x="10666" y="31750"/>
                  <a:pt x="0" y="42416"/>
                  <a:pt x="0" y="55563"/>
                </a:cubicBezTo>
                <a:cubicBezTo>
                  <a:pt x="0" y="63054"/>
                  <a:pt x="3522" y="70098"/>
                  <a:pt x="9525" y="74613"/>
                </a:cubicBezTo>
                <a:lnTo>
                  <a:pt x="112713" y="152003"/>
                </a:lnTo>
                <a:cubicBezTo>
                  <a:pt x="121196" y="158353"/>
                  <a:pt x="132804" y="158353"/>
                  <a:pt x="141288" y="152003"/>
                </a:cubicBezTo>
                <a:lnTo>
                  <a:pt x="244475" y="74612"/>
                </a:lnTo>
                <a:cubicBezTo>
                  <a:pt x="250478" y="70098"/>
                  <a:pt x="254000" y="63054"/>
                  <a:pt x="254000" y="55562"/>
                </a:cubicBezTo>
                <a:cubicBezTo>
                  <a:pt x="254000" y="42416"/>
                  <a:pt x="243334" y="31750"/>
                  <a:pt x="230188" y="31750"/>
                </a:cubicBezTo>
                <a:lnTo>
                  <a:pt x="23812" y="31750"/>
                </a:lnTo>
                <a:close/>
                <a:moveTo>
                  <a:pt x="0" y="97234"/>
                </a:moveTo>
                <a:lnTo>
                  <a:pt x="0" y="190500"/>
                </a:lnTo>
                <a:cubicBezTo>
                  <a:pt x="0" y="208012"/>
                  <a:pt x="14238" y="222250"/>
                  <a:pt x="31750" y="222250"/>
                </a:cubicBezTo>
                <a:lnTo>
                  <a:pt x="222250" y="222250"/>
                </a:lnTo>
                <a:cubicBezTo>
                  <a:pt x="239762" y="222250"/>
                  <a:pt x="254000" y="208012"/>
                  <a:pt x="254000" y="190500"/>
                </a:cubicBezTo>
                <a:lnTo>
                  <a:pt x="254000" y="97234"/>
                </a:lnTo>
                <a:lnTo>
                  <a:pt x="155575" y="171053"/>
                </a:lnTo>
                <a:cubicBezTo>
                  <a:pt x="138658" y="183753"/>
                  <a:pt x="115342" y="183753"/>
                  <a:pt x="98425" y="171053"/>
                </a:cubicBezTo>
                <a:lnTo>
                  <a:pt x="0" y="97234"/>
                </a:lnTo>
                <a:close/>
              </a:path>
            </a:pathLst>
          </a:custGeom>
          <a:solidFill>
            <a:srgbClr val="38B2AC"/>
          </a:solidFill>
        </p:spPr>
      </p:sp>
      <p:sp>
        <p:nvSpPr>
          <p:cNvPr id="47" name="Text 45"/>
          <p:cNvSpPr/>
          <p:nvPr/>
        </p:nvSpPr>
        <p:spPr>
          <a:xfrm>
            <a:off x="1186180" y="1884684"/>
            <a:ext cx="1651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消息中心界面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716280" y="2392684"/>
            <a:ext cx="7188200" cy="330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接收考勤警告、挂科提醒等系统通知，查看历史消息，不遗漏重要学业提示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716280" y="2875284"/>
            <a:ext cx="2298700" cy="711200"/>
          </a:xfrm>
          <a:custGeom>
            <a:avLst/>
            <a:gdLst/>
            <a:ahLst/>
            <a:cxnLst/>
            <a:rect l="l" t="t" r="r" b="b"/>
            <a:pathLst>
              <a:path w="2298700" h="711200">
                <a:moveTo>
                  <a:pt x="50801" y="0"/>
                </a:moveTo>
                <a:lnTo>
                  <a:pt x="2247899" y="0"/>
                </a:lnTo>
                <a:cubicBezTo>
                  <a:pt x="2275956" y="0"/>
                  <a:pt x="2298700" y="22744"/>
                  <a:pt x="2298700" y="50801"/>
                </a:cubicBezTo>
                <a:lnTo>
                  <a:pt x="2298700" y="660399"/>
                </a:lnTo>
                <a:cubicBezTo>
                  <a:pt x="2298700" y="688456"/>
                  <a:pt x="2275956" y="711200"/>
                  <a:pt x="2247899" y="711200"/>
                </a:cubicBezTo>
                <a:lnTo>
                  <a:pt x="50801" y="711200"/>
                </a:lnTo>
                <a:cubicBezTo>
                  <a:pt x="22744" y="711200"/>
                  <a:pt x="0" y="688456"/>
                  <a:pt x="0" y="6603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</p:spPr>
      </p:sp>
      <p:sp>
        <p:nvSpPr>
          <p:cNvPr id="50" name="Text 48"/>
          <p:cNvSpPr/>
          <p:nvPr/>
        </p:nvSpPr>
        <p:spPr>
          <a:xfrm>
            <a:off x="773430" y="2976884"/>
            <a:ext cx="21844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8B2A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考勤警告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779780" y="3281684"/>
            <a:ext cx="21717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71809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缺勤提醒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3114040" y="2875284"/>
            <a:ext cx="2298700" cy="711200"/>
          </a:xfrm>
          <a:custGeom>
            <a:avLst/>
            <a:gdLst/>
            <a:ahLst/>
            <a:cxnLst/>
            <a:rect l="l" t="t" r="r" b="b"/>
            <a:pathLst>
              <a:path w="2298700" h="711200">
                <a:moveTo>
                  <a:pt x="50801" y="0"/>
                </a:moveTo>
                <a:lnTo>
                  <a:pt x="2247899" y="0"/>
                </a:lnTo>
                <a:cubicBezTo>
                  <a:pt x="2275956" y="0"/>
                  <a:pt x="2298700" y="22744"/>
                  <a:pt x="2298700" y="50801"/>
                </a:cubicBezTo>
                <a:lnTo>
                  <a:pt x="2298700" y="660399"/>
                </a:lnTo>
                <a:cubicBezTo>
                  <a:pt x="2298700" y="688456"/>
                  <a:pt x="2275956" y="711200"/>
                  <a:pt x="2247899" y="711200"/>
                </a:cubicBezTo>
                <a:lnTo>
                  <a:pt x="50801" y="711200"/>
                </a:lnTo>
                <a:cubicBezTo>
                  <a:pt x="22744" y="711200"/>
                  <a:pt x="0" y="688456"/>
                  <a:pt x="0" y="6603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</p:spPr>
      </p:sp>
      <p:sp>
        <p:nvSpPr>
          <p:cNvPr id="53" name="Text 51"/>
          <p:cNvSpPr/>
          <p:nvPr/>
        </p:nvSpPr>
        <p:spPr>
          <a:xfrm>
            <a:off x="3171190" y="2976884"/>
            <a:ext cx="21844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8B2A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挂科提醒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3177540" y="3281684"/>
            <a:ext cx="21717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71809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成绩预警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5511800" y="2875284"/>
            <a:ext cx="2298700" cy="711200"/>
          </a:xfrm>
          <a:custGeom>
            <a:avLst/>
            <a:gdLst/>
            <a:ahLst/>
            <a:cxnLst/>
            <a:rect l="l" t="t" r="r" b="b"/>
            <a:pathLst>
              <a:path w="2298700" h="711200">
                <a:moveTo>
                  <a:pt x="50801" y="0"/>
                </a:moveTo>
                <a:lnTo>
                  <a:pt x="2247899" y="0"/>
                </a:lnTo>
                <a:cubicBezTo>
                  <a:pt x="2275956" y="0"/>
                  <a:pt x="2298700" y="22744"/>
                  <a:pt x="2298700" y="50801"/>
                </a:cubicBezTo>
                <a:lnTo>
                  <a:pt x="2298700" y="660399"/>
                </a:lnTo>
                <a:cubicBezTo>
                  <a:pt x="2298700" y="688456"/>
                  <a:pt x="2275956" y="711200"/>
                  <a:pt x="2247899" y="711200"/>
                </a:cubicBezTo>
                <a:lnTo>
                  <a:pt x="50801" y="711200"/>
                </a:lnTo>
                <a:cubicBezTo>
                  <a:pt x="22744" y="711200"/>
                  <a:pt x="0" y="688456"/>
                  <a:pt x="0" y="6603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</p:spPr>
      </p:sp>
      <p:sp>
        <p:nvSpPr>
          <p:cNvPr id="56" name="Text 54"/>
          <p:cNvSpPr/>
          <p:nvPr/>
        </p:nvSpPr>
        <p:spPr>
          <a:xfrm>
            <a:off x="5568950" y="2976884"/>
            <a:ext cx="21844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8B2A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历史消息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5575300" y="3281684"/>
            <a:ext cx="21717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71809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记录查看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508000" y="3913351"/>
            <a:ext cx="7503160" cy="2042160"/>
          </a:xfrm>
          <a:custGeom>
            <a:avLst/>
            <a:gdLst/>
            <a:ahLst/>
            <a:cxnLst/>
            <a:rect l="l" t="t" r="r" b="b"/>
            <a:pathLst>
              <a:path w="7503160" h="2042160">
                <a:moveTo>
                  <a:pt x="101597" y="0"/>
                </a:moveTo>
                <a:lnTo>
                  <a:pt x="7401563" y="0"/>
                </a:lnTo>
                <a:cubicBezTo>
                  <a:pt x="7457673" y="0"/>
                  <a:pt x="7503160" y="45487"/>
                  <a:pt x="7503160" y="101597"/>
                </a:cubicBezTo>
                <a:lnTo>
                  <a:pt x="7503160" y="1940563"/>
                </a:lnTo>
                <a:cubicBezTo>
                  <a:pt x="7503160" y="1996673"/>
                  <a:pt x="7457673" y="2042160"/>
                  <a:pt x="7401563" y="2042160"/>
                </a:cubicBezTo>
                <a:lnTo>
                  <a:pt x="101597" y="2042160"/>
                </a:lnTo>
                <a:cubicBezTo>
                  <a:pt x="45487" y="2042160"/>
                  <a:pt x="0" y="1996673"/>
                  <a:pt x="0" y="194056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10160">
            <a:solidFill>
              <a:srgbClr val="38B2AC">
                <a:alpha val="30196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48030" y="4172429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254000"/>
                </a:moveTo>
                <a:cubicBezTo>
                  <a:pt x="197093" y="254000"/>
                  <a:pt x="254000" y="197093"/>
                  <a:pt x="254000" y="127000"/>
                </a:cubicBezTo>
                <a:cubicBezTo>
                  <a:pt x="254000" y="56907"/>
                  <a:pt x="197093" y="0"/>
                  <a:pt x="127000" y="0"/>
                </a:cubicBezTo>
                <a:cubicBezTo>
                  <a:pt x="56907" y="0"/>
                  <a:pt x="0" y="56907"/>
                  <a:pt x="0" y="127000"/>
                </a:cubicBezTo>
                <a:cubicBezTo>
                  <a:pt x="0" y="197093"/>
                  <a:pt x="56907" y="254000"/>
                  <a:pt x="127000" y="254000"/>
                </a:cubicBezTo>
                <a:close/>
                <a:moveTo>
                  <a:pt x="127000" y="67469"/>
                </a:moveTo>
                <a:cubicBezTo>
                  <a:pt x="133598" y="67469"/>
                  <a:pt x="138906" y="72777"/>
                  <a:pt x="138906" y="79375"/>
                </a:cubicBezTo>
                <a:lnTo>
                  <a:pt x="138906" y="134938"/>
                </a:lnTo>
                <a:cubicBezTo>
                  <a:pt x="138906" y="141536"/>
                  <a:pt x="133598" y="146844"/>
                  <a:pt x="127000" y="146844"/>
                </a:cubicBezTo>
                <a:cubicBezTo>
                  <a:pt x="120402" y="146844"/>
                  <a:pt x="115094" y="141536"/>
                  <a:pt x="115094" y="134938"/>
                </a:cubicBezTo>
                <a:lnTo>
                  <a:pt x="115094" y="79375"/>
                </a:lnTo>
                <a:cubicBezTo>
                  <a:pt x="115094" y="72777"/>
                  <a:pt x="120402" y="67469"/>
                  <a:pt x="127000" y="67469"/>
                </a:cubicBezTo>
                <a:close/>
                <a:moveTo>
                  <a:pt x="113754" y="174625"/>
                </a:moveTo>
                <a:cubicBezTo>
                  <a:pt x="113453" y="169708"/>
                  <a:pt x="115905" y="165031"/>
                  <a:pt x="120120" y="162481"/>
                </a:cubicBezTo>
                <a:cubicBezTo>
                  <a:pt x="124334" y="159932"/>
                  <a:pt x="129616" y="159932"/>
                  <a:pt x="133831" y="162481"/>
                </a:cubicBezTo>
                <a:cubicBezTo>
                  <a:pt x="138045" y="165031"/>
                  <a:pt x="140497" y="169708"/>
                  <a:pt x="140196" y="174625"/>
                </a:cubicBezTo>
                <a:cubicBezTo>
                  <a:pt x="140497" y="179542"/>
                  <a:pt x="138045" y="184219"/>
                  <a:pt x="133831" y="186769"/>
                </a:cubicBezTo>
                <a:cubicBezTo>
                  <a:pt x="129616" y="189318"/>
                  <a:pt x="124334" y="189318"/>
                  <a:pt x="120120" y="186769"/>
                </a:cubicBezTo>
                <a:cubicBezTo>
                  <a:pt x="115905" y="184219"/>
                  <a:pt x="113453" y="179542"/>
                  <a:pt x="113754" y="174625"/>
                </a:cubicBezTo>
                <a:close/>
              </a:path>
            </a:pathLst>
          </a:custGeom>
          <a:solidFill>
            <a:srgbClr val="38B2AC"/>
          </a:solidFill>
        </p:spPr>
      </p:sp>
      <p:sp>
        <p:nvSpPr>
          <p:cNvPr id="60" name="Text 58"/>
          <p:cNvSpPr/>
          <p:nvPr/>
        </p:nvSpPr>
        <p:spPr>
          <a:xfrm>
            <a:off x="1186180" y="4121629"/>
            <a:ext cx="1651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预警弹窗界面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6995161" y="4147029"/>
            <a:ext cx="812800" cy="304800"/>
          </a:xfrm>
          <a:custGeom>
            <a:avLst/>
            <a:gdLst/>
            <a:ahLst/>
            <a:cxnLst/>
            <a:rect l="l" t="t" r="r" b="b"/>
            <a:pathLst>
              <a:path w="812800" h="304800">
                <a:moveTo>
                  <a:pt x="50801" y="0"/>
                </a:moveTo>
                <a:lnTo>
                  <a:pt x="761999" y="0"/>
                </a:lnTo>
                <a:cubicBezTo>
                  <a:pt x="790056" y="0"/>
                  <a:pt x="812800" y="22744"/>
                  <a:pt x="812800" y="50801"/>
                </a:cubicBezTo>
                <a:lnTo>
                  <a:pt x="812800" y="253999"/>
                </a:lnTo>
                <a:cubicBezTo>
                  <a:pt x="812800" y="282056"/>
                  <a:pt x="790056" y="304800"/>
                  <a:pt x="7619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38B2AC"/>
          </a:solidFill>
        </p:spPr>
      </p:sp>
      <p:sp>
        <p:nvSpPr>
          <p:cNvPr id="62" name="Text 60"/>
          <p:cNvSpPr/>
          <p:nvPr/>
        </p:nvSpPr>
        <p:spPr>
          <a:xfrm>
            <a:off x="6995161" y="4147029"/>
            <a:ext cx="889000" cy="304800"/>
          </a:xfrm>
          <a:prstGeom prst="rect">
            <a:avLst/>
          </a:prstGeom>
          <a:noFill/>
        </p:spPr>
        <p:txBody>
          <a:bodyPr wrap="square" lIns="101600" tIns="50800" rIns="101600" bIns="5080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1A202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即时提醒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716280" y="4629629"/>
            <a:ext cx="7188200" cy="660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登录后自动弹窗提示新预警，展示预警等级与内容，确保风险及时传达，不遗漏任何重要学业风险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716280" y="5442429"/>
            <a:ext cx="1701800" cy="304800"/>
          </a:xfrm>
          <a:custGeom>
            <a:avLst/>
            <a:gdLst/>
            <a:ahLst/>
            <a:cxnLst/>
            <a:rect l="l" t="t" r="r" b="b"/>
            <a:pathLst>
              <a:path w="1701800" h="304800">
                <a:moveTo>
                  <a:pt x="50801" y="0"/>
                </a:moveTo>
                <a:lnTo>
                  <a:pt x="1650999" y="0"/>
                </a:lnTo>
                <a:cubicBezTo>
                  <a:pt x="1679056" y="0"/>
                  <a:pt x="1701800" y="22744"/>
                  <a:pt x="1701800" y="50801"/>
                </a:cubicBezTo>
                <a:lnTo>
                  <a:pt x="1701800" y="253999"/>
                </a:lnTo>
                <a:cubicBezTo>
                  <a:pt x="1701800" y="282056"/>
                  <a:pt x="1679056" y="304800"/>
                  <a:pt x="16509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</p:spPr>
      </p:sp>
      <p:sp>
        <p:nvSpPr>
          <p:cNvPr id="65" name="Text 63"/>
          <p:cNvSpPr/>
          <p:nvPr/>
        </p:nvSpPr>
        <p:spPr>
          <a:xfrm>
            <a:off x="678180" y="5442429"/>
            <a:ext cx="1778000" cy="304800"/>
          </a:xfrm>
          <a:prstGeom prst="rect">
            <a:avLst/>
          </a:prstGeom>
          <a:noFill/>
        </p:spPr>
        <p:txBody>
          <a:bodyPr wrap="square" lIns="101600" tIns="50800" rIns="101600" bIns="5080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38B2A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自动弹窗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2514600" y="5442429"/>
            <a:ext cx="1701800" cy="304800"/>
          </a:xfrm>
          <a:custGeom>
            <a:avLst/>
            <a:gdLst/>
            <a:ahLst/>
            <a:cxnLst/>
            <a:rect l="l" t="t" r="r" b="b"/>
            <a:pathLst>
              <a:path w="1701800" h="304800">
                <a:moveTo>
                  <a:pt x="50801" y="0"/>
                </a:moveTo>
                <a:lnTo>
                  <a:pt x="1650999" y="0"/>
                </a:lnTo>
                <a:cubicBezTo>
                  <a:pt x="1679056" y="0"/>
                  <a:pt x="1701800" y="22744"/>
                  <a:pt x="1701800" y="50801"/>
                </a:cubicBezTo>
                <a:lnTo>
                  <a:pt x="1701800" y="253999"/>
                </a:lnTo>
                <a:cubicBezTo>
                  <a:pt x="1701800" y="282056"/>
                  <a:pt x="1679056" y="304800"/>
                  <a:pt x="16509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</p:spPr>
      </p:sp>
      <p:sp>
        <p:nvSpPr>
          <p:cNvPr id="67" name="Text 65"/>
          <p:cNvSpPr/>
          <p:nvPr/>
        </p:nvSpPr>
        <p:spPr>
          <a:xfrm>
            <a:off x="2476500" y="5442429"/>
            <a:ext cx="1778000" cy="304800"/>
          </a:xfrm>
          <a:prstGeom prst="rect">
            <a:avLst/>
          </a:prstGeom>
          <a:noFill/>
        </p:spPr>
        <p:txBody>
          <a:bodyPr wrap="square" lIns="101600" tIns="50800" rIns="101600" bIns="5080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38B2A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预警等级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4312920" y="5442429"/>
            <a:ext cx="1701800" cy="304800"/>
          </a:xfrm>
          <a:custGeom>
            <a:avLst/>
            <a:gdLst/>
            <a:ahLst/>
            <a:cxnLst/>
            <a:rect l="l" t="t" r="r" b="b"/>
            <a:pathLst>
              <a:path w="1701800" h="304800">
                <a:moveTo>
                  <a:pt x="50801" y="0"/>
                </a:moveTo>
                <a:lnTo>
                  <a:pt x="1650999" y="0"/>
                </a:lnTo>
                <a:cubicBezTo>
                  <a:pt x="1679056" y="0"/>
                  <a:pt x="1701800" y="22744"/>
                  <a:pt x="1701800" y="50801"/>
                </a:cubicBezTo>
                <a:lnTo>
                  <a:pt x="1701800" y="253999"/>
                </a:lnTo>
                <a:cubicBezTo>
                  <a:pt x="1701800" y="282056"/>
                  <a:pt x="1679056" y="304800"/>
                  <a:pt x="16509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</p:spPr>
      </p:sp>
      <p:sp>
        <p:nvSpPr>
          <p:cNvPr id="69" name="Text 67"/>
          <p:cNvSpPr/>
          <p:nvPr/>
        </p:nvSpPr>
        <p:spPr>
          <a:xfrm>
            <a:off x="4274820" y="5442429"/>
            <a:ext cx="1778000" cy="304800"/>
          </a:xfrm>
          <a:prstGeom prst="rect">
            <a:avLst/>
          </a:prstGeom>
          <a:noFill/>
        </p:spPr>
        <p:txBody>
          <a:bodyPr wrap="square" lIns="101600" tIns="50800" rIns="101600" bIns="5080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38B2A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内容展示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6111240" y="5442429"/>
            <a:ext cx="1701800" cy="304800"/>
          </a:xfrm>
          <a:custGeom>
            <a:avLst/>
            <a:gdLst/>
            <a:ahLst/>
            <a:cxnLst/>
            <a:rect l="l" t="t" r="r" b="b"/>
            <a:pathLst>
              <a:path w="1701800" h="304800">
                <a:moveTo>
                  <a:pt x="50801" y="0"/>
                </a:moveTo>
                <a:lnTo>
                  <a:pt x="1650999" y="0"/>
                </a:lnTo>
                <a:cubicBezTo>
                  <a:pt x="1679056" y="0"/>
                  <a:pt x="1701800" y="22744"/>
                  <a:pt x="1701800" y="50801"/>
                </a:cubicBezTo>
                <a:lnTo>
                  <a:pt x="1701800" y="253999"/>
                </a:lnTo>
                <a:cubicBezTo>
                  <a:pt x="1701800" y="282056"/>
                  <a:pt x="1679056" y="304800"/>
                  <a:pt x="16509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</p:spPr>
      </p:sp>
      <p:sp>
        <p:nvSpPr>
          <p:cNvPr id="71" name="Text 69"/>
          <p:cNvSpPr/>
          <p:nvPr/>
        </p:nvSpPr>
        <p:spPr>
          <a:xfrm>
            <a:off x="6073140" y="5442429"/>
            <a:ext cx="1778000" cy="304800"/>
          </a:xfrm>
          <a:prstGeom prst="rect">
            <a:avLst/>
          </a:prstGeom>
          <a:noFill/>
        </p:spPr>
        <p:txBody>
          <a:bodyPr wrap="square" lIns="101600" tIns="50800" rIns="101600" bIns="5080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38B2A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即时传达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513080" y="8066566"/>
            <a:ext cx="4963160" cy="975360"/>
          </a:xfrm>
          <a:custGeom>
            <a:avLst/>
            <a:gdLst/>
            <a:ahLst/>
            <a:cxnLst/>
            <a:rect l="l" t="t" r="r" b="b"/>
            <a:pathLst>
              <a:path w="4963160" h="975360">
                <a:moveTo>
                  <a:pt x="101603" y="0"/>
                </a:moveTo>
                <a:lnTo>
                  <a:pt x="4861557" y="0"/>
                </a:lnTo>
                <a:cubicBezTo>
                  <a:pt x="4917671" y="0"/>
                  <a:pt x="4963160" y="45489"/>
                  <a:pt x="4963160" y="101603"/>
                </a:cubicBezTo>
                <a:lnTo>
                  <a:pt x="4963160" y="873757"/>
                </a:lnTo>
                <a:cubicBezTo>
                  <a:pt x="4963160" y="929871"/>
                  <a:pt x="4917671" y="975360"/>
                  <a:pt x="4861557" y="975360"/>
                </a:cubicBezTo>
                <a:lnTo>
                  <a:pt x="101603" y="975360"/>
                </a:lnTo>
                <a:cubicBezTo>
                  <a:pt x="45489" y="975360"/>
                  <a:pt x="0" y="929871"/>
                  <a:pt x="0" y="87375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38B2AC">
              <a:alpha val="10196"/>
            </a:srgbClr>
          </a:solidFill>
          <a:ln w="10160">
            <a:solidFill>
              <a:srgbClr val="38B2AC">
                <a:alpha val="30196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95960" y="8274844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88900" y="63500"/>
                </a:moveTo>
                <a:cubicBezTo>
                  <a:pt x="88900" y="56491"/>
                  <a:pt x="94591" y="50800"/>
                  <a:pt x="101600" y="50800"/>
                </a:cubicBezTo>
                <a:cubicBezTo>
                  <a:pt x="108609" y="50800"/>
                  <a:pt x="114300" y="56491"/>
                  <a:pt x="114300" y="63500"/>
                </a:cubicBezTo>
                <a:cubicBezTo>
                  <a:pt x="114300" y="70509"/>
                  <a:pt x="108609" y="76200"/>
                  <a:pt x="101600" y="76200"/>
                </a:cubicBezTo>
                <a:cubicBezTo>
                  <a:pt x="94591" y="76200"/>
                  <a:pt x="88900" y="70509"/>
                  <a:pt x="88900" y="63500"/>
                </a:cubicBezTo>
                <a:close/>
                <a:moveTo>
                  <a:pt x="85725" y="88900"/>
                </a:moveTo>
                <a:lnTo>
                  <a:pt x="104775" y="88900"/>
                </a:lnTo>
                <a:cubicBezTo>
                  <a:pt x="110053" y="88900"/>
                  <a:pt x="114300" y="93147"/>
                  <a:pt x="114300" y="98425"/>
                </a:cubicBezTo>
                <a:lnTo>
                  <a:pt x="114300" y="133350"/>
                </a:lnTo>
                <a:lnTo>
                  <a:pt x="117475" y="133350"/>
                </a:lnTo>
                <a:cubicBezTo>
                  <a:pt x="122753" y="133350"/>
                  <a:pt x="127000" y="137597"/>
                  <a:pt x="127000" y="142875"/>
                </a:cubicBezTo>
                <a:cubicBezTo>
                  <a:pt x="127000" y="148153"/>
                  <a:pt x="122753" y="152400"/>
                  <a:pt x="117475" y="152400"/>
                </a:cubicBezTo>
                <a:lnTo>
                  <a:pt x="85725" y="152400"/>
                </a:lnTo>
                <a:cubicBezTo>
                  <a:pt x="80447" y="152400"/>
                  <a:pt x="76200" y="148153"/>
                  <a:pt x="76200" y="142875"/>
                </a:cubicBezTo>
                <a:cubicBezTo>
                  <a:pt x="76200" y="137597"/>
                  <a:pt x="80447" y="133350"/>
                  <a:pt x="85725" y="133350"/>
                </a:cubicBezTo>
                <a:lnTo>
                  <a:pt x="95250" y="133350"/>
                </a:lnTo>
                <a:lnTo>
                  <a:pt x="95250" y="107950"/>
                </a:lnTo>
                <a:lnTo>
                  <a:pt x="85725" y="107950"/>
                </a:lnTo>
                <a:cubicBezTo>
                  <a:pt x="80447" y="107950"/>
                  <a:pt x="76200" y="103703"/>
                  <a:pt x="76200" y="98425"/>
                </a:cubicBezTo>
                <a:cubicBezTo>
                  <a:pt x="76200" y="93147"/>
                  <a:pt x="80447" y="88900"/>
                  <a:pt x="85725" y="88900"/>
                </a:cubicBezTo>
                <a:close/>
              </a:path>
            </a:pathLst>
          </a:custGeom>
          <a:solidFill>
            <a:srgbClr val="38B2AC"/>
          </a:solidFill>
        </p:spPr>
      </p:sp>
      <p:sp>
        <p:nvSpPr>
          <p:cNvPr id="74" name="Text 72"/>
          <p:cNvSpPr/>
          <p:nvPr/>
        </p:nvSpPr>
        <p:spPr>
          <a:xfrm>
            <a:off x="1026160" y="8224044"/>
            <a:ext cx="9144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信息透明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670560" y="8630444"/>
            <a:ext cx="47371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学生可随时查看个人成绩、学分、选课等信息</a:t>
            </a:r>
            <a:endParaRPr lang="en-US" sz="1600" dirty="0"/>
          </a:p>
        </p:txBody>
      </p:sp>
      <p:sp>
        <p:nvSpPr>
          <p:cNvPr id="76" name="Shape 74"/>
          <p:cNvSpPr/>
          <p:nvPr/>
        </p:nvSpPr>
        <p:spPr>
          <a:xfrm>
            <a:off x="5643880" y="8066566"/>
            <a:ext cx="4963160" cy="975360"/>
          </a:xfrm>
          <a:custGeom>
            <a:avLst/>
            <a:gdLst/>
            <a:ahLst/>
            <a:cxnLst/>
            <a:rect l="l" t="t" r="r" b="b"/>
            <a:pathLst>
              <a:path w="4963160" h="975360">
                <a:moveTo>
                  <a:pt x="101603" y="0"/>
                </a:moveTo>
                <a:lnTo>
                  <a:pt x="4861557" y="0"/>
                </a:lnTo>
                <a:cubicBezTo>
                  <a:pt x="4917671" y="0"/>
                  <a:pt x="4963160" y="45489"/>
                  <a:pt x="4963160" y="101603"/>
                </a:cubicBezTo>
                <a:lnTo>
                  <a:pt x="4963160" y="873757"/>
                </a:lnTo>
                <a:cubicBezTo>
                  <a:pt x="4963160" y="929871"/>
                  <a:pt x="4917671" y="975360"/>
                  <a:pt x="4861557" y="975360"/>
                </a:cubicBezTo>
                <a:lnTo>
                  <a:pt x="101603" y="975360"/>
                </a:lnTo>
                <a:cubicBezTo>
                  <a:pt x="45489" y="975360"/>
                  <a:pt x="0" y="929871"/>
                  <a:pt x="0" y="87375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38B2AC">
              <a:alpha val="10196"/>
            </a:srgbClr>
          </a:solidFill>
          <a:ln w="10160">
            <a:solidFill>
              <a:srgbClr val="38B2AC">
                <a:alpha val="30196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5839460" y="8274844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88900" y="0"/>
                </a:moveTo>
                <a:cubicBezTo>
                  <a:pt x="81875" y="0"/>
                  <a:pt x="76200" y="5675"/>
                  <a:pt x="76200" y="12700"/>
                </a:cubicBezTo>
                <a:lnTo>
                  <a:pt x="76200" y="13970"/>
                </a:lnTo>
                <a:cubicBezTo>
                  <a:pt x="47228" y="19844"/>
                  <a:pt x="25400" y="45482"/>
                  <a:pt x="25400" y="76200"/>
                </a:cubicBezTo>
                <a:lnTo>
                  <a:pt x="25400" y="84812"/>
                </a:lnTo>
                <a:cubicBezTo>
                  <a:pt x="25400" y="103902"/>
                  <a:pt x="18891" y="122436"/>
                  <a:pt x="6985" y="137358"/>
                </a:cubicBezTo>
                <a:lnTo>
                  <a:pt x="3096" y="142200"/>
                </a:lnTo>
                <a:cubicBezTo>
                  <a:pt x="1072" y="144701"/>
                  <a:pt x="0" y="147796"/>
                  <a:pt x="0" y="151011"/>
                </a:cubicBezTo>
                <a:cubicBezTo>
                  <a:pt x="0" y="158790"/>
                  <a:pt x="6310" y="165100"/>
                  <a:pt x="14089" y="165100"/>
                </a:cubicBezTo>
                <a:lnTo>
                  <a:pt x="163671" y="165100"/>
                </a:lnTo>
                <a:cubicBezTo>
                  <a:pt x="171450" y="165100"/>
                  <a:pt x="177760" y="158790"/>
                  <a:pt x="177760" y="151011"/>
                </a:cubicBezTo>
                <a:cubicBezTo>
                  <a:pt x="177760" y="147796"/>
                  <a:pt x="176689" y="144701"/>
                  <a:pt x="174665" y="142200"/>
                </a:cubicBezTo>
                <a:lnTo>
                  <a:pt x="170775" y="137358"/>
                </a:lnTo>
                <a:cubicBezTo>
                  <a:pt x="158909" y="122436"/>
                  <a:pt x="152400" y="103902"/>
                  <a:pt x="152400" y="84812"/>
                </a:cubicBezTo>
                <a:lnTo>
                  <a:pt x="152400" y="76200"/>
                </a:lnTo>
                <a:cubicBezTo>
                  <a:pt x="152400" y="45482"/>
                  <a:pt x="130572" y="19844"/>
                  <a:pt x="101600" y="13970"/>
                </a:cubicBezTo>
                <a:lnTo>
                  <a:pt x="101600" y="12700"/>
                </a:lnTo>
                <a:cubicBezTo>
                  <a:pt x="101600" y="5675"/>
                  <a:pt x="95925" y="0"/>
                  <a:pt x="88900" y="0"/>
                </a:cubicBezTo>
                <a:close/>
                <a:moveTo>
                  <a:pt x="64294" y="184150"/>
                </a:moveTo>
                <a:cubicBezTo>
                  <a:pt x="67112" y="195104"/>
                  <a:pt x="77073" y="203200"/>
                  <a:pt x="88900" y="203200"/>
                </a:cubicBezTo>
                <a:cubicBezTo>
                  <a:pt x="100727" y="203200"/>
                  <a:pt x="110688" y="195104"/>
                  <a:pt x="113506" y="184150"/>
                </a:cubicBezTo>
                <a:lnTo>
                  <a:pt x="64294" y="184150"/>
                </a:lnTo>
                <a:close/>
              </a:path>
            </a:pathLst>
          </a:custGeom>
          <a:solidFill>
            <a:srgbClr val="38B2AC"/>
          </a:solidFill>
        </p:spPr>
      </p:sp>
      <p:sp>
        <p:nvSpPr>
          <p:cNvPr id="78" name="Text 76"/>
          <p:cNvSpPr/>
          <p:nvPr/>
        </p:nvSpPr>
        <p:spPr>
          <a:xfrm>
            <a:off x="6156960" y="8224044"/>
            <a:ext cx="9144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即时预警</a:t>
            </a:r>
            <a:endParaRPr lang="en-US" sz="1600" dirty="0"/>
          </a:p>
        </p:txBody>
      </p:sp>
      <p:sp>
        <p:nvSpPr>
          <p:cNvPr id="79" name="Text 77"/>
          <p:cNvSpPr/>
          <p:nvPr/>
        </p:nvSpPr>
        <p:spPr>
          <a:xfrm>
            <a:off x="5801360" y="8630444"/>
            <a:ext cx="47371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登录即弹窗提示新预警，确保风险及时传达</a:t>
            </a:r>
            <a:endParaRPr lang="en-US" sz="1600" dirty="0"/>
          </a:p>
        </p:txBody>
      </p:sp>
      <p:sp>
        <p:nvSpPr>
          <p:cNvPr id="80" name="Shape 78"/>
          <p:cNvSpPr/>
          <p:nvPr/>
        </p:nvSpPr>
        <p:spPr>
          <a:xfrm>
            <a:off x="10774680" y="8066566"/>
            <a:ext cx="4963160" cy="975360"/>
          </a:xfrm>
          <a:custGeom>
            <a:avLst/>
            <a:gdLst/>
            <a:ahLst/>
            <a:cxnLst/>
            <a:rect l="l" t="t" r="r" b="b"/>
            <a:pathLst>
              <a:path w="4963160" h="975360">
                <a:moveTo>
                  <a:pt x="101603" y="0"/>
                </a:moveTo>
                <a:lnTo>
                  <a:pt x="4861557" y="0"/>
                </a:lnTo>
                <a:cubicBezTo>
                  <a:pt x="4917671" y="0"/>
                  <a:pt x="4963160" y="45489"/>
                  <a:pt x="4963160" y="101603"/>
                </a:cubicBezTo>
                <a:lnTo>
                  <a:pt x="4963160" y="873757"/>
                </a:lnTo>
                <a:cubicBezTo>
                  <a:pt x="4963160" y="929871"/>
                  <a:pt x="4917671" y="975360"/>
                  <a:pt x="4861557" y="975360"/>
                </a:cubicBezTo>
                <a:lnTo>
                  <a:pt x="101603" y="975360"/>
                </a:lnTo>
                <a:cubicBezTo>
                  <a:pt x="45489" y="975360"/>
                  <a:pt x="0" y="929871"/>
                  <a:pt x="0" y="87375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38B2AC">
              <a:alpha val="10196"/>
            </a:srgbClr>
          </a:solidFill>
          <a:ln w="10160">
            <a:solidFill>
              <a:srgbClr val="38B2AC">
                <a:alpha val="30196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0957560" y="8274844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87166" y="8612"/>
                </a:moveTo>
                <a:cubicBezTo>
                  <a:pt x="178475" y="-79"/>
                  <a:pt x="164425" y="-79"/>
                  <a:pt x="155734" y="8612"/>
                </a:cubicBezTo>
                <a:lnTo>
                  <a:pt x="146050" y="18296"/>
                </a:lnTo>
                <a:lnTo>
                  <a:pt x="184904" y="57150"/>
                </a:lnTo>
                <a:lnTo>
                  <a:pt x="194588" y="47466"/>
                </a:lnTo>
                <a:cubicBezTo>
                  <a:pt x="203279" y="38775"/>
                  <a:pt x="203279" y="24725"/>
                  <a:pt x="194588" y="16034"/>
                </a:cubicBezTo>
                <a:lnTo>
                  <a:pt x="187166" y="8612"/>
                </a:lnTo>
                <a:close/>
                <a:moveTo>
                  <a:pt x="68421" y="95925"/>
                </a:moveTo>
                <a:cubicBezTo>
                  <a:pt x="66000" y="98346"/>
                  <a:pt x="64135" y="101322"/>
                  <a:pt x="63063" y="104616"/>
                </a:cubicBezTo>
                <a:lnTo>
                  <a:pt x="51316" y="139859"/>
                </a:lnTo>
                <a:cubicBezTo>
                  <a:pt x="50165" y="143272"/>
                  <a:pt x="51078" y="147042"/>
                  <a:pt x="53618" y="149622"/>
                </a:cubicBezTo>
                <a:cubicBezTo>
                  <a:pt x="56158" y="152202"/>
                  <a:pt x="59928" y="153075"/>
                  <a:pt x="63381" y="151924"/>
                </a:cubicBezTo>
                <a:lnTo>
                  <a:pt x="98623" y="140176"/>
                </a:lnTo>
                <a:cubicBezTo>
                  <a:pt x="101878" y="139105"/>
                  <a:pt x="104854" y="137239"/>
                  <a:pt x="107315" y="134818"/>
                </a:cubicBezTo>
                <a:lnTo>
                  <a:pt x="171450" y="70604"/>
                </a:lnTo>
                <a:lnTo>
                  <a:pt x="132596" y="31750"/>
                </a:lnTo>
                <a:lnTo>
                  <a:pt x="68421" y="95925"/>
                </a:lnTo>
                <a:close/>
                <a:moveTo>
                  <a:pt x="38100" y="25400"/>
                </a:moveTo>
                <a:cubicBezTo>
                  <a:pt x="17066" y="25400"/>
                  <a:pt x="0" y="42466"/>
                  <a:pt x="0" y="63500"/>
                </a:cubicBezTo>
                <a:lnTo>
                  <a:pt x="0" y="165100"/>
                </a:lnTo>
                <a:cubicBezTo>
                  <a:pt x="0" y="186134"/>
                  <a:pt x="17066" y="203200"/>
                  <a:pt x="38100" y="203200"/>
                </a:cubicBezTo>
                <a:lnTo>
                  <a:pt x="139700" y="203200"/>
                </a:lnTo>
                <a:cubicBezTo>
                  <a:pt x="160734" y="203200"/>
                  <a:pt x="177800" y="186134"/>
                  <a:pt x="177800" y="165100"/>
                </a:cubicBezTo>
                <a:lnTo>
                  <a:pt x="177800" y="127000"/>
                </a:lnTo>
                <a:cubicBezTo>
                  <a:pt x="177800" y="119975"/>
                  <a:pt x="172125" y="114300"/>
                  <a:pt x="165100" y="114300"/>
                </a:cubicBezTo>
                <a:cubicBezTo>
                  <a:pt x="158075" y="114300"/>
                  <a:pt x="152400" y="119975"/>
                  <a:pt x="152400" y="127000"/>
                </a:cubicBezTo>
                <a:lnTo>
                  <a:pt x="152400" y="165100"/>
                </a:lnTo>
                <a:cubicBezTo>
                  <a:pt x="152400" y="172125"/>
                  <a:pt x="146725" y="177800"/>
                  <a:pt x="139700" y="177800"/>
                </a:cubicBezTo>
                <a:lnTo>
                  <a:pt x="38100" y="177800"/>
                </a:lnTo>
                <a:cubicBezTo>
                  <a:pt x="31075" y="177800"/>
                  <a:pt x="25400" y="172125"/>
                  <a:pt x="25400" y="165100"/>
                </a:cubicBezTo>
                <a:lnTo>
                  <a:pt x="25400" y="63500"/>
                </a:lnTo>
                <a:cubicBezTo>
                  <a:pt x="25400" y="56475"/>
                  <a:pt x="31075" y="50800"/>
                  <a:pt x="38100" y="50800"/>
                </a:cubicBezTo>
                <a:lnTo>
                  <a:pt x="76200" y="50800"/>
                </a:lnTo>
                <a:cubicBezTo>
                  <a:pt x="83225" y="50800"/>
                  <a:pt x="88900" y="45125"/>
                  <a:pt x="88900" y="38100"/>
                </a:cubicBezTo>
                <a:cubicBezTo>
                  <a:pt x="88900" y="31075"/>
                  <a:pt x="83225" y="25400"/>
                  <a:pt x="76200" y="25400"/>
                </a:cubicBezTo>
                <a:lnTo>
                  <a:pt x="38100" y="25400"/>
                </a:lnTo>
                <a:close/>
              </a:path>
            </a:pathLst>
          </a:custGeom>
          <a:solidFill>
            <a:srgbClr val="38B2AC"/>
          </a:solidFill>
        </p:spPr>
      </p:sp>
      <p:sp>
        <p:nvSpPr>
          <p:cNvPr id="82" name="Text 80"/>
          <p:cNvSpPr/>
          <p:nvPr/>
        </p:nvSpPr>
        <p:spPr>
          <a:xfrm>
            <a:off x="11287760" y="8224044"/>
            <a:ext cx="9144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整改支持</a:t>
            </a:r>
            <a:endParaRPr lang="en-US" sz="1600" dirty="0"/>
          </a:p>
        </p:txBody>
      </p:sp>
      <p:sp>
        <p:nvSpPr>
          <p:cNvPr id="83" name="Text 81"/>
          <p:cNvSpPr/>
          <p:nvPr/>
        </p:nvSpPr>
        <p:spPr>
          <a:xfrm>
            <a:off x="10932160" y="8630444"/>
            <a:ext cx="47371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支持整改计划书提交，助力学业恢复</a:t>
            </a:r>
            <a:endParaRPr lang="en-US" sz="1600" dirty="0"/>
          </a:p>
        </p:txBody>
      </p:sp>
      <p:pic>
        <p:nvPicPr>
          <p:cNvPr id="84" name="图片 8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52380" y="262255"/>
            <a:ext cx="4869180" cy="2714625"/>
          </a:xfrm>
          <a:prstGeom prst="rect">
            <a:avLst/>
          </a:prstGeom>
        </p:spPr>
      </p:pic>
      <p:pic>
        <p:nvPicPr>
          <p:cNvPr id="85" name="图片 8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9395" y="5290185"/>
            <a:ext cx="6606540" cy="2528570"/>
          </a:xfrm>
          <a:prstGeom prst="rect">
            <a:avLst/>
          </a:prstGeom>
        </p:spPr>
      </p:pic>
      <p:pic>
        <p:nvPicPr>
          <p:cNvPr id="86" name="图片 8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4680" y="3091815"/>
            <a:ext cx="2750820" cy="219837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000" y="508000"/>
            <a:ext cx="2070100" cy="406400"/>
          </a:xfrm>
          <a:custGeom>
            <a:avLst/>
            <a:gdLst/>
            <a:ahLst/>
            <a:cxnLst/>
            <a:rect l="l" t="t" r="r" b="b"/>
            <a:pathLst>
              <a:path w="2070100" h="406400">
                <a:moveTo>
                  <a:pt x="50800" y="0"/>
                </a:moveTo>
                <a:lnTo>
                  <a:pt x="2019300" y="0"/>
                </a:lnTo>
                <a:cubicBezTo>
                  <a:pt x="2047337" y="0"/>
                  <a:pt x="2070100" y="22763"/>
                  <a:pt x="2070100" y="50800"/>
                </a:cubicBezTo>
                <a:lnTo>
                  <a:pt x="2070100" y="355600"/>
                </a:lnTo>
                <a:cubicBezTo>
                  <a:pt x="2070100" y="383637"/>
                  <a:pt x="2047337" y="406400"/>
                  <a:pt x="2019300" y="406400"/>
                </a:cubicBezTo>
                <a:lnTo>
                  <a:pt x="50800" y="406400"/>
                </a:lnTo>
                <a:cubicBezTo>
                  <a:pt x="22763" y="406400"/>
                  <a:pt x="0" y="383637"/>
                  <a:pt x="0" y="355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660400" y="599442"/>
            <a:ext cx="1851184" cy="233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kern="0" spc="35" dirty="0">
                <a:solidFill>
                  <a:srgbClr val="38B2A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VERSION PLANNING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8000" y="1016000"/>
            <a:ext cx="154686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2E8F0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版本规划：V1.0 vs V2.0核心差异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8000" y="1625600"/>
            <a:ext cx="1016000" cy="50800"/>
          </a:xfrm>
          <a:custGeom>
            <a:avLst/>
            <a:gdLst/>
            <a:ahLst/>
            <a:cxnLst/>
            <a:rect l="l" t="t" r="r" b="b"/>
            <a:pathLst>
              <a:path w="1016000" h="50800">
                <a:moveTo>
                  <a:pt x="0" y="0"/>
                </a:moveTo>
                <a:lnTo>
                  <a:pt x="1016000" y="0"/>
                </a:lnTo>
                <a:lnTo>
                  <a:pt x="10160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38B2AC"/>
          </a:solidFill>
        </p:spPr>
      </p:sp>
      <p:sp>
        <p:nvSpPr>
          <p:cNvPr id="6" name="Text 4"/>
          <p:cNvSpPr/>
          <p:nvPr/>
        </p:nvSpPr>
        <p:spPr>
          <a:xfrm>
            <a:off x="508000" y="1778000"/>
            <a:ext cx="153416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1809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从"数字化"到"智能化"的升级路径</a:t>
            </a:r>
            <a:endParaRPr lang="en-US" sz="1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/>
        </p:nvGraphicFramePr>
        <p:xfrm>
          <a:off x="508000" y="2286000"/>
          <a:ext cx="15049500" cy="5702300"/>
        </p:xfrm>
        <a:graphic>
          <a:graphicData uri="http://schemas.openxmlformats.org/drawingml/2006/table">
            <a:tbl>
              <a:tblPr/>
              <a:tblGrid>
                <a:gridCol w="1397000"/>
                <a:gridCol w="5346700"/>
                <a:gridCol w="8305800"/>
              </a:tblGrid>
              <a:tr h="950383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38B2A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维度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0320" cap="flat" cmpd="sng" algn="ctr">
                      <a:solidFill>
                        <a:srgbClr val="38B2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V1.0（基础版）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0320" cap="flat" cmpd="sng" algn="ctr">
                      <a:solidFill>
                        <a:srgbClr val="38B2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38B2A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V2.0（AI增强版）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0320" cap="flat" cmpd="sng" algn="ctr">
                      <a:solidFill>
                        <a:srgbClr val="38B2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950383">
                <a:tc>
                  <a:txBody>
                    <a:bodyPr/>
                    <a:lstStyle/>
                    <a:p>
                      <a:r>
                        <a:rPr lang="en-US" sz="1600" b="1" u="none" dirty="0">
                          <a:solidFill>
                            <a:srgbClr val="38B2A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核心功能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u="none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• 多角色基础权限管控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r>
                        <a:rPr lang="en-US" sz="1600" u="none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                                    • 教务数据（成绩）同步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r>
                        <a:rPr lang="en-US" sz="1600" u="none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                                    • 规则化预警触发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r>
                        <a:rPr lang="en-US" sz="1600" u="none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                                    • 基础数据统计（无AI分析）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r>
                        <a:rPr lang="en-US" sz="1600" u="none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                                    • 整改计划提交/干预记录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u="none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兼容V1.0所有功能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r>
                        <a:rPr lang="en-US" sz="1600" u="none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                                    AI接口集成：风险等级智能判定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r>
                        <a:rPr lang="en-US" sz="1600" u="none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                                    预警文案自动生成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r>
                        <a:rPr lang="en-US" sz="1600" u="none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                                    智能化数据统计分析（AI辅助趋势预测）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r>
                        <a:rPr lang="en-US" sz="1600" u="none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                                    预警干预效果AI评估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950383">
                <a:tc>
                  <a:txBody>
                    <a:bodyPr/>
                    <a:lstStyle/>
                    <a:p>
                      <a:r>
                        <a:rPr lang="en-US" sz="1600" b="1" u="none" dirty="0">
                          <a:solidFill>
                            <a:srgbClr val="38B2A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技术栈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u="none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Spring Boot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r>
                        <a:rPr lang="en-US" sz="1600" u="none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                                    Vue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r>
                        <a:rPr lang="en-US" sz="1600" u="none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                                    MySQL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r>
                        <a:rPr lang="en-US" sz="1600" u="none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                                    ECharts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u="none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Spring Boot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r>
                        <a:rPr lang="en-US" sz="1600" u="none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                                    Vue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r>
                        <a:rPr lang="en-US" sz="1600" u="none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                                    MySQL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r>
                        <a:rPr lang="en-US" sz="1600" u="none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                                    ECharts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r>
                        <a:rPr lang="en-US" sz="1600" u="none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                                    + 第三方AI API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950383">
                <a:tc>
                  <a:txBody>
                    <a:bodyPr/>
                    <a:lstStyle/>
                    <a:p>
                      <a:r>
                        <a:rPr lang="en-US" sz="1600" b="1" u="none" dirty="0">
                          <a:solidFill>
                            <a:srgbClr val="38B2A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核心价值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u="none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解决"预警流程数字化"，替代人工统计/规则匹配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u="none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解决"预警智能化"，提升风险判定精准度、数据分析深度、干预效率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950383">
                <a:tc>
                  <a:txBody>
                    <a:bodyPr/>
                    <a:lstStyle/>
                    <a:p>
                      <a:r>
                        <a:rPr lang="en-US" sz="1600" b="1" u="none" dirty="0">
                          <a:solidFill>
                            <a:srgbClr val="38B2A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界面适配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u="none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支持多角色基础功能界面，满足核心业务操作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u="none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保留所有基础界面，新增AI分析结果展示界面（趋势预测图、AI文案生成页）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950383">
                <a:tc>
                  <a:txBody>
                    <a:bodyPr/>
                    <a:lstStyle/>
                    <a:p>
                      <a:r>
                        <a:rPr lang="en-US" sz="1600" b="1" u="none" dirty="0">
                          <a:solidFill>
                            <a:srgbClr val="38B2A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部署状态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u="none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可独立运行，已提交GitHub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u="none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兼容V1.0，新增AI模块，已提交GitHub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3410" y="6797042"/>
            <a:ext cx="73025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V1.0 教务处主任基础统计图表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538061" y="7851142"/>
            <a:ext cx="14605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335010" y="6797042"/>
            <a:ext cx="73025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3333" y="423333"/>
            <a:ext cx="1735667" cy="338667"/>
          </a:xfrm>
          <a:custGeom>
            <a:avLst/>
            <a:gdLst/>
            <a:ahLst/>
            <a:cxnLst/>
            <a:rect l="l" t="t" r="r" b="b"/>
            <a:pathLst>
              <a:path w="1735667" h="338667">
                <a:moveTo>
                  <a:pt x="42333" y="0"/>
                </a:moveTo>
                <a:lnTo>
                  <a:pt x="1693333" y="0"/>
                </a:lnTo>
                <a:cubicBezTo>
                  <a:pt x="1716713" y="0"/>
                  <a:pt x="1735667" y="18953"/>
                  <a:pt x="1735667" y="42333"/>
                </a:cubicBezTo>
                <a:lnTo>
                  <a:pt x="1735667" y="296333"/>
                </a:lnTo>
                <a:cubicBezTo>
                  <a:pt x="1735667" y="319713"/>
                  <a:pt x="1716713" y="338667"/>
                  <a:pt x="1693333" y="338667"/>
                </a:cubicBezTo>
                <a:lnTo>
                  <a:pt x="42333" y="338667"/>
                </a:lnTo>
                <a:cubicBezTo>
                  <a:pt x="18953" y="338667"/>
                  <a:pt x="0" y="319713"/>
                  <a:pt x="0" y="2963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550333" y="499535"/>
            <a:ext cx="1552046" cy="1947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5" b="1" kern="0" spc="29" dirty="0">
                <a:solidFill>
                  <a:srgbClr val="38B2A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V1.0 ARCHITECTURE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23333" y="846667"/>
            <a:ext cx="15599833" cy="423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000" b="1" dirty="0">
                <a:solidFill>
                  <a:srgbClr val="E2E8F0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V1.0（基础版）设计与实现 - 整体架构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23333" y="1354667"/>
            <a:ext cx="846667" cy="42333"/>
          </a:xfrm>
          <a:custGeom>
            <a:avLst/>
            <a:gdLst/>
            <a:ahLst/>
            <a:cxnLst/>
            <a:rect l="l" t="t" r="r" b="b"/>
            <a:pathLst>
              <a:path w="846667" h="42333">
                <a:moveTo>
                  <a:pt x="0" y="0"/>
                </a:moveTo>
                <a:lnTo>
                  <a:pt x="846667" y="0"/>
                </a:lnTo>
                <a:lnTo>
                  <a:pt x="846667" y="42333"/>
                </a:lnTo>
                <a:lnTo>
                  <a:pt x="0" y="42333"/>
                </a:lnTo>
                <a:lnTo>
                  <a:pt x="0" y="0"/>
                </a:lnTo>
                <a:close/>
              </a:path>
            </a:pathLst>
          </a:custGeom>
          <a:solidFill>
            <a:srgbClr val="38B2AC"/>
          </a:solidFill>
        </p:spPr>
      </p:sp>
      <p:sp>
        <p:nvSpPr>
          <p:cNvPr id="6" name="Shape 4"/>
          <p:cNvSpPr/>
          <p:nvPr/>
        </p:nvSpPr>
        <p:spPr>
          <a:xfrm>
            <a:off x="444500" y="1566333"/>
            <a:ext cx="42333" cy="9228667"/>
          </a:xfrm>
          <a:custGeom>
            <a:avLst/>
            <a:gdLst/>
            <a:ahLst/>
            <a:cxnLst/>
            <a:rect l="l" t="t" r="r" b="b"/>
            <a:pathLst>
              <a:path w="42333" h="9228667">
                <a:moveTo>
                  <a:pt x="0" y="0"/>
                </a:moveTo>
                <a:lnTo>
                  <a:pt x="42333" y="0"/>
                </a:lnTo>
                <a:lnTo>
                  <a:pt x="42333" y="9228667"/>
                </a:lnTo>
                <a:lnTo>
                  <a:pt x="0" y="9228667"/>
                </a:lnTo>
                <a:lnTo>
                  <a:pt x="0" y="0"/>
                </a:lnTo>
                <a:close/>
              </a:path>
            </a:pathLst>
          </a:custGeom>
          <a:solidFill>
            <a:srgbClr val="38B2AC"/>
          </a:solidFill>
        </p:spPr>
      </p:sp>
      <p:sp>
        <p:nvSpPr>
          <p:cNvPr id="7" name="Text 5"/>
          <p:cNvSpPr/>
          <p:nvPr/>
        </p:nvSpPr>
        <p:spPr>
          <a:xfrm>
            <a:off x="677333" y="1566333"/>
            <a:ext cx="6011333" cy="296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5" b="1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三层架构设计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77333" y="2032000"/>
            <a:ext cx="338667" cy="338667"/>
          </a:xfrm>
          <a:custGeom>
            <a:avLst/>
            <a:gdLst/>
            <a:ahLst/>
            <a:cxnLst/>
            <a:rect l="l" t="t" r="r" b="b"/>
            <a:pathLst>
              <a:path w="338667" h="338667">
                <a:moveTo>
                  <a:pt x="42333" y="0"/>
                </a:moveTo>
                <a:lnTo>
                  <a:pt x="296333" y="0"/>
                </a:lnTo>
                <a:cubicBezTo>
                  <a:pt x="319713" y="0"/>
                  <a:pt x="338667" y="18953"/>
                  <a:pt x="338667" y="42333"/>
                </a:cubicBezTo>
                <a:lnTo>
                  <a:pt x="338667" y="296333"/>
                </a:lnTo>
                <a:cubicBezTo>
                  <a:pt x="338667" y="319713"/>
                  <a:pt x="319713" y="338667"/>
                  <a:pt x="296333" y="338667"/>
                </a:cubicBezTo>
                <a:lnTo>
                  <a:pt x="42333" y="338667"/>
                </a:lnTo>
                <a:cubicBezTo>
                  <a:pt x="18953" y="338667"/>
                  <a:pt x="0" y="319713"/>
                  <a:pt x="0" y="2963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38B2AC"/>
          </a:solidFill>
        </p:spPr>
      </p:sp>
      <p:sp>
        <p:nvSpPr>
          <p:cNvPr id="9" name="Shape 7"/>
          <p:cNvSpPr/>
          <p:nvPr/>
        </p:nvSpPr>
        <p:spPr>
          <a:xfrm>
            <a:off x="775229" y="2127250"/>
            <a:ext cx="148167" cy="148167"/>
          </a:xfrm>
          <a:custGeom>
            <a:avLst/>
            <a:gdLst/>
            <a:ahLst/>
            <a:cxnLst/>
            <a:rect l="l" t="t" r="r" b="b"/>
            <a:pathLst>
              <a:path w="148167" h="148167">
                <a:moveTo>
                  <a:pt x="18521" y="9260"/>
                </a:moveTo>
                <a:cubicBezTo>
                  <a:pt x="8305" y="9260"/>
                  <a:pt x="0" y="17566"/>
                  <a:pt x="0" y="27781"/>
                </a:cubicBezTo>
                <a:lnTo>
                  <a:pt x="0" y="101865"/>
                </a:lnTo>
                <a:cubicBezTo>
                  <a:pt x="0" y="112080"/>
                  <a:pt x="8305" y="120385"/>
                  <a:pt x="18521" y="120385"/>
                </a:cubicBezTo>
                <a:lnTo>
                  <a:pt x="60193" y="120385"/>
                </a:lnTo>
                <a:lnTo>
                  <a:pt x="55562" y="134276"/>
                </a:lnTo>
                <a:lnTo>
                  <a:pt x="34727" y="134276"/>
                </a:lnTo>
                <a:cubicBezTo>
                  <a:pt x="30878" y="134276"/>
                  <a:pt x="27781" y="137372"/>
                  <a:pt x="27781" y="141221"/>
                </a:cubicBezTo>
                <a:cubicBezTo>
                  <a:pt x="27781" y="145070"/>
                  <a:pt x="30878" y="148167"/>
                  <a:pt x="34727" y="148167"/>
                </a:cubicBezTo>
                <a:lnTo>
                  <a:pt x="113440" y="148167"/>
                </a:lnTo>
                <a:cubicBezTo>
                  <a:pt x="117289" y="148167"/>
                  <a:pt x="120385" y="145070"/>
                  <a:pt x="120385" y="141221"/>
                </a:cubicBezTo>
                <a:cubicBezTo>
                  <a:pt x="120385" y="137372"/>
                  <a:pt x="117289" y="134276"/>
                  <a:pt x="113440" y="134276"/>
                </a:cubicBezTo>
                <a:lnTo>
                  <a:pt x="92604" y="134276"/>
                </a:lnTo>
                <a:lnTo>
                  <a:pt x="87974" y="120385"/>
                </a:lnTo>
                <a:lnTo>
                  <a:pt x="129646" y="120385"/>
                </a:lnTo>
                <a:cubicBezTo>
                  <a:pt x="139861" y="120385"/>
                  <a:pt x="148167" y="112080"/>
                  <a:pt x="148167" y="101865"/>
                </a:cubicBezTo>
                <a:lnTo>
                  <a:pt x="148167" y="27781"/>
                </a:lnTo>
                <a:cubicBezTo>
                  <a:pt x="148167" y="17566"/>
                  <a:pt x="139861" y="9260"/>
                  <a:pt x="129646" y="9260"/>
                </a:cubicBezTo>
                <a:lnTo>
                  <a:pt x="18521" y="9260"/>
                </a:lnTo>
                <a:close/>
                <a:moveTo>
                  <a:pt x="27781" y="27781"/>
                </a:moveTo>
                <a:lnTo>
                  <a:pt x="120385" y="27781"/>
                </a:lnTo>
                <a:cubicBezTo>
                  <a:pt x="125508" y="27781"/>
                  <a:pt x="129646" y="31919"/>
                  <a:pt x="129646" y="37042"/>
                </a:cubicBezTo>
                <a:lnTo>
                  <a:pt x="129646" y="83344"/>
                </a:lnTo>
                <a:cubicBezTo>
                  <a:pt x="129646" y="88466"/>
                  <a:pt x="125508" y="92604"/>
                  <a:pt x="120385" y="92604"/>
                </a:cubicBezTo>
                <a:lnTo>
                  <a:pt x="27781" y="92604"/>
                </a:lnTo>
                <a:cubicBezTo>
                  <a:pt x="22659" y="92604"/>
                  <a:pt x="18521" y="88466"/>
                  <a:pt x="18521" y="83344"/>
                </a:cubicBezTo>
                <a:lnTo>
                  <a:pt x="18521" y="37042"/>
                </a:lnTo>
                <a:cubicBezTo>
                  <a:pt x="18521" y="31919"/>
                  <a:pt x="22659" y="27781"/>
                  <a:pt x="27781" y="27781"/>
                </a:cubicBezTo>
                <a:close/>
              </a:path>
            </a:pathLst>
          </a:custGeom>
          <a:solidFill>
            <a:srgbClr val="1A202C"/>
          </a:solidFill>
        </p:spPr>
      </p:sp>
      <p:sp>
        <p:nvSpPr>
          <p:cNvPr id="10" name="Text 8"/>
          <p:cNvSpPr/>
          <p:nvPr/>
        </p:nvSpPr>
        <p:spPr>
          <a:xfrm>
            <a:off x="1100667" y="2053167"/>
            <a:ext cx="1174750" cy="296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38B2A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前端层 (Vue)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77333" y="2455333"/>
            <a:ext cx="5979583" cy="24341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5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多角色页面适配，提供完整的用户交互界面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77333" y="2780771"/>
            <a:ext cx="5979583" cy="2116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5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公共模块：登录页、个人中心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77333" y="3034771"/>
            <a:ext cx="5979583" cy="2116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5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学生端：成绩/预警/整改计划模块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77333" y="3288771"/>
            <a:ext cx="5979583" cy="2116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5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辅导员端：学生信息/干预记录模块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77333" y="3542771"/>
            <a:ext cx="5979583" cy="2116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5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教务处主任端：规则配置/数据统计模块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77333" y="3796771"/>
            <a:ext cx="5979583" cy="2116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5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教师端：课程/考勤/成绩模块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77333" y="4050771"/>
            <a:ext cx="5979583" cy="2116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5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管理员端：用户管理/数据同步/运维模块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77333" y="4431771"/>
            <a:ext cx="338667" cy="338667"/>
          </a:xfrm>
          <a:custGeom>
            <a:avLst/>
            <a:gdLst/>
            <a:ahLst/>
            <a:cxnLst/>
            <a:rect l="l" t="t" r="r" b="b"/>
            <a:pathLst>
              <a:path w="338667" h="338667">
                <a:moveTo>
                  <a:pt x="42333" y="0"/>
                </a:moveTo>
                <a:lnTo>
                  <a:pt x="296333" y="0"/>
                </a:lnTo>
                <a:cubicBezTo>
                  <a:pt x="319713" y="0"/>
                  <a:pt x="338667" y="18953"/>
                  <a:pt x="338667" y="42333"/>
                </a:cubicBezTo>
                <a:lnTo>
                  <a:pt x="338667" y="296333"/>
                </a:lnTo>
                <a:cubicBezTo>
                  <a:pt x="338667" y="319713"/>
                  <a:pt x="319713" y="338667"/>
                  <a:pt x="296333" y="338667"/>
                </a:cubicBezTo>
                <a:lnTo>
                  <a:pt x="42333" y="338667"/>
                </a:lnTo>
                <a:cubicBezTo>
                  <a:pt x="18953" y="338667"/>
                  <a:pt x="0" y="319713"/>
                  <a:pt x="0" y="2963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4A5568"/>
          </a:solidFill>
        </p:spPr>
      </p:sp>
      <p:sp>
        <p:nvSpPr>
          <p:cNvPr id="19" name="Shape 17"/>
          <p:cNvSpPr/>
          <p:nvPr/>
        </p:nvSpPr>
        <p:spPr>
          <a:xfrm>
            <a:off x="784490" y="4527021"/>
            <a:ext cx="129646" cy="148167"/>
          </a:xfrm>
          <a:custGeom>
            <a:avLst/>
            <a:gdLst/>
            <a:ahLst/>
            <a:cxnLst/>
            <a:rect l="l" t="t" r="r" b="b"/>
            <a:pathLst>
              <a:path w="129646" h="148167">
                <a:moveTo>
                  <a:pt x="18521" y="9260"/>
                </a:moveTo>
                <a:cubicBezTo>
                  <a:pt x="8305" y="9260"/>
                  <a:pt x="0" y="17566"/>
                  <a:pt x="0" y="27781"/>
                </a:cubicBezTo>
                <a:lnTo>
                  <a:pt x="0" y="46302"/>
                </a:lnTo>
                <a:cubicBezTo>
                  <a:pt x="0" y="56517"/>
                  <a:pt x="8305" y="64823"/>
                  <a:pt x="18521" y="64823"/>
                </a:cubicBezTo>
                <a:lnTo>
                  <a:pt x="111125" y="64823"/>
                </a:lnTo>
                <a:cubicBezTo>
                  <a:pt x="121340" y="64823"/>
                  <a:pt x="129646" y="56517"/>
                  <a:pt x="129646" y="46302"/>
                </a:cubicBezTo>
                <a:lnTo>
                  <a:pt x="129646" y="27781"/>
                </a:lnTo>
                <a:cubicBezTo>
                  <a:pt x="129646" y="17566"/>
                  <a:pt x="121340" y="9260"/>
                  <a:pt x="111125" y="9260"/>
                </a:cubicBezTo>
                <a:lnTo>
                  <a:pt x="18521" y="9260"/>
                </a:lnTo>
                <a:close/>
                <a:moveTo>
                  <a:pt x="81029" y="30096"/>
                </a:moveTo>
                <a:cubicBezTo>
                  <a:pt x="84862" y="30096"/>
                  <a:pt x="87974" y="33208"/>
                  <a:pt x="87974" y="37042"/>
                </a:cubicBezTo>
                <a:cubicBezTo>
                  <a:pt x="87974" y="40875"/>
                  <a:pt x="84862" y="43987"/>
                  <a:pt x="81029" y="43987"/>
                </a:cubicBezTo>
                <a:cubicBezTo>
                  <a:pt x="77195" y="43987"/>
                  <a:pt x="74083" y="40875"/>
                  <a:pt x="74083" y="37042"/>
                </a:cubicBezTo>
                <a:cubicBezTo>
                  <a:pt x="74083" y="33208"/>
                  <a:pt x="77195" y="30096"/>
                  <a:pt x="81029" y="30096"/>
                </a:cubicBezTo>
                <a:close/>
                <a:moveTo>
                  <a:pt x="97234" y="37042"/>
                </a:moveTo>
                <a:cubicBezTo>
                  <a:pt x="97234" y="33208"/>
                  <a:pt x="100346" y="30096"/>
                  <a:pt x="104180" y="30096"/>
                </a:cubicBezTo>
                <a:cubicBezTo>
                  <a:pt x="108013" y="30096"/>
                  <a:pt x="111125" y="33208"/>
                  <a:pt x="111125" y="37042"/>
                </a:cubicBezTo>
                <a:cubicBezTo>
                  <a:pt x="111125" y="40875"/>
                  <a:pt x="108013" y="43987"/>
                  <a:pt x="104180" y="43987"/>
                </a:cubicBezTo>
                <a:cubicBezTo>
                  <a:pt x="100346" y="43987"/>
                  <a:pt x="97234" y="40875"/>
                  <a:pt x="97234" y="37042"/>
                </a:cubicBezTo>
                <a:close/>
                <a:moveTo>
                  <a:pt x="18521" y="83344"/>
                </a:moveTo>
                <a:cubicBezTo>
                  <a:pt x="8305" y="83344"/>
                  <a:pt x="0" y="91649"/>
                  <a:pt x="0" y="101865"/>
                </a:cubicBezTo>
                <a:lnTo>
                  <a:pt x="0" y="120385"/>
                </a:lnTo>
                <a:cubicBezTo>
                  <a:pt x="0" y="130601"/>
                  <a:pt x="8305" y="138906"/>
                  <a:pt x="18521" y="138906"/>
                </a:cubicBezTo>
                <a:lnTo>
                  <a:pt x="111125" y="138906"/>
                </a:lnTo>
                <a:cubicBezTo>
                  <a:pt x="121340" y="138906"/>
                  <a:pt x="129646" y="130601"/>
                  <a:pt x="129646" y="120385"/>
                </a:cubicBezTo>
                <a:lnTo>
                  <a:pt x="129646" y="101865"/>
                </a:lnTo>
                <a:cubicBezTo>
                  <a:pt x="129646" y="91649"/>
                  <a:pt x="121340" y="83344"/>
                  <a:pt x="111125" y="83344"/>
                </a:cubicBezTo>
                <a:lnTo>
                  <a:pt x="18521" y="83344"/>
                </a:lnTo>
                <a:close/>
                <a:moveTo>
                  <a:pt x="81029" y="104180"/>
                </a:moveTo>
                <a:cubicBezTo>
                  <a:pt x="84862" y="104180"/>
                  <a:pt x="87974" y="107292"/>
                  <a:pt x="87974" y="111125"/>
                </a:cubicBezTo>
                <a:cubicBezTo>
                  <a:pt x="87974" y="114958"/>
                  <a:pt x="84862" y="118070"/>
                  <a:pt x="81029" y="118070"/>
                </a:cubicBezTo>
                <a:cubicBezTo>
                  <a:pt x="77195" y="118070"/>
                  <a:pt x="74083" y="114958"/>
                  <a:pt x="74083" y="111125"/>
                </a:cubicBezTo>
                <a:cubicBezTo>
                  <a:pt x="74083" y="107292"/>
                  <a:pt x="77195" y="104180"/>
                  <a:pt x="81029" y="104180"/>
                </a:cubicBezTo>
                <a:close/>
                <a:moveTo>
                  <a:pt x="97234" y="111125"/>
                </a:moveTo>
                <a:cubicBezTo>
                  <a:pt x="97234" y="107292"/>
                  <a:pt x="100346" y="104180"/>
                  <a:pt x="104180" y="104180"/>
                </a:cubicBezTo>
                <a:cubicBezTo>
                  <a:pt x="108013" y="104180"/>
                  <a:pt x="111125" y="107292"/>
                  <a:pt x="111125" y="111125"/>
                </a:cubicBezTo>
                <a:cubicBezTo>
                  <a:pt x="111125" y="114958"/>
                  <a:pt x="108013" y="118070"/>
                  <a:pt x="104180" y="118070"/>
                </a:cubicBezTo>
                <a:cubicBezTo>
                  <a:pt x="100346" y="118070"/>
                  <a:pt x="97234" y="114958"/>
                  <a:pt x="97234" y="111125"/>
                </a:cubicBezTo>
                <a:close/>
              </a:path>
            </a:pathLst>
          </a:custGeom>
          <a:solidFill>
            <a:srgbClr val="E2E8F0"/>
          </a:solidFill>
        </p:spPr>
      </p:sp>
      <p:sp>
        <p:nvSpPr>
          <p:cNvPr id="20" name="Text 18"/>
          <p:cNvSpPr/>
          <p:nvPr/>
        </p:nvSpPr>
        <p:spPr>
          <a:xfrm>
            <a:off x="1100667" y="4452938"/>
            <a:ext cx="1873250" cy="296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后端层 (Spring Boot)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77333" y="4855104"/>
            <a:ext cx="5979583" cy="24341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5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业务逻辑处理，实现核心预警功能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77333" y="5180542"/>
            <a:ext cx="5979583" cy="2116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5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控制器层：按角色拆分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77333" y="5434542"/>
            <a:ext cx="5979583" cy="2116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5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服务层：权限认证、数据同步、规则匹配、预警触发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77333" y="5688542"/>
            <a:ext cx="5979583" cy="2116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5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数据层：MySQL Repository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77333" y="6069542"/>
            <a:ext cx="338667" cy="338667"/>
          </a:xfrm>
          <a:custGeom>
            <a:avLst/>
            <a:gdLst/>
            <a:ahLst/>
            <a:cxnLst/>
            <a:rect l="l" t="t" r="r" b="b"/>
            <a:pathLst>
              <a:path w="338667" h="338667">
                <a:moveTo>
                  <a:pt x="42333" y="0"/>
                </a:moveTo>
                <a:lnTo>
                  <a:pt x="296333" y="0"/>
                </a:lnTo>
                <a:cubicBezTo>
                  <a:pt x="319713" y="0"/>
                  <a:pt x="338667" y="18953"/>
                  <a:pt x="338667" y="42333"/>
                </a:cubicBezTo>
                <a:lnTo>
                  <a:pt x="338667" y="296333"/>
                </a:lnTo>
                <a:cubicBezTo>
                  <a:pt x="338667" y="319713"/>
                  <a:pt x="319713" y="338667"/>
                  <a:pt x="296333" y="338667"/>
                </a:cubicBezTo>
                <a:lnTo>
                  <a:pt x="42333" y="338667"/>
                </a:lnTo>
                <a:cubicBezTo>
                  <a:pt x="18953" y="338667"/>
                  <a:pt x="0" y="319713"/>
                  <a:pt x="0" y="2963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718096"/>
          </a:solidFill>
        </p:spPr>
      </p:sp>
      <p:sp>
        <p:nvSpPr>
          <p:cNvPr id="26" name="Shape 24"/>
          <p:cNvSpPr/>
          <p:nvPr/>
        </p:nvSpPr>
        <p:spPr>
          <a:xfrm>
            <a:off x="784490" y="6164792"/>
            <a:ext cx="129646" cy="148167"/>
          </a:xfrm>
          <a:custGeom>
            <a:avLst/>
            <a:gdLst/>
            <a:ahLst/>
            <a:cxnLst/>
            <a:rect l="l" t="t" r="r" b="b"/>
            <a:pathLst>
              <a:path w="129646" h="148167">
                <a:moveTo>
                  <a:pt x="129646" y="59556"/>
                </a:moveTo>
                <a:cubicBezTo>
                  <a:pt x="125363" y="62392"/>
                  <a:pt x="120443" y="64678"/>
                  <a:pt x="115321" y="66501"/>
                </a:cubicBezTo>
                <a:cubicBezTo>
                  <a:pt x="101720" y="71363"/>
                  <a:pt x="83865" y="74083"/>
                  <a:pt x="64823" y="74083"/>
                </a:cubicBezTo>
                <a:cubicBezTo>
                  <a:pt x="45781" y="74083"/>
                  <a:pt x="27897" y="71334"/>
                  <a:pt x="14325" y="66501"/>
                </a:cubicBezTo>
                <a:cubicBezTo>
                  <a:pt x="9231" y="64678"/>
                  <a:pt x="4283" y="62392"/>
                  <a:pt x="0" y="59556"/>
                </a:cubicBezTo>
                <a:lnTo>
                  <a:pt x="0" y="83344"/>
                </a:lnTo>
                <a:cubicBezTo>
                  <a:pt x="0" y="96135"/>
                  <a:pt x="29026" y="106495"/>
                  <a:pt x="64823" y="106495"/>
                </a:cubicBezTo>
                <a:cubicBezTo>
                  <a:pt x="100620" y="106495"/>
                  <a:pt x="129646" y="96135"/>
                  <a:pt x="129646" y="83344"/>
                </a:cubicBezTo>
                <a:lnTo>
                  <a:pt x="129646" y="59556"/>
                </a:lnTo>
                <a:close/>
                <a:moveTo>
                  <a:pt x="129646" y="37042"/>
                </a:moveTo>
                <a:lnTo>
                  <a:pt x="129646" y="23151"/>
                </a:lnTo>
                <a:cubicBezTo>
                  <a:pt x="129646" y="10360"/>
                  <a:pt x="100620" y="0"/>
                  <a:pt x="64823" y="0"/>
                </a:cubicBezTo>
                <a:cubicBezTo>
                  <a:pt x="29026" y="0"/>
                  <a:pt x="0" y="10360"/>
                  <a:pt x="0" y="23151"/>
                </a:cubicBezTo>
                <a:lnTo>
                  <a:pt x="0" y="37042"/>
                </a:lnTo>
                <a:cubicBezTo>
                  <a:pt x="0" y="49833"/>
                  <a:pt x="29026" y="60193"/>
                  <a:pt x="64823" y="60193"/>
                </a:cubicBezTo>
                <a:cubicBezTo>
                  <a:pt x="100620" y="60193"/>
                  <a:pt x="129646" y="49833"/>
                  <a:pt x="129646" y="37042"/>
                </a:cubicBezTo>
                <a:close/>
                <a:moveTo>
                  <a:pt x="115321" y="112803"/>
                </a:moveTo>
                <a:cubicBezTo>
                  <a:pt x="101749" y="117636"/>
                  <a:pt x="83894" y="120385"/>
                  <a:pt x="64823" y="120385"/>
                </a:cubicBezTo>
                <a:cubicBezTo>
                  <a:pt x="45752" y="120385"/>
                  <a:pt x="27897" y="117636"/>
                  <a:pt x="14325" y="112803"/>
                </a:cubicBezTo>
                <a:cubicBezTo>
                  <a:pt x="9231" y="110980"/>
                  <a:pt x="4283" y="108694"/>
                  <a:pt x="0" y="105858"/>
                </a:cubicBezTo>
                <a:lnTo>
                  <a:pt x="0" y="125016"/>
                </a:lnTo>
                <a:cubicBezTo>
                  <a:pt x="0" y="137807"/>
                  <a:pt x="29026" y="148167"/>
                  <a:pt x="64823" y="148167"/>
                </a:cubicBezTo>
                <a:cubicBezTo>
                  <a:pt x="100620" y="148167"/>
                  <a:pt x="129646" y="137807"/>
                  <a:pt x="129646" y="125016"/>
                </a:cubicBezTo>
                <a:lnTo>
                  <a:pt x="129646" y="105858"/>
                </a:lnTo>
                <a:cubicBezTo>
                  <a:pt x="125363" y="108694"/>
                  <a:pt x="120443" y="110980"/>
                  <a:pt x="115321" y="112803"/>
                </a:cubicBezTo>
                <a:close/>
              </a:path>
            </a:pathLst>
          </a:custGeom>
          <a:solidFill>
            <a:srgbClr val="E2E8F0"/>
          </a:solidFill>
        </p:spPr>
      </p:sp>
      <p:sp>
        <p:nvSpPr>
          <p:cNvPr id="27" name="Text 25"/>
          <p:cNvSpPr/>
          <p:nvPr/>
        </p:nvSpPr>
        <p:spPr>
          <a:xfrm>
            <a:off x="1100667" y="6090708"/>
            <a:ext cx="1471083" cy="296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71809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数据层 (MySQL)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77333" y="6492875"/>
            <a:ext cx="5979583" cy="24341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5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存储全量业务数据，支持高效查询与分析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802967" y="1570567"/>
            <a:ext cx="9025467" cy="9215967"/>
          </a:xfrm>
          <a:custGeom>
            <a:avLst/>
            <a:gdLst/>
            <a:ahLst/>
            <a:cxnLst/>
            <a:rect l="l" t="t" r="r" b="b"/>
            <a:pathLst>
              <a:path w="9025467" h="9215967">
                <a:moveTo>
                  <a:pt x="84659" y="0"/>
                </a:moveTo>
                <a:lnTo>
                  <a:pt x="8940808" y="0"/>
                </a:lnTo>
                <a:cubicBezTo>
                  <a:pt x="8987564" y="0"/>
                  <a:pt x="9025467" y="37903"/>
                  <a:pt x="9025467" y="84659"/>
                </a:cubicBezTo>
                <a:lnTo>
                  <a:pt x="9025467" y="9131308"/>
                </a:lnTo>
                <a:cubicBezTo>
                  <a:pt x="9025467" y="9178064"/>
                  <a:pt x="8987564" y="9215967"/>
                  <a:pt x="8940808" y="9215967"/>
                </a:cubicBezTo>
                <a:lnTo>
                  <a:pt x="84659" y="9215967"/>
                </a:lnTo>
                <a:cubicBezTo>
                  <a:pt x="37903" y="9215967"/>
                  <a:pt x="0" y="9178064"/>
                  <a:pt x="0" y="9131308"/>
                </a:cubicBezTo>
                <a:lnTo>
                  <a:pt x="0" y="84659"/>
                </a:lnTo>
                <a:cubicBezTo>
                  <a:pt x="0" y="37934"/>
                  <a:pt x="37934" y="0"/>
                  <a:pt x="84659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10160">
            <a:solidFill>
              <a:srgbClr val="38B2AC">
                <a:alpha val="30196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76533" y="1744136"/>
            <a:ext cx="8784167" cy="296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5" b="1" dirty="0">
                <a:solidFill>
                  <a:srgbClr val="38B2A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V1.0核心业务流程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976533" y="2336803"/>
            <a:ext cx="423333" cy="423333"/>
          </a:xfrm>
          <a:custGeom>
            <a:avLst/>
            <a:gdLst/>
            <a:ahLst/>
            <a:cxnLst/>
            <a:rect l="l" t="t" r="r" b="b"/>
            <a:pathLst>
              <a:path w="423333" h="423333">
                <a:moveTo>
                  <a:pt x="211667" y="0"/>
                </a:moveTo>
                <a:lnTo>
                  <a:pt x="211667" y="0"/>
                </a:lnTo>
                <a:cubicBezTo>
                  <a:pt x="328489" y="0"/>
                  <a:pt x="423333" y="94845"/>
                  <a:pt x="423333" y="211667"/>
                </a:cubicBezTo>
                <a:lnTo>
                  <a:pt x="423333" y="211667"/>
                </a:lnTo>
                <a:cubicBezTo>
                  <a:pt x="423333" y="328489"/>
                  <a:pt x="328489" y="423333"/>
                  <a:pt x="211667" y="423333"/>
                </a:cubicBezTo>
                <a:lnTo>
                  <a:pt x="211667" y="423333"/>
                </a:lnTo>
                <a:cubicBezTo>
                  <a:pt x="94845" y="423333"/>
                  <a:pt x="0" y="328489"/>
                  <a:pt x="0" y="211667"/>
                </a:cubicBezTo>
                <a:lnTo>
                  <a:pt x="0" y="211667"/>
                </a:lnTo>
                <a:cubicBezTo>
                  <a:pt x="0" y="94845"/>
                  <a:pt x="94845" y="0"/>
                  <a:pt x="211667" y="0"/>
                </a:cubicBezTo>
                <a:close/>
              </a:path>
            </a:pathLst>
          </a:custGeom>
          <a:solidFill>
            <a:srgbClr val="38B2AC"/>
          </a:solidFill>
        </p:spPr>
      </p:sp>
      <p:sp>
        <p:nvSpPr>
          <p:cNvPr id="32" name="Text 30"/>
          <p:cNvSpPr/>
          <p:nvPr/>
        </p:nvSpPr>
        <p:spPr>
          <a:xfrm>
            <a:off x="6934200" y="2336803"/>
            <a:ext cx="508000" cy="423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5" b="1" dirty="0">
                <a:solidFill>
                  <a:srgbClr val="1A202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526867" y="2167470"/>
            <a:ext cx="8128000" cy="762000"/>
          </a:xfrm>
          <a:custGeom>
            <a:avLst/>
            <a:gdLst/>
            <a:ahLst/>
            <a:cxnLst/>
            <a:rect l="l" t="t" r="r" b="b"/>
            <a:pathLst>
              <a:path w="8128000" h="762000">
                <a:moveTo>
                  <a:pt x="42337" y="0"/>
                </a:moveTo>
                <a:lnTo>
                  <a:pt x="8085663" y="0"/>
                </a:lnTo>
                <a:cubicBezTo>
                  <a:pt x="8109045" y="0"/>
                  <a:pt x="8128000" y="18955"/>
                  <a:pt x="8128000" y="42337"/>
                </a:cubicBezTo>
                <a:lnTo>
                  <a:pt x="8128000" y="719663"/>
                </a:lnTo>
                <a:cubicBezTo>
                  <a:pt x="8128000" y="743045"/>
                  <a:pt x="8109045" y="762000"/>
                  <a:pt x="8085663" y="762000"/>
                </a:cubicBezTo>
                <a:lnTo>
                  <a:pt x="42337" y="762000"/>
                </a:lnTo>
                <a:cubicBezTo>
                  <a:pt x="18955" y="762000"/>
                  <a:pt x="0" y="743045"/>
                  <a:pt x="0" y="719663"/>
                </a:cubicBezTo>
                <a:lnTo>
                  <a:pt x="0" y="42337"/>
                </a:lnTo>
                <a:cubicBezTo>
                  <a:pt x="0" y="18955"/>
                  <a:pt x="18955" y="0"/>
                  <a:pt x="42337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</p:spPr>
      </p:sp>
      <p:sp>
        <p:nvSpPr>
          <p:cNvPr id="34" name="Text 32"/>
          <p:cNvSpPr/>
          <p:nvPr/>
        </p:nvSpPr>
        <p:spPr>
          <a:xfrm>
            <a:off x="7653867" y="2294470"/>
            <a:ext cx="7958667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教师录入成绩/考勤数据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653867" y="2590803"/>
            <a:ext cx="7948083" cy="2116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5" dirty="0">
                <a:solidFill>
                  <a:srgbClr val="71809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教师在系统界面录入学生成绩和考勤记录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976533" y="3225803"/>
            <a:ext cx="423333" cy="423333"/>
          </a:xfrm>
          <a:custGeom>
            <a:avLst/>
            <a:gdLst/>
            <a:ahLst/>
            <a:cxnLst/>
            <a:rect l="l" t="t" r="r" b="b"/>
            <a:pathLst>
              <a:path w="423333" h="423333">
                <a:moveTo>
                  <a:pt x="211667" y="0"/>
                </a:moveTo>
                <a:lnTo>
                  <a:pt x="211667" y="0"/>
                </a:lnTo>
                <a:cubicBezTo>
                  <a:pt x="328489" y="0"/>
                  <a:pt x="423333" y="94845"/>
                  <a:pt x="423333" y="211667"/>
                </a:cubicBezTo>
                <a:lnTo>
                  <a:pt x="423333" y="211667"/>
                </a:lnTo>
                <a:cubicBezTo>
                  <a:pt x="423333" y="328489"/>
                  <a:pt x="328489" y="423333"/>
                  <a:pt x="211667" y="423333"/>
                </a:cubicBezTo>
                <a:lnTo>
                  <a:pt x="211667" y="423333"/>
                </a:lnTo>
                <a:cubicBezTo>
                  <a:pt x="94845" y="423333"/>
                  <a:pt x="0" y="328489"/>
                  <a:pt x="0" y="211667"/>
                </a:cubicBezTo>
                <a:lnTo>
                  <a:pt x="0" y="211667"/>
                </a:lnTo>
                <a:cubicBezTo>
                  <a:pt x="0" y="94845"/>
                  <a:pt x="94845" y="0"/>
                  <a:pt x="211667" y="0"/>
                </a:cubicBezTo>
                <a:close/>
              </a:path>
            </a:pathLst>
          </a:custGeom>
          <a:solidFill>
            <a:srgbClr val="38B2AC"/>
          </a:solidFill>
        </p:spPr>
      </p:sp>
      <p:sp>
        <p:nvSpPr>
          <p:cNvPr id="37" name="Text 35"/>
          <p:cNvSpPr/>
          <p:nvPr/>
        </p:nvSpPr>
        <p:spPr>
          <a:xfrm>
            <a:off x="6934200" y="3225803"/>
            <a:ext cx="508000" cy="423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5" b="1" dirty="0">
                <a:solidFill>
                  <a:srgbClr val="1A202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7526867" y="3056470"/>
            <a:ext cx="8128000" cy="762000"/>
          </a:xfrm>
          <a:custGeom>
            <a:avLst/>
            <a:gdLst/>
            <a:ahLst/>
            <a:cxnLst/>
            <a:rect l="l" t="t" r="r" b="b"/>
            <a:pathLst>
              <a:path w="8128000" h="762000">
                <a:moveTo>
                  <a:pt x="42337" y="0"/>
                </a:moveTo>
                <a:lnTo>
                  <a:pt x="8085663" y="0"/>
                </a:lnTo>
                <a:cubicBezTo>
                  <a:pt x="8109045" y="0"/>
                  <a:pt x="8128000" y="18955"/>
                  <a:pt x="8128000" y="42337"/>
                </a:cubicBezTo>
                <a:lnTo>
                  <a:pt x="8128000" y="719663"/>
                </a:lnTo>
                <a:cubicBezTo>
                  <a:pt x="8128000" y="743045"/>
                  <a:pt x="8109045" y="762000"/>
                  <a:pt x="8085663" y="762000"/>
                </a:cubicBezTo>
                <a:lnTo>
                  <a:pt x="42337" y="762000"/>
                </a:lnTo>
                <a:cubicBezTo>
                  <a:pt x="18955" y="762000"/>
                  <a:pt x="0" y="743045"/>
                  <a:pt x="0" y="719663"/>
                </a:cubicBezTo>
                <a:lnTo>
                  <a:pt x="0" y="42337"/>
                </a:lnTo>
                <a:cubicBezTo>
                  <a:pt x="0" y="18955"/>
                  <a:pt x="18955" y="0"/>
                  <a:pt x="42337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</p:spPr>
      </p:sp>
      <p:sp>
        <p:nvSpPr>
          <p:cNvPr id="39" name="Text 37"/>
          <p:cNvSpPr/>
          <p:nvPr/>
        </p:nvSpPr>
        <p:spPr>
          <a:xfrm>
            <a:off x="7653867" y="3183470"/>
            <a:ext cx="7958667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管理员同步数据+配置预警规则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653867" y="3479803"/>
            <a:ext cx="7948083" cy="2116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5" dirty="0">
                <a:solidFill>
                  <a:srgbClr val="71809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从教务系统同步数据，配置预警触发条件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976533" y="4114803"/>
            <a:ext cx="423333" cy="423333"/>
          </a:xfrm>
          <a:custGeom>
            <a:avLst/>
            <a:gdLst/>
            <a:ahLst/>
            <a:cxnLst/>
            <a:rect l="l" t="t" r="r" b="b"/>
            <a:pathLst>
              <a:path w="423333" h="423333">
                <a:moveTo>
                  <a:pt x="211667" y="0"/>
                </a:moveTo>
                <a:lnTo>
                  <a:pt x="211667" y="0"/>
                </a:lnTo>
                <a:cubicBezTo>
                  <a:pt x="328489" y="0"/>
                  <a:pt x="423333" y="94845"/>
                  <a:pt x="423333" y="211667"/>
                </a:cubicBezTo>
                <a:lnTo>
                  <a:pt x="423333" y="211667"/>
                </a:lnTo>
                <a:cubicBezTo>
                  <a:pt x="423333" y="328489"/>
                  <a:pt x="328489" y="423333"/>
                  <a:pt x="211667" y="423333"/>
                </a:cubicBezTo>
                <a:lnTo>
                  <a:pt x="211667" y="423333"/>
                </a:lnTo>
                <a:cubicBezTo>
                  <a:pt x="94845" y="423333"/>
                  <a:pt x="0" y="328489"/>
                  <a:pt x="0" y="211667"/>
                </a:cubicBezTo>
                <a:lnTo>
                  <a:pt x="0" y="211667"/>
                </a:lnTo>
                <a:cubicBezTo>
                  <a:pt x="0" y="94845"/>
                  <a:pt x="94845" y="0"/>
                  <a:pt x="211667" y="0"/>
                </a:cubicBezTo>
                <a:close/>
              </a:path>
            </a:pathLst>
          </a:custGeom>
          <a:solidFill>
            <a:srgbClr val="38B2AC"/>
          </a:solidFill>
        </p:spPr>
      </p:sp>
      <p:sp>
        <p:nvSpPr>
          <p:cNvPr id="42" name="Text 40"/>
          <p:cNvSpPr/>
          <p:nvPr/>
        </p:nvSpPr>
        <p:spPr>
          <a:xfrm>
            <a:off x="6934200" y="4114803"/>
            <a:ext cx="508000" cy="423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5" b="1" dirty="0">
                <a:solidFill>
                  <a:srgbClr val="1A202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526867" y="3945470"/>
            <a:ext cx="8128000" cy="762000"/>
          </a:xfrm>
          <a:custGeom>
            <a:avLst/>
            <a:gdLst/>
            <a:ahLst/>
            <a:cxnLst/>
            <a:rect l="l" t="t" r="r" b="b"/>
            <a:pathLst>
              <a:path w="8128000" h="762000">
                <a:moveTo>
                  <a:pt x="42337" y="0"/>
                </a:moveTo>
                <a:lnTo>
                  <a:pt x="8085663" y="0"/>
                </a:lnTo>
                <a:cubicBezTo>
                  <a:pt x="8109045" y="0"/>
                  <a:pt x="8128000" y="18955"/>
                  <a:pt x="8128000" y="42337"/>
                </a:cubicBezTo>
                <a:lnTo>
                  <a:pt x="8128000" y="719663"/>
                </a:lnTo>
                <a:cubicBezTo>
                  <a:pt x="8128000" y="743045"/>
                  <a:pt x="8109045" y="762000"/>
                  <a:pt x="8085663" y="762000"/>
                </a:cubicBezTo>
                <a:lnTo>
                  <a:pt x="42337" y="762000"/>
                </a:lnTo>
                <a:cubicBezTo>
                  <a:pt x="18955" y="762000"/>
                  <a:pt x="0" y="743045"/>
                  <a:pt x="0" y="719663"/>
                </a:cubicBezTo>
                <a:lnTo>
                  <a:pt x="0" y="42337"/>
                </a:lnTo>
                <a:cubicBezTo>
                  <a:pt x="0" y="18955"/>
                  <a:pt x="18955" y="0"/>
                  <a:pt x="42337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</p:spPr>
      </p:sp>
      <p:sp>
        <p:nvSpPr>
          <p:cNvPr id="44" name="Text 42"/>
          <p:cNvSpPr/>
          <p:nvPr/>
        </p:nvSpPr>
        <p:spPr>
          <a:xfrm>
            <a:off x="7653867" y="4072470"/>
            <a:ext cx="7958667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系统按规则匹配学生数据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7653867" y="4368803"/>
            <a:ext cx="7948083" cy="2116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5" dirty="0">
                <a:solidFill>
                  <a:srgbClr val="71809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自动扫描学生数据，匹配预警规则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976533" y="5003803"/>
            <a:ext cx="423333" cy="423333"/>
          </a:xfrm>
          <a:custGeom>
            <a:avLst/>
            <a:gdLst/>
            <a:ahLst/>
            <a:cxnLst/>
            <a:rect l="l" t="t" r="r" b="b"/>
            <a:pathLst>
              <a:path w="423333" h="423333">
                <a:moveTo>
                  <a:pt x="211667" y="0"/>
                </a:moveTo>
                <a:lnTo>
                  <a:pt x="211667" y="0"/>
                </a:lnTo>
                <a:cubicBezTo>
                  <a:pt x="328489" y="0"/>
                  <a:pt x="423333" y="94845"/>
                  <a:pt x="423333" y="211667"/>
                </a:cubicBezTo>
                <a:lnTo>
                  <a:pt x="423333" y="211667"/>
                </a:lnTo>
                <a:cubicBezTo>
                  <a:pt x="423333" y="328489"/>
                  <a:pt x="328489" y="423333"/>
                  <a:pt x="211667" y="423333"/>
                </a:cubicBezTo>
                <a:lnTo>
                  <a:pt x="211667" y="423333"/>
                </a:lnTo>
                <a:cubicBezTo>
                  <a:pt x="94845" y="423333"/>
                  <a:pt x="0" y="328489"/>
                  <a:pt x="0" y="211667"/>
                </a:cubicBezTo>
                <a:lnTo>
                  <a:pt x="0" y="211667"/>
                </a:lnTo>
                <a:cubicBezTo>
                  <a:pt x="0" y="94845"/>
                  <a:pt x="94845" y="0"/>
                  <a:pt x="211667" y="0"/>
                </a:cubicBezTo>
                <a:close/>
              </a:path>
            </a:pathLst>
          </a:custGeom>
          <a:solidFill>
            <a:srgbClr val="4A5568"/>
          </a:solidFill>
        </p:spPr>
      </p:sp>
      <p:sp>
        <p:nvSpPr>
          <p:cNvPr id="47" name="Text 45"/>
          <p:cNvSpPr/>
          <p:nvPr/>
        </p:nvSpPr>
        <p:spPr>
          <a:xfrm>
            <a:off x="6934200" y="5003803"/>
            <a:ext cx="508000" cy="423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5" b="1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7526867" y="4834470"/>
            <a:ext cx="8128000" cy="762000"/>
          </a:xfrm>
          <a:custGeom>
            <a:avLst/>
            <a:gdLst/>
            <a:ahLst/>
            <a:cxnLst/>
            <a:rect l="l" t="t" r="r" b="b"/>
            <a:pathLst>
              <a:path w="8128000" h="762000">
                <a:moveTo>
                  <a:pt x="42337" y="0"/>
                </a:moveTo>
                <a:lnTo>
                  <a:pt x="8085663" y="0"/>
                </a:lnTo>
                <a:cubicBezTo>
                  <a:pt x="8109045" y="0"/>
                  <a:pt x="8128000" y="18955"/>
                  <a:pt x="8128000" y="42337"/>
                </a:cubicBezTo>
                <a:lnTo>
                  <a:pt x="8128000" y="719663"/>
                </a:lnTo>
                <a:cubicBezTo>
                  <a:pt x="8128000" y="743045"/>
                  <a:pt x="8109045" y="762000"/>
                  <a:pt x="8085663" y="762000"/>
                </a:cubicBezTo>
                <a:lnTo>
                  <a:pt x="42337" y="762000"/>
                </a:lnTo>
                <a:cubicBezTo>
                  <a:pt x="18955" y="762000"/>
                  <a:pt x="0" y="743045"/>
                  <a:pt x="0" y="719663"/>
                </a:cubicBezTo>
                <a:lnTo>
                  <a:pt x="0" y="42337"/>
                </a:lnTo>
                <a:cubicBezTo>
                  <a:pt x="0" y="18955"/>
                  <a:pt x="18955" y="0"/>
                  <a:pt x="42337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</p:spPr>
      </p:sp>
      <p:sp>
        <p:nvSpPr>
          <p:cNvPr id="49" name="Text 47"/>
          <p:cNvSpPr/>
          <p:nvPr/>
        </p:nvSpPr>
        <p:spPr>
          <a:xfrm>
            <a:off x="7653867" y="4961470"/>
            <a:ext cx="7958667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触发预警？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7653867" y="5257803"/>
            <a:ext cx="7948083" cy="2116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5" dirty="0">
                <a:solidFill>
                  <a:srgbClr val="71809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判断学生数据是否满足预警条件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7488767" y="5727703"/>
            <a:ext cx="4008967" cy="770467"/>
          </a:xfrm>
          <a:custGeom>
            <a:avLst/>
            <a:gdLst/>
            <a:ahLst/>
            <a:cxnLst/>
            <a:rect l="l" t="t" r="r" b="b"/>
            <a:pathLst>
              <a:path w="4008967" h="770467">
                <a:moveTo>
                  <a:pt x="42337" y="0"/>
                </a:moveTo>
                <a:lnTo>
                  <a:pt x="3966630" y="0"/>
                </a:lnTo>
                <a:cubicBezTo>
                  <a:pt x="3990012" y="0"/>
                  <a:pt x="4008967" y="18955"/>
                  <a:pt x="4008967" y="42337"/>
                </a:cubicBezTo>
                <a:lnTo>
                  <a:pt x="4008967" y="728130"/>
                </a:lnTo>
                <a:cubicBezTo>
                  <a:pt x="4008967" y="751512"/>
                  <a:pt x="3990012" y="770467"/>
                  <a:pt x="3966630" y="770467"/>
                </a:cubicBezTo>
                <a:lnTo>
                  <a:pt x="42337" y="770467"/>
                </a:lnTo>
                <a:cubicBezTo>
                  <a:pt x="18955" y="770467"/>
                  <a:pt x="0" y="751512"/>
                  <a:pt x="0" y="728130"/>
                </a:cubicBezTo>
                <a:lnTo>
                  <a:pt x="0" y="42337"/>
                </a:lnTo>
                <a:cubicBezTo>
                  <a:pt x="0" y="18955"/>
                  <a:pt x="18955" y="0"/>
                  <a:pt x="42337" y="0"/>
                </a:cubicBezTo>
                <a:close/>
              </a:path>
            </a:pathLst>
          </a:custGeom>
          <a:solidFill>
            <a:srgbClr val="38B2AC">
              <a:alpha val="10196"/>
            </a:srgbClr>
          </a:solidFill>
          <a:ln w="10160">
            <a:solidFill>
              <a:srgbClr val="38B2AC">
                <a:alpha val="30196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651750" y="5892803"/>
            <a:ext cx="148167" cy="169333"/>
          </a:xfrm>
          <a:custGeom>
            <a:avLst/>
            <a:gdLst/>
            <a:ahLst/>
            <a:cxnLst/>
            <a:rect l="l" t="t" r="r" b="b"/>
            <a:pathLst>
              <a:path w="148167" h="169333">
                <a:moveTo>
                  <a:pt x="143801" y="23184"/>
                </a:moveTo>
                <a:cubicBezTo>
                  <a:pt x="148530" y="26624"/>
                  <a:pt x="149589" y="33238"/>
                  <a:pt x="146149" y="37968"/>
                </a:cubicBezTo>
                <a:lnTo>
                  <a:pt x="61483" y="154384"/>
                </a:lnTo>
                <a:cubicBezTo>
                  <a:pt x="59664" y="156898"/>
                  <a:pt x="56852" y="158452"/>
                  <a:pt x="53743" y="158717"/>
                </a:cubicBezTo>
                <a:cubicBezTo>
                  <a:pt x="50635" y="158982"/>
                  <a:pt x="47625" y="157824"/>
                  <a:pt x="45442" y="155641"/>
                </a:cubicBezTo>
                <a:lnTo>
                  <a:pt x="3109" y="113308"/>
                </a:lnTo>
                <a:cubicBezTo>
                  <a:pt x="-1025" y="109174"/>
                  <a:pt x="-1025" y="102460"/>
                  <a:pt x="3109" y="98326"/>
                </a:cubicBezTo>
                <a:cubicBezTo>
                  <a:pt x="7243" y="94192"/>
                  <a:pt x="13957" y="94192"/>
                  <a:pt x="18091" y="98326"/>
                </a:cubicBezTo>
                <a:lnTo>
                  <a:pt x="51660" y="131895"/>
                </a:lnTo>
                <a:lnTo>
                  <a:pt x="129051" y="25499"/>
                </a:lnTo>
                <a:cubicBezTo>
                  <a:pt x="132490" y="20770"/>
                  <a:pt x="139105" y="19711"/>
                  <a:pt x="143834" y="23151"/>
                </a:cubicBezTo>
                <a:close/>
              </a:path>
            </a:pathLst>
          </a:custGeom>
          <a:solidFill>
            <a:srgbClr val="38B2AC"/>
          </a:solidFill>
        </p:spPr>
      </p:sp>
      <p:sp>
        <p:nvSpPr>
          <p:cNvPr id="53" name="Text 51"/>
          <p:cNvSpPr/>
          <p:nvPr/>
        </p:nvSpPr>
        <p:spPr>
          <a:xfrm>
            <a:off x="7902222" y="5858934"/>
            <a:ext cx="3548944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38B2A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是：生成预警信息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7620000" y="6155268"/>
            <a:ext cx="3820583" cy="2116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5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推送至辅导员/学生界面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11633201" y="5723470"/>
            <a:ext cx="4021667" cy="783167"/>
          </a:xfrm>
          <a:custGeom>
            <a:avLst/>
            <a:gdLst/>
            <a:ahLst/>
            <a:cxnLst/>
            <a:rect l="l" t="t" r="r" b="b"/>
            <a:pathLst>
              <a:path w="4021667" h="783167">
                <a:moveTo>
                  <a:pt x="42330" y="0"/>
                </a:moveTo>
                <a:lnTo>
                  <a:pt x="3979337" y="0"/>
                </a:lnTo>
                <a:cubicBezTo>
                  <a:pt x="4002715" y="0"/>
                  <a:pt x="4021667" y="18952"/>
                  <a:pt x="4021667" y="42330"/>
                </a:cubicBezTo>
                <a:lnTo>
                  <a:pt x="4021667" y="740837"/>
                </a:lnTo>
                <a:cubicBezTo>
                  <a:pt x="4021667" y="764215"/>
                  <a:pt x="4002715" y="783167"/>
                  <a:pt x="3979337" y="783167"/>
                </a:cubicBezTo>
                <a:lnTo>
                  <a:pt x="42330" y="783167"/>
                </a:lnTo>
                <a:cubicBezTo>
                  <a:pt x="18952" y="783167"/>
                  <a:pt x="0" y="764215"/>
                  <a:pt x="0" y="740837"/>
                </a:cubicBezTo>
                <a:lnTo>
                  <a:pt x="0" y="42330"/>
                </a:lnTo>
                <a:cubicBezTo>
                  <a:pt x="0" y="18968"/>
                  <a:pt x="18968" y="0"/>
                  <a:pt x="42330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</p:spPr>
      </p:sp>
      <p:sp>
        <p:nvSpPr>
          <p:cNvPr id="56" name="Shape 54"/>
          <p:cNvSpPr/>
          <p:nvPr/>
        </p:nvSpPr>
        <p:spPr>
          <a:xfrm>
            <a:off x="11802534" y="5884333"/>
            <a:ext cx="127000" cy="169333"/>
          </a:xfrm>
          <a:custGeom>
            <a:avLst/>
            <a:gdLst/>
            <a:ahLst/>
            <a:cxnLst/>
            <a:rect l="l" t="t" r="r" b="b"/>
            <a:pathLst>
              <a:path w="127000" h="169333">
                <a:moveTo>
                  <a:pt x="18223" y="24276"/>
                </a:moveTo>
                <a:cubicBezTo>
                  <a:pt x="14089" y="20141"/>
                  <a:pt x="7375" y="20141"/>
                  <a:pt x="3241" y="24276"/>
                </a:cubicBezTo>
                <a:cubicBezTo>
                  <a:pt x="-893" y="28410"/>
                  <a:pt x="-893" y="35123"/>
                  <a:pt x="3241" y="39258"/>
                </a:cubicBezTo>
                <a:lnTo>
                  <a:pt x="48683" y="84667"/>
                </a:lnTo>
                <a:lnTo>
                  <a:pt x="3274" y="130109"/>
                </a:lnTo>
                <a:cubicBezTo>
                  <a:pt x="-860" y="134243"/>
                  <a:pt x="-860" y="140957"/>
                  <a:pt x="3274" y="145091"/>
                </a:cubicBezTo>
                <a:cubicBezTo>
                  <a:pt x="7408" y="149225"/>
                  <a:pt x="14122" y="149225"/>
                  <a:pt x="18256" y="145091"/>
                </a:cubicBezTo>
                <a:lnTo>
                  <a:pt x="63665" y="99649"/>
                </a:lnTo>
                <a:lnTo>
                  <a:pt x="109108" y="145058"/>
                </a:lnTo>
                <a:cubicBezTo>
                  <a:pt x="113242" y="149192"/>
                  <a:pt x="119955" y="149192"/>
                  <a:pt x="124090" y="145058"/>
                </a:cubicBezTo>
                <a:cubicBezTo>
                  <a:pt x="128224" y="140924"/>
                  <a:pt x="128224" y="134210"/>
                  <a:pt x="124090" y="130076"/>
                </a:cubicBezTo>
                <a:lnTo>
                  <a:pt x="78647" y="84667"/>
                </a:lnTo>
                <a:lnTo>
                  <a:pt x="124057" y="39224"/>
                </a:lnTo>
                <a:cubicBezTo>
                  <a:pt x="128191" y="35090"/>
                  <a:pt x="128191" y="28377"/>
                  <a:pt x="124057" y="24242"/>
                </a:cubicBezTo>
                <a:cubicBezTo>
                  <a:pt x="119922" y="20108"/>
                  <a:pt x="113209" y="20108"/>
                  <a:pt x="109074" y="24242"/>
                </a:cubicBezTo>
                <a:lnTo>
                  <a:pt x="63665" y="69685"/>
                </a:lnTo>
                <a:lnTo>
                  <a:pt x="18223" y="24276"/>
                </a:lnTo>
                <a:close/>
              </a:path>
            </a:pathLst>
          </a:custGeom>
          <a:solidFill>
            <a:srgbClr val="E2E8F0"/>
          </a:solidFill>
        </p:spPr>
      </p:sp>
      <p:sp>
        <p:nvSpPr>
          <p:cNvPr id="57" name="Text 55"/>
          <p:cNvSpPr/>
          <p:nvPr/>
        </p:nvSpPr>
        <p:spPr>
          <a:xfrm>
            <a:off x="12042423" y="5850470"/>
            <a:ext cx="3570111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否：无预警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11760201" y="6146803"/>
            <a:ext cx="3841750" cy="2116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5" dirty="0">
                <a:solidFill>
                  <a:srgbClr val="71809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继续监控学生数据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976533" y="6798737"/>
            <a:ext cx="423333" cy="423333"/>
          </a:xfrm>
          <a:custGeom>
            <a:avLst/>
            <a:gdLst/>
            <a:ahLst/>
            <a:cxnLst/>
            <a:rect l="l" t="t" r="r" b="b"/>
            <a:pathLst>
              <a:path w="423333" h="423333">
                <a:moveTo>
                  <a:pt x="211667" y="0"/>
                </a:moveTo>
                <a:lnTo>
                  <a:pt x="211667" y="0"/>
                </a:lnTo>
                <a:cubicBezTo>
                  <a:pt x="328489" y="0"/>
                  <a:pt x="423333" y="94845"/>
                  <a:pt x="423333" y="211667"/>
                </a:cubicBezTo>
                <a:lnTo>
                  <a:pt x="423333" y="211667"/>
                </a:lnTo>
                <a:cubicBezTo>
                  <a:pt x="423333" y="328489"/>
                  <a:pt x="328489" y="423333"/>
                  <a:pt x="211667" y="423333"/>
                </a:cubicBezTo>
                <a:lnTo>
                  <a:pt x="211667" y="423333"/>
                </a:lnTo>
                <a:cubicBezTo>
                  <a:pt x="94845" y="423333"/>
                  <a:pt x="0" y="328489"/>
                  <a:pt x="0" y="211667"/>
                </a:cubicBezTo>
                <a:lnTo>
                  <a:pt x="0" y="211667"/>
                </a:lnTo>
                <a:cubicBezTo>
                  <a:pt x="0" y="94845"/>
                  <a:pt x="94845" y="0"/>
                  <a:pt x="211667" y="0"/>
                </a:cubicBezTo>
                <a:close/>
              </a:path>
            </a:pathLst>
          </a:custGeom>
          <a:solidFill>
            <a:srgbClr val="38B2AC"/>
          </a:solidFill>
        </p:spPr>
      </p:sp>
      <p:sp>
        <p:nvSpPr>
          <p:cNvPr id="60" name="Text 58"/>
          <p:cNvSpPr/>
          <p:nvPr/>
        </p:nvSpPr>
        <p:spPr>
          <a:xfrm>
            <a:off x="6934200" y="6798737"/>
            <a:ext cx="508000" cy="423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5" b="1" dirty="0">
                <a:solidFill>
                  <a:srgbClr val="1A202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5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7526867" y="6629404"/>
            <a:ext cx="8128000" cy="762000"/>
          </a:xfrm>
          <a:custGeom>
            <a:avLst/>
            <a:gdLst/>
            <a:ahLst/>
            <a:cxnLst/>
            <a:rect l="l" t="t" r="r" b="b"/>
            <a:pathLst>
              <a:path w="8128000" h="762000">
                <a:moveTo>
                  <a:pt x="42337" y="0"/>
                </a:moveTo>
                <a:lnTo>
                  <a:pt x="8085663" y="0"/>
                </a:lnTo>
                <a:cubicBezTo>
                  <a:pt x="8109045" y="0"/>
                  <a:pt x="8128000" y="18955"/>
                  <a:pt x="8128000" y="42337"/>
                </a:cubicBezTo>
                <a:lnTo>
                  <a:pt x="8128000" y="719663"/>
                </a:lnTo>
                <a:cubicBezTo>
                  <a:pt x="8128000" y="743045"/>
                  <a:pt x="8109045" y="762000"/>
                  <a:pt x="8085663" y="762000"/>
                </a:cubicBezTo>
                <a:lnTo>
                  <a:pt x="42337" y="762000"/>
                </a:lnTo>
                <a:cubicBezTo>
                  <a:pt x="18955" y="762000"/>
                  <a:pt x="0" y="743045"/>
                  <a:pt x="0" y="719663"/>
                </a:cubicBezTo>
                <a:lnTo>
                  <a:pt x="0" y="42337"/>
                </a:lnTo>
                <a:cubicBezTo>
                  <a:pt x="0" y="18955"/>
                  <a:pt x="18955" y="0"/>
                  <a:pt x="42337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</p:spPr>
      </p:sp>
      <p:sp>
        <p:nvSpPr>
          <p:cNvPr id="62" name="Text 60"/>
          <p:cNvSpPr/>
          <p:nvPr/>
        </p:nvSpPr>
        <p:spPr>
          <a:xfrm>
            <a:off x="7653867" y="6756404"/>
            <a:ext cx="7958667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辅导员记录干预过程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7653867" y="7052737"/>
            <a:ext cx="7948083" cy="2116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5" dirty="0">
                <a:solidFill>
                  <a:srgbClr val="71809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在系统界面记录对学生的干预措施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6976533" y="7687737"/>
            <a:ext cx="423333" cy="423333"/>
          </a:xfrm>
          <a:custGeom>
            <a:avLst/>
            <a:gdLst/>
            <a:ahLst/>
            <a:cxnLst/>
            <a:rect l="l" t="t" r="r" b="b"/>
            <a:pathLst>
              <a:path w="423333" h="423333">
                <a:moveTo>
                  <a:pt x="211667" y="0"/>
                </a:moveTo>
                <a:lnTo>
                  <a:pt x="211667" y="0"/>
                </a:lnTo>
                <a:cubicBezTo>
                  <a:pt x="328489" y="0"/>
                  <a:pt x="423333" y="94845"/>
                  <a:pt x="423333" y="211667"/>
                </a:cubicBezTo>
                <a:lnTo>
                  <a:pt x="423333" y="211667"/>
                </a:lnTo>
                <a:cubicBezTo>
                  <a:pt x="423333" y="328489"/>
                  <a:pt x="328489" y="423333"/>
                  <a:pt x="211667" y="423333"/>
                </a:cubicBezTo>
                <a:lnTo>
                  <a:pt x="211667" y="423333"/>
                </a:lnTo>
                <a:cubicBezTo>
                  <a:pt x="94845" y="423333"/>
                  <a:pt x="0" y="328489"/>
                  <a:pt x="0" y="211667"/>
                </a:cubicBezTo>
                <a:lnTo>
                  <a:pt x="0" y="211667"/>
                </a:lnTo>
                <a:cubicBezTo>
                  <a:pt x="0" y="94845"/>
                  <a:pt x="94845" y="0"/>
                  <a:pt x="211667" y="0"/>
                </a:cubicBezTo>
                <a:close/>
              </a:path>
            </a:pathLst>
          </a:custGeom>
          <a:solidFill>
            <a:srgbClr val="38B2AC"/>
          </a:solidFill>
        </p:spPr>
      </p:sp>
      <p:sp>
        <p:nvSpPr>
          <p:cNvPr id="65" name="Text 63"/>
          <p:cNvSpPr/>
          <p:nvPr/>
        </p:nvSpPr>
        <p:spPr>
          <a:xfrm>
            <a:off x="6934200" y="7687737"/>
            <a:ext cx="508000" cy="423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5" b="1" dirty="0">
                <a:solidFill>
                  <a:srgbClr val="1A202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6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7526867" y="7518404"/>
            <a:ext cx="8128000" cy="762000"/>
          </a:xfrm>
          <a:custGeom>
            <a:avLst/>
            <a:gdLst/>
            <a:ahLst/>
            <a:cxnLst/>
            <a:rect l="l" t="t" r="r" b="b"/>
            <a:pathLst>
              <a:path w="8128000" h="762000">
                <a:moveTo>
                  <a:pt x="42337" y="0"/>
                </a:moveTo>
                <a:lnTo>
                  <a:pt x="8085663" y="0"/>
                </a:lnTo>
                <a:cubicBezTo>
                  <a:pt x="8109045" y="0"/>
                  <a:pt x="8128000" y="18955"/>
                  <a:pt x="8128000" y="42337"/>
                </a:cubicBezTo>
                <a:lnTo>
                  <a:pt x="8128000" y="719663"/>
                </a:lnTo>
                <a:cubicBezTo>
                  <a:pt x="8128000" y="743045"/>
                  <a:pt x="8109045" y="762000"/>
                  <a:pt x="8085663" y="762000"/>
                </a:cubicBezTo>
                <a:lnTo>
                  <a:pt x="42337" y="762000"/>
                </a:lnTo>
                <a:cubicBezTo>
                  <a:pt x="18955" y="762000"/>
                  <a:pt x="0" y="743045"/>
                  <a:pt x="0" y="719663"/>
                </a:cubicBezTo>
                <a:lnTo>
                  <a:pt x="0" y="42337"/>
                </a:lnTo>
                <a:cubicBezTo>
                  <a:pt x="0" y="18955"/>
                  <a:pt x="18955" y="0"/>
                  <a:pt x="42337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</p:spPr>
      </p:sp>
      <p:sp>
        <p:nvSpPr>
          <p:cNvPr id="67" name="Text 65"/>
          <p:cNvSpPr/>
          <p:nvPr/>
        </p:nvSpPr>
        <p:spPr>
          <a:xfrm>
            <a:off x="7653867" y="7645404"/>
            <a:ext cx="7958667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学生提交整改计划书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7653867" y="7941737"/>
            <a:ext cx="7948083" cy="2116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5" dirty="0">
                <a:solidFill>
                  <a:srgbClr val="71809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学生在界面提交学业整改计划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6976533" y="8576737"/>
            <a:ext cx="423333" cy="423333"/>
          </a:xfrm>
          <a:custGeom>
            <a:avLst/>
            <a:gdLst/>
            <a:ahLst/>
            <a:cxnLst/>
            <a:rect l="l" t="t" r="r" b="b"/>
            <a:pathLst>
              <a:path w="423333" h="423333">
                <a:moveTo>
                  <a:pt x="211667" y="0"/>
                </a:moveTo>
                <a:lnTo>
                  <a:pt x="211667" y="0"/>
                </a:lnTo>
                <a:cubicBezTo>
                  <a:pt x="328489" y="0"/>
                  <a:pt x="423333" y="94845"/>
                  <a:pt x="423333" y="211667"/>
                </a:cubicBezTo>
                <a:lnTo>
                  <a:pt x="423333" y="211667"/>
                </a:lnTo>
                <a:cubicBezTo>
                  <a:pt x="423333" y="328489"/>
                  <a:pt x="328489" y="423333"/>
                  <a:pt x="211667" y="423333"/>
                </a:cubicBezTo>
                <a:lnTo>
                  <a:pt x="211667" y="423333"/>
                </a:lnTo>
                <a:cubicBezTo>
                  <a:pt x="94845" y="423333"/>
                  <a:pt x="0" y="328489"/>
                  <a:pt x="0" y="211667"/>
                </a:cubicBezTo>
                <a:lnTo>
                  <a:pt x="0" y="211667"/>
                </a:lnTo>
                <a:cubicBezTo>
                  <a:pt x="0" y="94845"/>
                  <a:pt x="94845" y="0"/>
                  <a:pt x="211667" y="0"/>
                </a:cubicBezTo>
                <a:close/>
              </a:path>
            </a:pathLst>
          </a:custGeom>
          <a:solidFill>
            <a:srgbClr val="38B2AC"/>
          </a:solidFill>
        </p:spPr>
      </p:sp>
      <p:sp>
        <p:nvSpPr>
          <p:cNvPr id="70" name="Text 68"/>
          <p:cNvSpPr/>
          <p:nvPr/>
        </p:nvSpPr>
        <p:spPr>
          <a:xfrm>
            <a:off x="6934200" y="8576737"/>
            <a:ext cx="508000" cy="423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5" b="1" dirty="0">
                <a:solidFill>
                  <a:srgbClr val="1A202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7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7526867" y="8407404"/>
            <a:ext cx="8128000" cy="762000"/>
          </a:xfrm>
          <a:custGeom>
            <a:avLst/>
            <a:gdLst/>
            <a:ahLst/>
            <a:cxnLst/>
            <a:rect l="l" t="t" r="r" b="b"/>
            <a:pathLst>
              <a:path w="8128000" h="762000">
                <a:moveTo>
                  <a:pt x="42337" y="0"/>
                </a:moveTo>
                <a:lnTo>
                  <a:pt x="8085663" y="0"/>
                </a:lnTo>
                <a:cubicBezTo>
                  <a:pt x="8109045" y="0"/>
                  <a:pt x="8128000" y="18955"/>
                  <a:pt x="8128000" y="42337"/>
                </a:cubicBezTo>
                <a:lnTo>
                  <a:pt x="8128000" y="719663"/>
                </a:lnTo>
                <a:cubicBezTo>
                  <a:pt x="8128000" y="743045"/>
                  <a:pt x="8109045" y="762000"/>
                  <a:pt x="8085663" y="762000"/>
                </a:cubicBezTo>
                <a:lnTo>
                  <a:pt x="42337" y="762000"/>
                </a:lnTo>
                <a:cubicBezTo>
                  <a:pt x="18955" y="762000"/>
                  <a:pt x="0" y="743045"/>
                  <a:pt x="0" y="719663"/>
                </a:cubicBezTo>
                <a:lnTo>
                  <a:pt x="0" y="42337"/>
                </a:lnTo>
                <a:cubicBezTo>
                  <a:pt x="0" y="18955"/>
                  <a:pt x="18955" y="0"/>
                  <a:pt x="42337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</p:spPr>
      </p:sp>
      <p:sp>
        <p:nvSpPr>
          <p:cNvPr id="72" name="Text 70"/>
          <p:cNvSpPr/>
          <p:nvPr/>
        </p:nvSpPr>
        <p:spPr>
          <a:xfrm>
            <a:off x="7653867" y="8534404"/>
            <a:ext cx="7958667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教务处主任查看干预效果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7653867" y="8830737"/>
            <a:ext cx="7948083" cy="2116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5" dirty="0">
                <a:solidFill>
                  <a:srgbClr val="71809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在界面查看干预效果统计数据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3333" y="423333"/>
            <a:ext cx="1926167" cy="338667"/>
          </a:xfrm>
          <a:custGeom>
            <a:avLst/>
            <a:gdLst/>
            <a:ahLst/>
            <a:cxnLst/>
            <a:rect l="l" t="t" r="r" b="b"/>
            <a:pathLst>
              <a:path w="1926167" h="338667">
                <a:moveTo>
                  <a:pt x="42333" y="0"/>
                </a:moveTo>
                <a:lnTo>
                  <a:pt x="1883833" y="0"/>
                </a:lnTo>
                <a:cubicBezTo>
                  <a:pt x="1907213" y="0"/>
                  <a:pt x="1926167" y="18953"/>
                  <a:pt x="1926167" y="42333"/>
                </a:cubicBezTo>
                <a:lnTo>
                  <a:pt x="1926167" y="296333"/>
                </a:lnTo>
                <a:cubicBezTo>
                  <a:pt x="1926167" y="319713"/>
                  <a:pt x="1907213" y="338667"/>
                  <a:pt x="1883833" y="338667"/>
                </a:cubicBezTo>
                <a:lnTo>
                  <a:pt x="42333" y="338667"/>
                </a:lnTo>
                <a:cubicBezTo>
                  <a:pt x="18953" y="338667"/>
                  <a:pt x="0" y="319713"/>
                  <a:pt x="0" y="2963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550333" y="499535"/>
            <a:ext cx="1750483" cy="1947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5" b="1" kern="0" spc="29" dirty="0">
                <a:solidFill>
                  <a:srgbClr val="38B2A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V1.0 CORE FUNCTIONS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23333" y="846667"/>
            <a:ext cx="15599833" cy="423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000" b="1" dirty="0">
                <a:solidFill>
                  <a:srgbClr val="E2E8F0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V1.0核心功能详情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23333" y="1354667"/>
            <a:ext cx="846667" cy="42333"/>
          </a:xfrm>
          <a:custGeom>
            <a:avLst/>
            <a:gdLst/>
            <a:ahLst/>
            <a:cxnLst/>
            <a:rect l="l" t="t" r="r" b="b"/>
            <a:pathLst>
              <a:path w="846667" h="42333">
                <a:moveTo>
                  <a:pt x="0" y="0"/>
                </a:moveTo>
                <a:lnTo>
                  <a:pt x="846667" y="0"/>
                </a:lnTo>
                <a:lnTo>
                  <a:pt x="846667" y="42333"/>
                </a:lnTo>
                <a:lnTo>
                  <a:pt x="0" y="42333"/>
                </a:lnTo>
                <a:lnTo>
                  <a:pt x="0" y="0"/>
                </a:lnTo>
                <a:close/>
              </a:path>
            </a:pathLst>
          </a:custGeom>
          <a:solidFill>
            <a:srgbClr val="38B2AC"/>
          </a:solidFill>
        </p:spPr>
      </p:sp>
      <p:sp>
        <p:nvSpPr>
          <p:cNvPr id="6" name="Shape 4"/>
          <p:cNvSpPr/>
          <p:nvPr/>
        </p:nvSpPr>
        <p:spPr>
          <a:xfrm>
            <a:off x="427567" y="1570567"/>
            <a:ext cx="9237133" cy="10401300"/>
          </a:xfrm>
          <a:custGeom>
            <a:avLst/>
            <a:gdLst/>
            <a:ahLst/>
            <a:cxnLst/>
            <a:rect l="l" t="t" r="r" b="b"/>
            <a:pathLst>
              <a:path w="9237133" h="10401300">
                <a:moveTo>
                  <a:pt x="84705" y="0"/>
                </a:moveTo>
                <a:lnTo>
                  <a:pt x="9152429" y="0"/>
                </a:lnTo>
                <a:cubicBezTo>
                  <a:pt x="9199210" y="0"/>
                  <a:pt x="9237133" y="37924"/>
                  <a:pt x="9237133" y="84705"/>
                </a:cubicBezTo>
                <a:lnTo>
                  <a:pt x="9237133" y="10316595"/>
                </a:lnTo>
                <a:cubicBezTo>
                  <a:pt x="9237133" y="10363376"/>
                  <a:pt x="9199210" y="10401300"/>
                  <a:pt x="9152429" y="10401300"/>
                </a:cubicBezTo>
                <a:lnTo>
                  <a:pt x="84705" y="10401300"/>
                </a:lnTo>
                <a:cubicBezTo>
                  <a:pt x="37924" y="10401300"/>
                  <a:pt x="0" y="10363376"/>
                  <a:pt x="0" y="10316595"/>
                </a:cubicBezTo>
                <a:lnTo>
                  <a:pt x="0" y="84705"/>
                </a:lnTo>
                <a:cubicBezTo>
                  <a:pt x="0" y="37924"/>
                  <a:pt x="37924" y="0"/>
                  <a:pt x="84705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10160">
            <a:solidFill>
              <a:srgbClr val="38B2AC">
                <a:alpha val="30196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1133" y="1744131"/>
            <a:ext cx="8995833" cy="296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5" b="1" dirty="0">
                <a:solidFill>
                  <a:srgbClr val="38B2A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核心控制器实现（按角色拆分）</a:t>
            </a:r>
            <a:endParaRPr lang="en-US" sz="1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/>
        </p:nvGraphicFramePr>
        <p:xfrm>
          <a:off x="601133" y="2167465"/>
          <a:ext cx="8890001" cy="4032252"/>
        </p:xfrm>
        <a:graphic>
          <a:graphicData uri="http://schemas.openxmlformats.org/drawingml/2006/table">
            <a:tbl>
              <a:tblPr/>
              <a:tblGrid>
                <a:gridCol w="2021417"/>
                <a:gridCol w="3767667"/>
                <a:gridCol w="3100917"/>
              </a:tblGrid>
              <a:tr h="672042">
                <a:tc>
                  <a:txBody>
                    <a:bodyPr/>
                    <a:lstStyle/>
                    <a:p>
                      <a:pPr algn="l"/>
                      <a:r>
                        <a:rPr lang="en-US" sz="1100" b="1" u="none" dirty="0">
                          <a:solidFill>
                            <a:srgbClr val="38B2A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控制器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0320" cap="flat" cmpd="sng" algn="ctr">
                      <a:solidFill>
                        <a:srgbClr val="38B2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u="none" dirty="0">
                          <a:solidFill>
                            <a:srgbClr val="38B2A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核心接口示例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0320" cap="flat" cmpd="sng" algn="ctr">
                      <a:solidFill>
                        <a:srgbClr val="38B2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u="none" dirty="0">
                          <a:solidFill>
                            <a:srgbClr val="38B2A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对应界面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0320" cap="flat" cmpd="sng" algn="ctr">
                      <a:solidFill>
                        <a:srgbClr val="38B2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672042">
                <a:tc>
                  <a:txBody>
                    <a:bodyPr/>
                    <a:lstStyle/>
                    <a:p>
                      <a:r>
                        <a:rPr lang="en-US" sz="1100" b="1" u="none" dirty="0">
                          <a:solidFill>
                            <a:srgbClr val="38B2A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StudentController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/student/score（成绩查询）</a:t>
                      </a:r>
                      <a:endParaRPr lang="en-US" sz="1100" u="none" dirty="0">
                        <a:solidFill>
                          <a:srgbClr val="E2E8F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  <a:p>
                      <a:r>
                        <a:rPr lang="en-US" sz="1100" u="none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 /student/warning（预警查看）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r>
                        <a:rPr lang="en-US" sz="1100" u="none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 /student/plan（整改计划提交）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学生端成绩查询/预警消息界面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672042">
                <a:tc>
                  <a:txBody>
                    <a:bodyPr/>
                    <a:lstStyle/>
                    <a:p>
                      <a:r>
                        <a:rPr lang="en-US" sz="1100" b="1" u="none" dirty="0">
                          <a:solidFill>
                            <a:srgbClr val="38B2A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CounsellorController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/counsellor/student/add（学生信息录入）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r>
                        <a:rPr lang="en-US" sz="1100" u="none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 /counsellor/intervention（干预记录）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辅导员端预警管理/干预记录界面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672042">
                <a:tc>
                  <a:txBody>
                    <a:bodyPr/>
                    <a:lstStyle/>
                    <a:p>
                      <a:r>
                        <a:rPr lang="en-US" sz="1100" b="1" u="none" dirty="0">
                          <a:solidFill>
                            <a:srgbClr val="38B2A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TeacherController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/teacher/attendance（考勤录入）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r>
                        <a:rPr lang="en-US" sz="1100" u="none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/teacher/score（成绩录入）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教师端考勤管理/成绩管理界面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672042">
                <a:tc>
                  <a:txBody>
                    <a:bodyPr/>
                    <a:lstStyle/>
                    <a:p>
                      <a:r>
                        <a:rPr lang="en-US" sz="1100" b="1" u="none" dirty="0">
                          <a:solidFill>
                            <a:srgbClr val="38B2A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DeanController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/dean/rule/config（规则配置）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r>
                        <a:rPr lang="en-US" sz="1100" u="none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 /dean/data/stat（数据统计）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r>
                        <a:rPr lang="en-US" sz="1100" u="none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  /dean/data/export（数据导出）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教务处主任规则配置/数据统计界面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672042">
                <a:tc>
                  <a:txBody>
                    <a:bodyPr/>
                    <a:lstStyle/>
                    <a:p>
                      <a:r>
                        <a:rPr lang="en-US" sz="1100" b="1" u="none" dirty="0">
                          <a:solidFill>
                            <a:srgbClr val="38B2A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AdminController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/admin/user/manage（用户管理）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r>
                        <a:rPr lang="en-US" sz="1100" u="none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/admin/data/sync（成绩同步）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r>
                        <a:rPr lang="en-US" sz="1100" u="none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 /admin/log（日志管理）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管理员端各用户管理/数据同步界面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27567" y="12149797"/>
            <a:ext cx="9237133" cy="1786467"/>
          </a:xfrm>
          <a:custGeom>
            <a:avLst/>
            <a:gdLst/>
            <a:ahLst/>
            <a:cxnLst/>
            <a:rect l="l" t="t" r="r" b="b"/>
            <a:pathLst>
              <a:path w="9237133" h="1786467">
                <a:moveTo>
                  <a:pt x="84661" y="0"/>
                </a:moveTo>
                <a:lnTo>
                  <a:pt x="9152473" y="0"/>
                </a:lnTo>
                <a:cubicBezTo>
                  <a:pt x="9199229" y="0"/>
                  <a:pt x="9237133" y="37904"/>
                  <a:pt x="9237133" y="84661"/>
                </a:cubicBezTo>
                <a:lnTo>
                  <a:pt x="9237133" y="1701806"/>
                </a:lnTo>
                <a:cubicBezTo>
                  <a:pt x="9237133" y="1748563"/>
                  <a:pt x="9199229" y="1786467"/>
                  <a:pt x="9152473" y="1786467"/>
                </a:cubicBezTo>
                <a:lnTo>
                  <a:pt x="84661" y="1786467"/>
                </a:lnTo>
                <a:cubicBezTo>
                  <a:pt x="37904" y="1786467"/>
                  <a:pt x="0" y="1748563"/>
                  <a:pt x="0" y="1701806"/>
                </a:cubicBezTo>
                <a:lnTo>
                  <a:pt x="0" y="84661"/>
                </a:lnTo>
                <a:cubicBezTo>
                  <a:pt x="0" y="37935"/>
                  <a:pt x="37935" y="0"/>
                  <a:pt x="84661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10160">
            <a:solidFill>
              <a:srgbClr val="4A5568">
                <a:alpha val="30196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01133" y="12323372"/>
            <a:ext cx="8985250" cy="296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数据统计模块（V1.0）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01133" y="12746705"/>
            <a:ext cx="2878667" cy="1016000"/>
          </a:xfrm>
          <a:custGeom>
            <a:avLst/>
            <a:gdLst/>
            <a:ahLst/>
            <a:cxnLst/>
            <a:rect l="l" t="t" r="r" b="b"/>
            <a:pathLst>
              <a:path w="2878667" h="1016000">
                <a:moveTo>
                  <a:pt x="42337" y="0"/>
                </a:moveTo>
                <a:lnTo>
                  <a:pt x="2836330" y="0"/>
                </a:lnTo>
                <a:cubicBezTo>
                  <a:pt x="2859712" y="0"/>
                  <a:pt x="2878667" y="18955"/>
                  <a:pt x="2878667" y="42337"/>
                </a:cubicBezTo>
                <a:lnTo>
                  <a:pt x="2878667" y="973663"/>
                </a:lnTo>
                <a:cubicBezTo>
                  <a:pt x="2878667" y="997045"/>
                  <a:pt x="2859712" y="1016000"/>
                  <a:pt x="2836330" y="1016000"/>
                </a:cubicBezTo>
                <a:lnTo>
                  <a:pt x="42337" y="1016000"/>
                </a:lnTo>
                <a:cubicBezTo>
                  <a:pt x="18955" y="1016000"/>
                  <a:pt x="0" y="997045"/>
                  <a:pt x="0" y="973663"/>
                </a:cubicBezTo>
                <a:lnTo>
                  <a:pt x="0" y="42337"/>
                </a:lnTo>
                <a:cubicBezTo>
                  <a:pt x="0" y="18955"/>
                  <a:pt x="18955" y="0"/>
                  <a:pt x="42337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</p:spPr>
      </p:sp>
      <p:sp>
        <p:nvSpPr>
          <p:cNvPr id="12" name="Shape 9"/>
          <p:cNvSpPr/>
          <p:nvPr/>
        </p:nvSpPr>
        <p:spPr>
          <a:xfrm>
            <a:off x="1897592" y="12873705"/>
            <a:ext cx="285750" cy="254000"/>
          </a:xfrm>
          <a:custGeom>
            <a:avLst/>
            <a:gdLst/>
            <a:ahLst/>
            <a:cxnLst/>
            <a:rect l="l" t="t" r="r" b="b"/>
            <a:pathLst>
              <a:path w="285750" h="254000">
                <a:moveTo>
                  <a:pt x="254198" y="119063"/>
                </a:moveTo>
                <a:lnTo>
                  <a:pt x="166886" y="119063"/>
                </a:lnTo>
                <a:cubicBezTo>
                  <a:pt x="158105" y="119063"/>
                  <a:pt x="151011" y="111968"/>
                  <a:pt x="151011" y="103188"/>
                </a:cubicBezTo>
                <a:lnTo>
                  <a:pt x="151011" y="15875"/>
                </a:lnTo>
                <a:cubicBezTo>
                  <a:pt x="151011" y="7094"/>
                  <a:pt x="158155" y="-99"/>
                  <a:pt x="166836" y="1042"/>
                </a:cubicBezTo>
                <a:cubicBezTo>
                  <a:pt x="219918" y="8086"/>
                  <a:pt x="261987" y="50155"/>
                  <a:pt x="269032" y="103237"/>
                </a:cubicBezTo>
                <a:cubicBezTo>
                  <a:pt x="270173" y="111919"/>
                  <a:pt x="262979" y="119063"/>
                  <a:pt x="254198" y="119063"/>
                </a:cubicBezTo>
                <a:close/>
                <a:moveTo>
                  <a:pt x="110430" y="18455"/>
                </a:moveTo>
                <a:cubicBezTo>
                  <a:pt x="119410" y="16570"/>
                  <a:pt x="127198" y="23912"/>
                  <a:pt x="127198" y="33089"/>
                </a:cubicBezTo>
                <a:lnTo>
                  <a:pt x="127198" y="130969"/>
                </a:lnTo>
                <a:cubicBezTo>
                  <a:pt x="127198" y="133747"/>
                  <a:pt x="128191" y="136426"/>
                  <a:pt x="129927" y="138559"/>
                </a:cubicBezTo>
                <a:lnTo>
                  <a:pt x="195461" y="217636"/>
                </a:lnTo>
                <a:cubicBezTo>
                  <a:pt x="201265" y="224631"/>
                  <a:pt x="200025" y="235198"/>
                  <a:pt x="192038" y="239514"/>
                </a:cubicBezTo>
                <a:cubicBezTo>
                  <a:pt x="175121" y="248741"/>
                  <a:pt x="155724" y="254000"/>
                  <a:pt x="135136" y="254000"/>
                </a:cubicBezTo>
                <a:cubicBezTo>
                  <a:pt x="69404" y="254000"/>
                  <a:pt x="16073" y="200670"/>
                  <a:pt x="16073" y="134938"/>
                </a:cubicBezTo>
                <a:cubicBezTo>
                  <a:pt x="16073" y="77639"/>
                  <a:pt x="56505" y="29815"/>
                  <a:pt x="110430" y="18455"/>
                </a:cubicBezTo>
                <a:close/>
                <a:moveTo>
                  <a:pt x="237034" y="142875"/>
                </a:moveTo>
                <a:lnTo>
                  <a:pt x="268784" y="142875"/>
                </a:lnTo>
                <a:cubicBezTo>
                  <a:pt x="277961" y="142875"/>
                  <a:pt x="285304" y="150664"/>
                  <a:pt x="283418" y="159643"/>
                </a:cubicBezTo>
                <a:cubicBezTo>
                  <a:pt x="278358" y="183654"/>
                  <a:pt x="266055" y="204986"/>
                  <a:pt x="248890" y="221258"/>
                </a:cubicBezTo>
                <a:cubicBezTo>
                  <a:pt x="242788" y="227062"/>
                  <a:pt x="233214" y="225822"/>
                  <a:pt x="227856" y="219323"/>
                </a:cubicBezTo>
                <a:lnTo>
                  <a:pt x="185986" y="168870"/>
                </a:lnTo>
                <a:cubicBezTo>
                  <a:pt x="177403" y="158502"/>
                  <a:pt x="184795" y="142875"/>
                  <a:pt x="198189" y="142875"/>
                </a:cubicBezTo>
                <a:lnTo>
                  <a:pt x="236984" y="142875"/>
                </a:lnTo>
                <a:close/>
              </a:path>
            </a:pathLst>
          </a:custGeom>
          <a:solidFill>
            <a:srgbClr val="38B2AC"/>
          </a:solidFill>
        </p:spPr>
      </p:sp>
      <p:sp>
        <p:nvSpPr>
          <p:cNvPr id="8" name="Text 10"/>
          <p:cNvSpPr/>
          <p:nvPr/>
        </p:nvSpPr>
        <p:spPr>
          <a:xfrm>
            <a:off x="691092" y="13212372"/>
            <a:ext cx="2698750" cy="2116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65" b="1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院系预警人数饼图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96383" y="13466372"/>
            <a:ext cx="2688167" cy="169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00" dirty="0">
                <a:solidFill>
                  <a:srgbClr val="71809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基于ECharts实现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3606800" y="12746705"/>
            <a:ext cx="2878667" cy="1016000"/>
          </a:xfrm>
          <a:custGeom>
            <a:avLst/>
            <a:gdLst/>
            <a:ahLst/>
            <a:cxnLst/>
            <a:rect l="l" t="t" r="r" b="b"/>
            <a:pathLst>
              <a:path w="2878667" h="1016000">
                <a:moveTo>
                  <a:pt x="42337" y="0"/>
                </a:moveTo>
                <a:lnTo>
                  <a:pt x="2836330" y="0"/>
                </a:lnTo>
                <a:cubicBezTo>
                  <a:pt x="2859712" y="0"/>
                  <a:pt x="2878667" y="18955"/>
                  <a:pt x="2878667" y="42337"/>
                </a:cubicBezTo>
                <a:lnTo>
                  <a:pt x="2878667" y="973663"/>
                </a:lnTo>
                <a:cubicBezTo>
                  <a:pt x="2878667" y="997045"/>
                  <a:pt x="2859712" y="1016000"/>
                  <a:pt x="2836330" y="1016000"/>
                </a:cubicBezTo>
                <a:lnTo>
                  <a:pt x="42337" y="1016000"/>
                </a:lnTo>
                <a:cubicBezTo>
                  <a:pt x="18955" y="1016000"/>
                  <a:pt x="0" y="997045"/>
                  <a:pt x="0" y="973663"/>
                </a:cubicBezTo>
                <a:lnTo>
                  <a:pt x="0" y="42337"/>
                </a:lnTo>
                <a:cubicBezTo>
                  <a:pt x="0" y="18955"/>
                  <a:pt x="18955" y="0"/>
                  <a:pt x="42337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</p:spPr>
      </p:sp>
      <p:sp>
        <p:nvSpPr>
          <p:cNvPr id="16" name="Shape 13"/>
          <p:cNvSpPr/>
          <p:nvPr/>
        </p:nvSpPr>
        <p:spPr>
          <a:xfrm>
            <a:off x="4919134" y="12873705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31750" y="31750"/>
                </a:moveTo>
                <a:cubicBezTo>
                  <a:pt x="31750" y="22969"/>
                  <a:pt x="24656" y="15875"/>
                  <a:pt x="15875" y="15875"/>
                </a:cubicBezTo>
                <a:cubicBezTo>
                  <a:pt x="7094" y="15875"/>
                  <a:pt x="0" y="22969"/>
                  <a:pt x="0" y="31750"/>
                </a:cubicBezTo>
                <a:lnTo>
                  <a:pt x="0" y="198438"/>
                </a:lnTo>
                <a:cubicBezTo>
                  <a:pt x="0" y="220365"/>
                  <a:pt x="17760" y="238125"/>
                  <a:pt x="39688" y="238125"/>
                </a:cubicBezTo>
                <a:lnTo>
                  <a:pt x="238125" y="238125"/>
                </a:lnTo>
                <a:cubicBezTo>
                  <a:pt x="246906" y="238125"/>
                  <a:pt x="254000" y="231031"/>
                  <a:pt x="254000" y="222250"/>
                </a:cubicBezTo>
                <a:cubicBezTo>
                  <a:pt x="254000" y="213469"/>
                  <a:pt x="246906" y="206375"/>
                  <a:pt x="238125" y="206375"/>
                </a:cubicBezTo>
                <a:lnTo>
                  <a:pt x="39688" y="206375"/>
                </a:lnTo>
                <a:cubicBezTo>
                  <a:pt x="35322" y="206375"/>
                  <a:pt x="31750" y="202803"/>
                  <a:pt x="31750" y="198438"/>
                </a:cubicBezTo>
                <a:lnTo>
                  <a:pt x="31750" y="31750"/>
                </a:lnTo>
                <a:close/>
                <a:moveTo>
                  <a:pt x="233462" y="74712"/>
                </a:moveTo>
                <a:cubicBezTo>
                  <a:pt x="239663" y="68511"/>
                  <a:pt x="239663" y="58440"/>
                  <a:pt x="233462" y="52239"/>
                </a:cubicBezTo>
                <a:cubicBezTo>
                  <a:pt x="227261" y="46037"/>
                  <a:pt x="217190" y="46037"/>
                  <a:pt x="210989" y="52239"/>
                </a:cubicBezTo>
                <a:lnTo>
                  <a:pt x="158750" y="104527"/>
                </a:lnTo>
                <a:lnTo>
                  <a:pt x="130274" y="76101"/>
                </a:lnTo>
                <a:cubicBezTo>
                  <a:pt x="124073" y="69900"/>
                  <a:pt x="114002" y="69900"/>
                  <a:pt x="107801" y="76101"/>
                </a:cubicBezTo>
                <a:lnTo>
                  <a:pt x="60176" y="123726"/>
                </a:lnTo>
                <a:cubicBezTo>
                  <a:pt x="53975" y="129927"/>
                  <a:pt x="53975" y="139998"/>
                  <a:pt x="60176" y="146199"/>
                </a:cubicBezTo>
                <a:cubicBezTo>
                  <a:pt x="66377" y="152400"/>
                  <a:pt x="76448" y="152400"/>
                  <a:pt x="82649" y="146199"/>
                </a:cubicBezTo>
                <a:lnTo>
                  <a:pt x="119063" y="109786"/>
                </a:lnTo>
                <a:lnTo>
                  <a:pt x="147538" y="138261"/>
                </a:lnTo>
                <a:cubicBezTo>
                  <a:pt x="153739" y="144463"/>
                  <a:pt x="163810" y="144463"/>
                  <a:pt x="170011" y="138261"/>
                </a:cubicBezTo>
                <a:lnTo>
                  <a:pt x="233511" y="74761"/>
                </a:lnTo>
                <a:close/>
              </a:path>
            </a:pathLst>
          </a:custGeom>
          <a:solidFill>
            <a:srgbClr val="38B2AC"/>
          </a:solidFill>
        </p:spPr>
      </p:sp>
      <p:sp>
        <p:nvSpPr>
          <p:cNvPr id="17" name="Text 14"/>
          <p:cNvSpPr/>
          <p:nvPr/>
        </p:nvSpPr>
        <p:spPr>
          <a:xfrm>
            <a:off x="3696759" y="13212372"/>
            <a:ext cx="2698750" cy="2116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65" b="1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年级预警趋势线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3702050" y="13466372"/>
            <a:ext cx="2688167" cy="169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00" dirty="0">
                <a:solidFill>
                  <a:srgbClr val="71809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展示预警变化趋势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6612467" y="12746705"/>
            <a:ext cx="2878667" cy="1016000"/>
          </a:xfrm>
          <a:custGeom>
            <a:avLst/>
            <a:gdLst/>
            <a:ahLst/>
            <a:cxnLst/>
            <a:rect l="l" t="t" r="r" b="b"/>
            <a:pathLst>
              <a:path w="2878667" h="1016000">
                <a:moveTo>
                  <a:pt x="42337" y="0"/>
                </a:moveTo>
                <a:lnTo>
                  <a:pt x="2836330" y="0"/>
                </a:lnTo>
                <a:cubicBezTo>
                  <a:pt x="2859712" y="0"/>
                  <a:pt x="2878667" y="18955"/>
                  <a:pt x="2878667" y="42337"/>
                </a:cubicBezTo>
                <a:lnTo>
                  <a:pt x="2878667" y="973663"/>
                </a:lnTo>
                <a:cubicBezTo>
                  <a:pt x="2878667" y="997045"/>
                  <a:pt x="2859712" y="1016000"/>
                  <a:pt x="2836330" y="1016000"/>
                </a:cubicBezTo>
                <a:lnTo>
                  <a:pt x="42337" y="1016000"/>
                </a:lnTo>
                <a:cubicBezTo>
                  <a:pt x="18955" y="1016000"/>
                  <a:pt x="0" y="997045"/>
                  <a:pt x="0" y="973663"/>
                </a:cubicBezTo>
                <a:lnTo>
                  <a:pt x="0" y="42337"/>
                </a:lnTo>
                <a:cubicBezTo>
                  <a:pt x="0" y="18955"/>
                  <a:pt x="18955" y="0"/>
                  <a:pt x="42337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</p:spPr>
      </p:sp>
      <p:sp>
        <p:nvSpPr>
          <p:cNvPr id="20" name="Shape 17"/>
          <p:cNvSpPr/>
          <p:nvPr/>
        </p:nvSpPr>
        <p:spPr>
          <a:xfrm>
            <a:off x="7956550" y="12873705"/>
            <a:ext cx="190500" cy="254000"/>
          </a:xfrm>
          <a:custGeom>
            <a:avLst/>
            <a:gdLst/>
            <a:ahLst/>
            <a:cxnLst/>
            <a:rect l="l" t="t" r="r" b="b"/>
            <a:pathLst>
              <a:path w="190500" h="254000">
                <a:moveTo>
                  <a:pt x="0" y="31750"/>
                </a:moveTo>
                <a:cubicBezTo>
                  <a:pt x="0" y="14238"/>
                  <a:pt x="14238" y="0"/>
                  <a:pt x="31750" y="0"/>
                </a:cubicBezTo>
                <a:lnTo>
                  <a:pt x="105916" y="0"/>
                </a:lnTo>
                <a:cubicBezTo>
                  <a:pt x="114350" y="0"/>
                  <a:pt x="122436" y="3324"/>
                  <a:pt x="128389" y="9277"/>
                </a:cubicBezTo>
                <a:lnTo>
                  <a:pt x="181223" y="62161"/>
                </a:lnTo>
                <a:cubicBezTo>
                  <a:pt x="187176" y="68114"/>
                  <a:pt x="190500" y="76200"/>
                  <a:pt x="190500" y="84634"/>
                </a:cubicBezTo>
                <a:lnTo>
                  <a:pt x="190500" y="222250"/>
                </a:lnTo>
                <a:cubicBezTo>
                  <a:pt x="190500" y="239762"/>
                  <a:pt x="176262" y="254000"/>
                  <a:pt x="158750" y="254000"/>
                </a:cubicBezTo>
                <a:lnTo>
                  <a:pt x="31750" y="254000"/>
                </a:lnTo>
                <a:cubicBezTo>
                  <a:pt x="14238" y="254000"/>
                  <a:pt x="0" y="239762"/>
                  <a:pt x="0" y="222250"/>
                </a:cubicBezTo>
                <a:lnTo>
                  <a:pt x="0" y="31750"/>
                </a:lnTo>
                <a:close/>
                <a:moveTo>
                  <a:pt x="103188" y="29021"/>
                </a:moveTo>
                <a:lnTo>
                  <a:pt x="103188" y="75406"/>
                </a:lnTo>
                <a:cubicBezTo>
                  <a:pt x="103188" y="82004"/>
                  <a:pt x="108496" y="87313"/>
                  <a:pt x="115094" y="87313"/>
                </a:cubicBezTo>
                <a:lnTo>
                  <a:pt x="161479" y="87313"/>
                </a:lnTo>
                <a:lnTo>
                  <a:pt x="103188" y="29021"/>
                </a:lnTo>
                <a:close/>
                <a:moveTo>
                  <a:pt x="81359" y="132308"/>
                </a:moveTo>
                <a:cubicBezTo>
                  <a:pt x="77688" y="126851"/>
                  <a:pt x="70296" y="125363"/>
                  <a:pt x="64839" y="128984"/>
                </a:cubicBezTo>
                <a:cubicBezTo>
                  <a:pt x="59382" y="132606"/>
                  <a:pt x="57894" y="140047"/>
                  <a:pt x="61516" y="145504"/>
                </a:cubicBezTo>
                <a:lnTo>
                  <a:pt x="80962" y="174625"/>
                </a:lnTo>
                <a:lnTo>
                  <a:pt x="61516" y="203746"/>
                </a:lnTo>
                <a:cubicBezTo>
                  <a:pt x="57845" y="209203"/>
                  <a:pt x="59333" y="216595"/>
                  <a:pt x="64839" y="220266"/>
                </a:cubicBezTo>
                <a:cubicBezTo>
                  <a:pt x="70346" y="223937"/>
                  <a:pt x="77688" y="222448"/>
                  <a:pt x="81359" y="216942"/>
                </a:cubicBezTo>
                <a:lnTo>
                  <a:pt x="95250" y="196106"/>
                </a:lnTo>
                <a:lnTo>
                  <a:pt x="109141" y="216942"/>
                </a:lnTo>
                <a:cubicBezTo>
                  <a:pt x="112812" y="222399"/>
                  <a:pt x="120204" y="223887"/>
                  <a:pt x="125661" y="220266"/>
                </a:cubicBezTo>
                <a:cubicBezTo>
                  <a:pt x="131118" y="216644"/>
                  <a:pt x="132606" y="209203"/>
                  <a:pt x="128984" y="203746"/>
                </a:cubicBezTo>
                <a:lnTo>
                  <a:pt x="109538" y="174625"/>
                </a:lnTo>
                <a:lnTo>
                  <a:pt x="128984" y="145504"/>
                </a:lnTo>
                <a:cubicBezTo>
                  <a:pt x="132655" y="140047"/>
                  <a:pt x="131167" y="132655"/>
                  <a:pt x="125661" y="128984"/>
                </a:cubicBezTo>
                <a:cubicBezTo>
                  <a:pt x="120154" y="125313"/>
                  <a:pt x="112812" y="126802"/>
                  <a:pt x="109141" y="132308"/>
                </a:cubicBezTo>
                <a:lnTo>
                  <a:pt x="95250" y="153144"/>
                </a:lnTo>
                <a:lnTo>
                  <a:pt x="81359" y="132308"/>
                </a:lnTo>
                <a:close/>
              </a:path>
            </a:pathLst>
          </a:custGeom>
          <a:solidFill>
            <a:srgbClr val="38B2AC"/>
          </a:solidFill>
        </p:spPr>
      </p:sp>
      <p:sp>
        <p:nvSpPr>
          <p:cNvPr id="21" name="Text 18"/>
          <p:cNvSpPr/>
          <p:nvPr/>
        </p:nvSpPr>
        <p:spPr>
          <a:xfrm>
            <a:off x="6702425" y="13212372"/>
            <a:ext cx="2698750" cy="2116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65" b="1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数据导出Excel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707717" y="13466372"/>
            <a:ext cx="2688167" cy="169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00" dirty="0">
                <a:solidFill>
                  <a:srgbClr val="71809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支持预警数据导出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10062634" y="9253012"/>
            <a:ext cx="5585883" cy="1087967"/>
          </a:xfrm>
          <a:custGeom>
            <a:avLst/>
            <a:gdLst/>
            <a:ahLst/>
            <a:cxnLst/>
            <a:rect l="l" t="t" r="r" b="b"/>
            <a:pathLst>
              <a:path w="5585883" h="1087967">
                <a:moveTo>
                  <a:pt x="42333" y="0"/>
                </a:moveTo>
                <a:lnTo>
                  <a:pt x="5543551" y="0"/>
                </a:lnTo>
                <a:cubicBezTo>
                  <a:pt x="5566930" y="0"/>
                  <a:pt x="5585883" y="18953"/>
                  <a:pt x="5585883" y="42333"/>
                </a:cubicBezTo>
                <a:lnTo>
                  <a:pt x="5585883" y="1045634"/>
                </a:lnTo>
                <a:cubicBezTo>
                  <a:pt x="5585883" y="1069014"/>
                  <a:pt x="5566930" y="1087967"/>
                  <a:pt x="5543551" y="1087967"/>
                </a:cubicBezTo>
                <a:lnTo>
                  <a:pt x="42333" y="1087967"/>
                </a:lnTo>
                <a:cubicBezTo>
                  <a:pt x="18953" y="1087967"/>
                  <a:pt x="0" y="1069014"/>
                  <a:pt x="0" y="1045634"/>
                </a:cubicBezTo>
                <a:lnTo>
                  <a:pt x="0" y="42333"/>
                </a:lnTo>
                <a:cubicBezTo>
                  <a:pt x="0" y="18969"/>
                  <a:pt x="18969" y="0"/>
                  <a:pt x="42333" y="0"/>
                </a:cubicBezTo>
                <a:close/>
              </a:path>
            </a:pathLst>
          </a:custGeom>
          <a:solidFill>
            <a:srgbClr val="38B2AC">
              <a:alpha val="10196"/>
            </a:srgbClr>
          </a:solidFill>
          <a:ln w="10160">
            <a:solidFill>
              <a:srgbClr val="38B2AC">
                <a:alpha val="30196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0193867" y="9384244"/>
            <a:ext cx="5408083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38B2A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核心逻辑说明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10193867" y="9722910"/>
            <a:ext cx="5397500" cy="4868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5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遍历学生成绩列表，与预警规则进行匹配。当成绩低于阈值且规则类型为"FAIL"（挂科）时，创建预警信息，设置学生ID、预警原因和风险等级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10058400" y="10466917"/>
            <a:ext cx="1809750" cy="677333"/>
          </a:xfrm>
          <a:custGeom>
            <a:avLst/>
            <a:gdLst/>
            <a:ahLst/>
            <a:cxnLst/>
            <a:rect l="l" t="t" r="r" b="b"/>
            <a:pathLst>
              <a:path w="1809750" h="677333">
                <a:moveTo>
                  <a:pt x="42333" y="0"/>
                </a:moveTo>
                <a:lnTo>
                  <a:pt x="1767417" y="0"/>
                </a:lnTo>
                <a:cubicBezTo>
                  <a:pt x="1790797" y="0"/>
                  <a:pt x="1809750" y="18953"/>
                  <a:pt x="1809750" y="42333"/>
                </a:cubicBezTo>
                <a:lnTo>
                  <a:pt x="1809750" y="635000"/>
                </a:lnTo>
                <a:cubicBezTo>
                  <a:pt x="1809750" y="658380"/>
                  <a:pt x="1790797" y="677333"/>
                  <a:pt x="1767417" y="677333"/>
                </a:cubicBezTo>
                <a:lnTo>
                  <a:pt x="42333" y="677333"/>
                </a:lnTo>
                <a:cubicBezTo>
                  <a:pt x="18953" y="677333"/>
                  <a:pt x="0" y="658380"/>
                  <a:pt x="0" y="63500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</p:spPr>
      </p:sp>
      <p:sp>
        <p:nvSpPr>
          <p:cNvPr id="32" name="Text 29"/>
          <p:cNvSpPr/>
          <p:nvPr/>
        </p:nvSpPr>
        <p:spPr>
          <a:xfrm>
            <a:off x="10095442" y="10551583"/>
            <a:ext cx="1735667" cy="296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00" b="1" dirty="0">
                <a:solidFill>
                  <a:srgbClr val="38B2A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规则匹配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10111317" y="10890250"/>
            <a:ext cx="1703917" cy="169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00" dirty="0">
                <a:solidFill>
                  <a:srgbClr val="71809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按预设规则自动扫描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11952024" y="10466917"/>
            <a:ext cx="1809750" cy="677333"/>
          </a:xfrm>
          <a:custGeom>
            <a:avLst/>
            <a:gdLst/>
            <a:ahLst/>
            <a:cxnLst/>
            <a:rect l="l" t="t" r="r" b="b"/>
            <a:pathLst>
              <a:path w="1809750" h="677333">
                <a:moveTo>
                  <a:pt x="42333" y="0"/>
                </a:moveTo>
                <a:lnTo>
                  <a:pt x="1767417" y="0"/>
                </a:lnTo>
                <a:cubicBezTo>
                  <a:pt x="1790797" y="0"/>
                  <a:pt x="1809750" y="18953"/>
                  <a:pt x="1809750" y="42333"/>
                </a:cubicBezTo>
                <a:lnTo>
                  <a:pt x="1809750" y="635000"/>
                </a:lnTo>
                <a:cubicBezTo>
                  <a:pt x="1809750" y="658380"/>
                  <a:pt x="1790797" y="677333"/>
                  <a:pt x="1767417" y="677333"/>
                </a:cubicBezTo>
                <a:lnTo>
                  <a:pt x="42333" y="677333"/>
                </a:lnTo>
                <a:cubicBezTo>
                  <a:pt x="18953" y="677333"/>
                  <a:pt x="0" y="658380"/>
                  <a:pt x="0" y="63500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</p:spPr>
      </p:sp>
      <p:sp>
        <p:nvSpPr>
          <p:cNvPr id="35" name="Text 32"/>
          <p:cNvSpPr/>
          <p:nvPr/>
        </p:nvSpPr>
        <p:spPr>
          <a:xfrm>
            <a:off x="11989065" y="10551583"/>
            <a:ext cx="1735667" cy="296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00" b="1" dirty="0">
                <a:solidFill>
                  <a:srgbClr val="38B2A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风险分级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12004940" y="10890250"/>
            <a:ext cx="1703917" cy="169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00" dirty="0">
                <a:solidFill>
                  <a:srgbClr val="71809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根据规则判定等级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13845779" y="10466917"/>
            <a:ext cx="1809750" cy="677333"/>
          </a:xfrm>
          <a:custGeom>
            <a:avLst/>
            <a:gdLst/>
            <a:ahLst/>
            <a:cxnLst/>
            <a:rect l="l" t="t" r="r" b="b"/>
            <a:pathLst>
              <a:path w="1809750" h="677333">
                <a:moveTo>
                  <a:pt x="42333" y="0"/>
                </a:moveTo>
                <a:lnTo>
                  <a:pt x="1767417" y="0"/>
                </a:lnTo>
                <a:cubicBezTo>
                  <a:pt x="1790797" y="0"/>
                  <a:pt x="1809750" y="18953"/>
                  <a:pt x="1809750" y="42333"/>
                </a:cubicBezTo>
                <a:lnTo>
                  <a:pt x="1809750" y="635000"/>
                </a:lnTo>
                <a:cubicBezTo>
                  <a:pt x="1809750" y="658380"/>
                  <a:pt x="1790797" y="677333"/>
                  <a:pt x="1767417" y="677333"/>
                </a:cubicBezTo>
                <a:lnTo>
                  <a:pt x="42333" y="677333"/>
                </a:lnTo>
                <a:cubicBezTo>
                  <a:pt x="18953" y="677333"/>
                  <a:pt x="0" y="658380"/>
                  <a:pt x="0" y="63500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</p:spPr>
      </p:sp>
      <p:sp>
        <p:nvSpPr>
          <p:cNvPr id="38" name="Text 35"/>
          <p:cNvSpPr/>
          <p:nvPr/>
        </p:nvSpPr>
        <p:spPr>
          <a:xfrm>
            <a:off x="13882821" y="10551583"/>
            <a:ext cx="1735667" cy="296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00" b="1" dirty="0">
                <a:solidFill>
                  <a:srgbClr val="38B2A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批量处理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13898696" y="10890250"/>
            <a:ext cx="1703917" cy="169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00" dirty="0">
                <a:solidFill>
                  <a:srgbClr val="71809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高效处理海量数据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10058400" y="11275349"/>
            <a:ext cx="5598583" cy="8467"/>
          </a:xfrm>
          <a:custGeom>
            <a:avLst/>
            <a:gdLst/>
            <a:ahLst/>
            <a:cxnLst/>
            <a:rect l="l" t="t" r="r" b="b"/>
            <a:pathLst>
              <a:path w="5598583" h="8467">
                <a:moveTo>
                  <a:pt x="0" y="0"/>
                </a:moveTo>
                <a:lnTo>
                  <a:pt x="5598583" y="0"/>
                </a:lnTo>
                <a:lnTo>
                  <a:pt x="5598583" y="8467"/>
                </a:lnTo>
                <a:lnTo>
                  <a:pt x="0" y="8467"/>
                </a:lnTo>
                <a:lnTo>
                  <a:pt x="0" y="0"/>
                </a:lnTo>
                <a:close/>
              </a:path>
            </a:pathLst>
          </a:custGeom>
          <a:solidFill>
            <a:srgbClr val="4A5568">
              <a:alpha val="30196"/>
            </a:srgbClr>
          </a:solidFill>
        </p:spPr>
      </p:sp>
      <p:sp>
        <p:nvSpPr>
          <p:cNvPr id="41" name="Shape 38"/>
          <p:cNvSpPr/>
          <p:nvPr/>
        </p:nvSpPr>
        <p:spPr>
          <a:xfrm>
            <a:off x="10098088" y="11389651"/>
            <a:ext cx="111125" cy="148167"/>
          </a:xfrm>
          <a:custGeom>
            <a:avLst/>
            <a:gdLst/>
            <a:ahLst/>
            <a:cxnLst/>
            <a:rect l="l" t="t" r="r" b="b"/>
            <a:pathLst>
              <a:path w="111125" h="148167">
                <a:moveTo>
                  <a:pt x="84762" y="111125"/>
                </a:moveTo>
                <a:cubicBezTo>
                  <a:pt x="86874" y="104672"/>
                  <a:pt x="91099" y="98826"/>
                  <a:pt x="95874" y="93791"/>
                </a:cubicBezTo>
                <a:cubicBezTo>
                  <a:pt x="105337" y="83836"/>
                  <a:pt x="111125" y="70379"/>
                  <a:pt x="111125" y="55563"/>
                </a:cubicBezTo>
                <a:cubicBezTo>
                  <a:pt x="111125" y="24887"/>
                  <a:pt x="86238" y="0"/>
                  <a:pt x="55562" y="0"/>
                </a:cubicBezTo>
                <a:cubicBezTo>
                  <a:pt x="24887" y="0"/>
                  <a:pt x="0" y="24887"/>
                  <a:pt x="0" y="55562"/>
                </a:cubicBezTo>
                <a:cubicBezTo>
                  <a:pt x="0" y="70379"/>
                  <a:pt x="5788" y="83836"/>
                  <a:pt x="15251" y="93791"/>
                </a:cubicBezTo>
                <a:cubicBezTo>
                  <a:pt x="20026" y="98826"/>
                  <a:pt x="24280" y="104672"/>
                  <a:pt x="26363" y="111125"/>
                </a:cubicBezTo>
                <a:lnTo>
                  <a:pt x="84733" y="111125"/>
                </a:lnTo>
                <a:close/>
                <a:moveTo>
                  <a:pt x="83344" y="125016"/>
                </a:moveTo>
                <a:lnTo>
                  <a:pt x="27781" y="125016"/>
                </a:lnTo>
                <a:lnTo>
                  <a:pt x="27781" y="129646"/>
                </a:lnTo>
                <a:cubicBezTo>
                  <a:pt x="27781" y="142437"/>
                  <a:pt x="38141" y="152797"/>
                  <a:pt x="50932" y="152797"/>
                </a:cubicBezTo>
                <a:lnTo>
                  <a:pt x="60193" y="152797"/>
                </a:lnTo>
                <a:cubicBezTo>
                  <a:pt x="72984" y="152797"/>
                  <a:pt x="83344" y="142437"/>
                  <a:pt x="83344" y="129646"/>
                </a:cubicBezTo>
                <a:lnTo>
                  <a:pt x="83344" y="125016"/>
                </a:lnTo>
                <a:close/>
                <a:moveTo>
                  <a:pt x="53247" y="32411"/>
                </a:moveTo>
                <a:cubicBezTo>
                  <a:pt x="41730" y="32411"/>
                  <a:pt x="32411" y="41730"/>
                  <a:pt x="32411" y="53247"/>
                </a:cubicBezTo>
                <a:cubicBezTo>
                  <a:pt x="32411" y="57096"/>
                  <a:pt x="29315" y="60193"/>
                  <a:pt x="25466" y="60193"/>
                </a:cubicBezTo>
                <a:cubicBezTo>
                  <a:pt x="21617" y="60193"/>
                  <a:pt x="18521" y="57096"/>
                  <a:pt x="18521" y="53247"/>
                </a:cubicBezTo>
                <a:cubicBezTo>
                  <a:pt x="18521" y="34061"/>
                  <a:pt x="34061" y="18521"/>
                  <a:pt x="53247" y="18521"/>
                </a:cubicBezTo>
                <a:cubicBezTo>
                  <a:pt x="57096" y="18521"/>
                  <a:pt x="60193" y="21617"/>
                  <a:pt x="60193" y="25466"/>
                </a:cubicBezTo>
                <a:cubicBezTo>
                  <a:pt x="60193" y="29315"/>
                  <a:pt x="57096" y="32411"/>
                  <a:pt x="53247" y="32411"/>
                </a:cubicBezTo>
                <a:close/>
              </a:path>
            </a:pathLst>
          </a:custGeom>
          <a:solidFill>
            <a:srgbClr val="38B2AC"/>
          </a:solidFill>
        </p:spPr>
      </p:sp>
      <p:sp>
        <p:nvSpPr>
          <p:cNvPr id="42" name="Text 39"/>
          <p:cNvSpPr/>
          <p:nvPr/>
        </p:nvSpPr>
        <p:spPr>
          <a:xfrm>
            <a:off x="10319456" y="11364257"/>
            <a:ext cx="5411611" cy="423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5" b="1" dirty="0">
                <a:solidFill>
                  <a:srgbClr val="38B2A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设计优势：</a:t>
            </a:r>
            <a:r>
              <a:rPr lang="en-US" sz="1165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规则与代码解耦，支持灵活配置预警阈值和风险等级，适配不同学院的管理需求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1188" y="471188"/>
            <a:ext cx="1814075" cy="376951"/>
          </a:xfrm>
          <a:custGeom>
            <a:avLst/>
            <a:gdLst/>
            <a:ahLst/>
            <a:cxnLst/>
            <a:rect l="l" t="t" r="r" b="b"/>
            <a:pathLst>
              <a:path w="1814075" h="376951">
                <a:moveTo>
                  <a:pt x="47119" y="0"/>
                </a:moveTo>
                <a:lnTo>
                  <a:pt x="1766957" y="0"/>
                </a:lnTo>
                <a:cubicBezTo>
                  <a:pt x="1792980" y="0"/>
                  <a:pt x="1814075" y="21096"/>
                  <a:pt x="1814075" y="47119"/>
                </a:cubicBezTo>
                <a:lnTo>
                  <a:pt x="1814075" y="329832"/>
                </a:lnTo>
                <a:cubicBezTo>
                  <a:pt x="1814075" y="355855"/>
                  <a:pt x="1792980" y="376951"/>
                  <a:pt x="1766957" y="376951"/>
                </a:cubicBezTo>
                <a:lnTo>
                  <a:pt x="47119" y="376951"/>
                </a:lnTo>
                <a:cubicBezTo>
                  <a:pt x="21096" y="376951"/>
                  <a:pt x="0" y="355855"/>
                  <a:pt x="0" y="329832"/>
                </a:cubicBezTo>
                <a:lnTo>
                  <a:pt x="0" y="47119"/>
                </a:lnTo>
                <a:cubicBezTo>
                  <a:pt x="0" y="21113"/>
                  <a:pt x="21113" y="0"/>
                  <a:pt x="47119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612545" y="556005"/>
            <a:ext cx="1609108" cy="2167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0" b="1" kern="0" spc="32" dirty="0">
                <a:solidFill>
                  <a:srgbClr val="38B2A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V1.0 VERIFICATION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71188" y="942377"/>
            <a:ext cx="15525658" cy="4711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340" b="1" dirty="0">
                <a:solidFill>
                  <a:srgbClr val="E2E8F0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V1.0功能验证与运行成果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71188" y="1507803"/>
            <a:ext cx="942377" cy="47119"/>
          </a:xfrm>
          <a:custGeom>
            <a:avLst/>
            <a:gdLst/>
            <a:ahLst/>
            <a:cxnLst/>
            <a:rect l="l" t="t" r="r" b="b"/>
            <a:pathLst>
              <a:path w="942377" h="47119">
                <a:moveTo>
                  <a:pt x="0" y="0"/>
                </a:moveTo>
                <a:lnTo>
                  <a:pt x="942377" y="0"/>
                </a:lnTo>
                <a:lnTo>
                  <a:pt x="942377" y="47119"/>
                </a:lnTo>
                <a:lnTo>
                  <a:pt x="0" y="47119"/>
                </a:lnTo>
                <a:lnTo>
                  <a:pt x="0" y="0"/>
                </a:lnTo>
                <a:close/>
              </a:path>
            </a:pathLst>
          </a:custGeom>
          <a:solidFill>
            <a:srgbClr val="38B2AC"/>
          </a:solidFill>
        </p:spPr>
      </p:sp>
      <p:sp>
        <p:nvSpPr>
          <p:cNvPr id="6" name="Shape 4"/>
          <p:cNvSpPr/>
          <p:nvPr/>
        </p:nvSpPr>
        <p:spPr>
          <a:xfrm>
            <a:off x="475900" y="1748109"/>
            <a:ext cx="9174038" cy="7371743"/>
          </a:xfrm>
          <a:custGeom>
            <a:avLst/>
            <a:gdLst/>
            <a:ahLst/>
            <a:cxnLst/>
            <a:rect l="l" t="t" r="r" b="b"/>
            <a:pathLst>
              <a:path w="9174038" h="7371743">
                <a:moveTo>
                  <a:pt x="94211" y="0"/>
                </a:moveTo>
                <a:lnTo>
                  <a:pt x="9079827" y="0"/>
                </a:lnTo>
                <a:cubicBezTo>
                  <a:pt x="9131859" y="0"/>
                  <a:pt x="9174038" y="42180"/>
                  <a:pt x="9174038" y="94211"/>
                </a:cubicBezTo>
                <a:lnTo>
                  <a:pt x="9174038" y="7277532"/>
                </a:lnTo>
                <a:cubicBezTo>
                  <a:pt x="9174038" y="7329563"/>
                  <a:pt x="9131859" y="7371743"/>
                  <a:pt x="9079827" y="7371743"/>
                </a:cubicBezTo>
                <a:lnTo>
                  <a:pt x="94211" y="7371743"/>
                </a:lnTo>
                <a:cubicBezTo>
                  <a:pt x="42180" y="7371743"/>
                  <a:pt x="0" y="7329563"/>
                  <a:pt x="0" y="7277532"/>
                </a:cubicBezTo>
                <a:lnTo>
                  <a:pt x="0" y="94211"/>
                </a:lnTo>
                <a:cubicBezTo>
                  <a:pt x="0" y="42180"/>
                  <a:pt x="42180" y="0"/>
                  <a:pt x="94211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10160">
            <a:solidFill>
              <a:srgbClr val="38B2AC">
                <a:alpha val="30196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9088" y="1941294"/>
            <a:ext cx="8905461" cy="3298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55" b="1" dirty="0">
                <a:solidFill>
                  <a:srgbClr val="38B2A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测试用例与结果</a:t>
            </a:r>
            <a:endParaRPr lang="en-US" sz="1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/>
        </p:nvGraphicFramePr>
        <p:xfrm>
          <a:off x="669088" y="2412482"/>
          <a:ext cx="8787664" cy="6514180"/>
        </p:xfrm>
        <a:graphic>
          <a:graphicData uri="http://schemas.openxmlformats.org/drawingml/2006/table">
            <a:tbl>
              <a:tblPr/>
              <a:tblGrid>
                <a:gridCol w="2414841"/>
                <a:gridCol w="836359"/>
                <a:gridCol w="5536464"/>
              </a:tblGrid>
              <a:tr h="930597"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38B2A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测试项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0320" cap="flat" cmpd="sng" algn="ctr">
                      <a:solidFill>
                        <a:srgbClr val="38B2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38B2A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结果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0320" cap="flat" cmpd="sng" algn="ctr">
                      <a:solidFill>
                        <a:srgbClr val="38B2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38B2A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界面验证备注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0320" cap="flat" cmpd="sng" algn="ctr">
                      <a:solidFill>
                        <a:srgbClr val="38B2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930597"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多角色登录与权限管控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通过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71809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学生/辅导员/教师/管理员/主任界面权限隔离，无越权访问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930597"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成绩/考勤数据录入与同步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通过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71809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教师端录入数据后，学生端/辅导员端界面同步展示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930597"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预警规则匹配触发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通过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71809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挂科/缺勤规则触发后，辅导员端预警界面、学生端弹窗正常显示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930597"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整改计划提交/干预记录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通过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71809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学生端提交界面、辅导员端记录界面数据存储完整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930597"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基础数据统计与导出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通过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71809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教务处主任统计界面图表渲染正常，Excel导出格式规范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930597"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系统稳定性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通过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71809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各角色界面连续运行72小时，无卡顿/崩溃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9896429" y="1748109"/>
            <a:ext cx="5875719" cy="5475209"/>
          </a:xfrm>
          <a:custGeom>
            <a:avLst/>
            <a:gdLst/>
            <a:ahLst/>
            <a:cxnLst/>
            <a:rect l="l" t="t" r="r" b="b"/>
            <a:pathLst>
              <a:path w="5875719" h="5475209">
                <a:moveTo>
                  <a:pt x="94228" y="0"/>
                </a:moveTo>
                <a:lnTo>
                  <a:pt x="5781491" y="0"/>
                </a:lnTo>
                <a:cubicBezTo>
                  <a:pt x="5833532" y="0"/>
                  <a:pt x="5875719" y="42187"/>
                  <a:pt x="5875719" y="94228"/>
                </a:cubicBezTo>
                <a:lnTo>
                  <a:pt x="5875719" y="5380981"/>
                </a:lnTo>
                <a:cubicBezTo>
                  <a:pt x="5875719" y="5433022"/>
                  <a:pt x="5833532" y="5475209"/>
                  <a:pt x="5781491" y="5475209"/>
                </a:cubicBezTo>
                <a:lnTo>
                  <a:pt x="94228" y="5475209"/>
                </a:lnTo>
                <a:cubicBezTo>
                  <a:pt x="42187" y="5475209"/>
                  <a:pt x="0" y="5433022"/>
                  <a:pt x="0" y="5380981"/>
                </a:cubicBezTo>
                <a:lnTo>
                  <a:pt x="0" y="94228"/>
                </a:lnTo>
                <a:cubicBezTo>
                  <a:pt x="0" y="42187"/>
                  <a:pt x="42187" y="0"/>
                  <a:pt x="94228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10160">
            <a:solidFill>
              <a:srgbClr val="38B2AC">
                <a:alpha val="30196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089617" y="1941294"/>
            <a:ext cx="5607142" cy="3298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55" b="1" dirty="0">
                <a:solidFill>
                  <a:srgbClr val="38B2A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运行成果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0094328" y="2417194"/>
            <a:ext cx="5486989" cy="1422989"/>
          </a:xfrm>
          <a:custGeom>
            <a:avLst/>
            <a:gdLst/>
            <a:ahLst/>
            <a:cxnLst/>
            <a:rect l="l" t="t" r="r" b="b"/>
            <a:pathLst>
              <a:path w="5486989" h="1422989">
                <a:moveTo>
                  <a:pt x="47115" y="0"/>
                </a:moveTo>
                <a:lnTo>
                  <a:pt x="5439874" y="0"/>
                </a:lnTo>
                <a:cubicBezTo>
                  <a:pt x="5465895" y="0"/>
                  <a:pt x="5486989" y="21094"/>
                  <a:pt x="5486989" y="47115"/>
                </a:cubicBezTo>
                <a:lnTo>
                  <a:pt x="5486989" y="1375874"/>
                </a:lnTo>
                <a:cubicBezTo>
                  <a:pt x="5486989" y="1401895"/>
                  <a:pt x="5465895" y="1422989"/>
                  <a:pt x="5439874" y="1422989"/>
                </a:cubicBezTo>
                <a:lnTo>
                  <a:pt x="47115" y="1422989"/>
                </a:lnTo>
                <a:cubicBezTo>
                  <a:pt x="21094" y="1422989"/>
                  <a:pt x="0" y="1401895"/>
                  <a:pt x="0" y="1375874"/>
                </a:cubicBezTo>
                <a:lnTo>
                  <a:pt x="0" y="47115"/>
                </a:lnTo>
                <a:cubicBezTo>
                  <a:pt x="0" y="21094"/>
                  <a:pt x="21094" y="0"/>
                  <a:pt x="47115" y="0"/>
                </a:cubicBezTo>
                <a:close/>
              </a:path>
            </a:pathLst>
          </a:custGeom>
          <a:solidFill>
            <a:srgbClr val="38B2AC">
              <a:alpha val="10196"/>
            </a:srgbClr>
          </a:solidFill>
          <a:ln w="10160">
            <a:solidFill>
              <a:srgbClr val="38B2AC">
                <a:alpha val="30196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0316965" y="2669278"/>
            <a:ext cx="212035" cy="212035"/>
          </a:xfrm>
          <a:custGeom>
            <a:avLst/>
            <a:gdLst/>
            <a:ahLst/>
            <a:cxnLst/>
            <a:rect l="l" t="t" r="r" b="b"/>
            <a:pathLst>
              <a:path w="212035" h="212035">
                <a:moveTo>
                  <a:pt x="106017" y="212035"/>
                </a:moveTo>
                <a:cubicBezTo>
                  <a:pt x="164530" y="212035"/>
                  <a:pt x="212035" y="164530"/>
                  <a:pt x="212035" y="106017"/>
                </a:cubicBezTo>
                <a:cubicBezTo>
                  <a:pt x="212035" y="47505"/>
                  <a:pt x="164530" y="0"/>
                  <a:pt x="106017" y="0"/>
                </a:cubicBezTo>
                <a:cubicBezTo>
                  <a:pt x="47505" y="0"/>
                  <a:pt x="0" y="47505"/>
                  <a:pt x="0" y="106017"/>
                </a:cubicBezTo>
                <a:cubicBezTo>
                  <a:pt x="0" y="164530"/>
                  <a:pt x="47505" y="212035"/>
                  <a:pt x="106017" y="212035"/>
                </a:cubicBezTo>
                <a:close/>
                <a:moveTo>
                  <a:pt x="140970" y="88086"/>
                </a:moveTo>
                <a:lnTo>
                  <a:pt x="107840" y="141094"/>
                </a:lnTo>
                <a:cubicBezTo>
                  <a:pt x="106100" y="143869"/>
                  <a:pt x="103118" y="145608"/>
                  <a:pt x="99847" y="145774"/>
                </a:cubicBezTo>
                <a:cubicBezTo>
                  <a:pt x="96575" y="145940"/>
                  <a:pt x="93428" y="144449"/>
                  <a:pt x="91481" y="141798"/>
                </a:cubicBezTo>
                <a:lnTo>
                  <a:pt x="71603" y="115294"/>
                </a:lnTo>
                <a:cubicBezTo>
                  <a:pt x="68290" y="110904"/>
                  <a:pt x="69201" y="104692"/>
                  <a:pt x="73591" y="101379"/>
                </a:cubicBezTo>
                <a:cubicBezTo>
                  <a:pt x="77981" y="98066"/>
                  <a:pt x="84193" y="98977"/>
                  <a:pt x="87506" y="103367"/>
                </a:cubicBezTo>
                <a:lnTo>
                  <a:pt x="98687" y="118276"/>
                </a:lnTo>
                <a:lnTo>
                  <a:pt x="124115" y="77567"/>
                </a:lnTo>
                <a:cubicBezTo>
                  <a:pt x="127014" y="72928"/>
                  <a:pt x="133143" y="71479"/>
                  <a:pt x="137823" y="74419"/>
                </a:cubicBezTo>
                <a:cubicBezTo>
                  <a:pt x="142502" y="77360"/>
                  <a:pt x="143910" y="83447"/>
                  <a:pt x="140970" y="88127"/>
                </a:cubicBezTo>
                <a:close/>
              </a:path>
            </a:pathLst>
          </a:custGeom>
          <a:solidFill>
            <a:srgbClr val="38B2AC"/>
          </a:solidFill>
        </p:spPr>
      </p:sp>
      <p:sp>
        <p:nvSpPr>
          <p:cNvPr id="13" name="Text 10"/>
          <p:cNvSpPr/>
          <p:nvPr/>
        </p:nvSpPr>
        <p:spPr>
          <a:xfrm>
            <a:off x="10646797" y="2610379"/>
            <a:ext cx="1166191" cy="3298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70" b="1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功能完整性</a:t>
            </a:r>
            <a:endParaRPr lang="en-US" sz="1600" dirty="0"/>
          </a:p>
        </p:txBody>
      </p:sp>
      <p:sp>
        <p:nvSpPr>
          <p:cNvPr id="8" name="Text 11"/>
          <p:cNvSpPr/>
          <p:nvPr/>
        </p:nvSpPr>
        <p:spPr>
          <a:xfrm>
            <a:off x="10287516" y="3034449"/>
            <a:ext cx="5194852" cy="6125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85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V1.0完成多角色基础业务闭环，各角色界面功能正常，实现"数据录入-规则预警-干预记录"全流程数字化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10094328" y="4038089"/>
            <a:ext cx="5486989" cy="1635024"/>
          </a:xfrm>
          <a:custGeom>
            <a:avLst/>
            <a:gdLst/>
            <a:ahLst/>
            <a:cxnLst/>
            <a:rect l="l" t="t" r="r" b="b"/>
            <a:pathLst>
              <a:path w="5486989" h="1635024">
                <a:moveTo>
                  <a:pt x="47121" y="0"/>
                </a:moveTo>
                <a:lnTo>
                  <a:pt x="5439868" y="0"/>
                </a:lnTo>
                <a:cubicBezTo>
                  <a:pt x="5465892" y="0"/>
                  <a:pt x="5486989" y="21097"/>
                  <a:pt x="5486989" y="47121"/>
                </a:cubicBezTo>
                <a:lnTo>
                  <a:pt x="5486989" y="1587902"/>
                </a:lnTo>
                <a:cubicBezTo>
                  <a:pt x="5486989" y="1613927"/>
                  <a:pt x="5465892" y="1635024"/>
                  <a:pt x="5439868" y="1635024"/>
                </a:cubicBezTo>
                <a:lnTo>
                  <a:pt x="47121" y="1635024"/>
                </a:lnTo>
                <a:cubicBezTo>
                  <a:pt x="21097" y="1635024"/>
                  <a:pt x="0" y="1613927"/>
                  <a:pt x="0" y="1587902"/>
                </a:cubicBezTo>
                <a:lnTo>
                  <a:pt x="0" y="47121"/>
                </a:lnTo>
                <a:cubicBezTo>
                  <a:pt x="0" y="21114"/>
                  <a:pt x="21114" y="0"/>
                  <a:pt x="47121" y="0"/>
                </a:cubicBezTo>
                <a:close/>
              </a:path>
            </a:pathLst>
          </a:custGeom>
          <a:solidFill>
            <a:srgbClr val="38B2AC">
              <a:alpha val="10196"/>
            </a:srgbClr>
          </a:solidFill>
          <a:ln w="10160">
            <a:solidFill>
              <a:srgbClr val="38B2AC">
                <a:alpha val="30196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0316965" y="4290173"/>
            <a:ext cx="212035" cy="212035"/>
          </a:xfrm>
          <a:custGeom>
            <a:avLst/>
            <a:gdLst/>
            <a:ahLst/>
            <a:cxnLst/>
            <a:rect l="l" t="t" r="r" b="b"/>
            <a:pathLst>
              <a:path w="212035" h="212035">
                <a:moveTo>
                  <a:pt x="72017" y="164575"/>
                </a:moveTo>
                <a:cubicBezTo>
                  <a:pt x="72017" y="165404"/>
                  <a:pt x="71065" y="166066"/>
                  <a:pt x="69864" y="166066"/>
                </a:cubicBezTo>
                <a:cubicBezTo>
                  <a:pt x="68497" y="166191"/>
                  <a:pt x="67545" y="165528"/>
                  <a:pt x="67545" y="164575"/>
                </a:cubicBezTo>
                <a:cubicBezTo>
                  <a:pt x="67545" y="163747"/>
                  <a:pt x="68497" y="163085"/>
                  <a:pt x="69698" y="163085"/>
                </a:cubicBezTo>
                <a:cubicBezTo>
                  <a:pt x="70941" y="162960"/>
                  <a:pt x="72017" y="163623"/>
                  <a:pt x="72017" y="164575"/>
                </a:cubicBezTo>
                <a:close/>
                <a:moveTo>
                  <a:pt x="59138" y="162712"/>
                </a:moveTo>
                <a:cubicBezTo>
                  <a:pt x="58848" y="163540"/>
                  <a:pt x="59676" y="164493"/>
                  <a:pt x="60919" y="164741"/>
                </a:cubicBezTo>
                <a:cubicBezTo>
                  <a:pt x="61995" y="165155"/>
                  <a:pt x="63238" y="164741"/>
                  <a:pt x="63486" y="163913"/>
                </a:cubicBezTo>
                <a:cubicBezTo>
                  <a:pt x="63735" y="163085"/>
                  <a:pt x="62948" y="162132"/>
                  <a:pt x="61705" y="161759"/>
                </a:cubicBezTo>
                <a:cubicBezTo>
                  <a:pt x="60629" y="161469"/>
                  <a:pt x="59428" y="161884"/>
                  <a:pt x="59138" y="162712"/>
                </a:cubicBezTo>
                <a:close/>
                <a:moveTo>
                  <a:pt x="77442" y="162008"/>
                </a:moveTo>
                <a:cubicBezTo>
                  <a:pt x="76241" y="162298"/>
                  <a:pt x="75413" y="163085"/>
                  <a:pt x="75537" y="164037"/>
                </a:cubicBezTo>
                <a:cubicBezTo>
                  <a:pt x="75662" y="164865"/>
                  <a:pt x="76738" y="165404"/>
                  <a:pt x="77981" y="165114"/>
                </a:cubicBezTo>
                <a:cubicBezTo>
                  <a:pt x="79182" y="164824"/>
                  <a:pt x="80010" y="164037"/>
                  <a:pt x="79886" y="163209"/>
                </a:cubicBezTo>
                <a:cubicBezTo>
                  <a:pt x="79762" y="162422"/>
                  <a:pt x="78643" y="161884"/>
                  <a:pt x="77442" y="162008"/>
                </a:cubicBezTo>
                <a:close/>
                <a:moveTo>
                  <a:pt x="104692" y="3313"/>
                </a:moveTo>
                <a:cubicBezTo>
                  <a:pt x="47252" y="3313"/>
                  <a:pt x="3313" y="46921"/>
                  <a:pt x="3313" y="104361"/>
                </a:cubicBezTo>
                <a:cubicBezTo>
                  <a:pt x="3313" y="150288"/>
                  <a:pt x="32219" y="189589"/>
                  <a:pt x="73508" y="203421"/>
                </a:cubicBezTo>
                <a:cubicBezTo>
                  <a:pt x="78809" y="204373"/>
                  <a:pt x="80673" y="201102"/>
                  <a:pt x="80673" y="198410"/>
                </a:cubicBezTo>
                <a:cubicBezTo>
                  <a:pt x="80673" y="195842"/>
                  <a:pt x="80548" y="181679"/>
                  <a:pt x="80548" y="172982"/>
                </a:cubicBezTo>
                <a:cubicBezTo>
                  <a:pt x="80548" y="172982"/>
                  <a:pt x="51559" y="179194"/>
                  <a:pt x="45472" y="160641"/>
                </a:cubicBezTo>
                <a:cubicBezTo>
                  <a:pt x="45472" y="160641"/>
                  <a:pt x="40750" y="148590"/>
                  <a:pt x="33959" y="145484"/>
                </a:cubicBezTo>
                <a:cubicBezTo>
                  <a:pt x="33959" y="145484"/>
                  <a:pt x="24475" y="138982"/>
                  <a:pt x="34621" y="139106"/>
                </a:cubicBezTo>
                <a:cubicBezTo>
                  <a:pt x="34621" y="139106"/>
                  <a:pt x="44933" y="139935"/>
                  <a:pt x="50607" y="149791"/>
                </a:cubicBezTo>
                <a:cubicBezTo>
                  <a:pt x="59676" y="165776"/>
                  <a:pt x="74875" y="161180"/>
                  <a:pt x="80797" y="158446"/>
                </a:cubicBezTo>
                <a:cubicBezTo>
                  <a:pt x="81749" y="151820"/>
                  <a:pt x="84441" y="147223"/>
                  <a:pt x="87423" y="144490"/>
                </a:cubicBezTo>
                <a:cubicBezTo>
                  <a:pt x="64273" y="141922"/>
                  <a:pt x="40916" y="138568"/>
                  <a:pt x="40916" y="98729"/>
                </a:cubicBezTo>
                <a:cubicBezTo>
                  <a:pt x="40916" y="87340"/>
                  <a:pt x="44063" y="81625"/>
                  <a:pt x="50690" y="74336"/>
                </a:cubicBezTo>
                <a:cubicBezTo>
                  <a:pt x="49613" y="71645"/>
                  <a:pt x="46093" y="60546"/>
                  <a:pt x="51766" y="46217"/>
                </a:cubicBezTo>
                <a:cubicBezTo>
                  <a:pt x="60422" y="43525"/>
                  <a:pt x="80341" y="57398"/>
                  <a:pt x="80341" y="57398"/>
                </a:cubicBezTo>
                <a:cubicBezTo>
                  <a:pt x="88624" y="55079"/>
                  <a:pt x="97528" y="53878"/>
                  <a:pt x="106349" y="53878"/>
                </a:cubicBezTo>
                <a:cubicBezTo>
                  <a:pt x="115170" y="53878"/>
                  <a:pt x="124073" y="55079"/>
                  <a:pt x="132356" y="57398"/>
                </a:cubicBezTo>
                <a:cubicBezTo>
                  <a:pt x="132356" y="57398"/>
                  <a:pt x="152276" y="43484"/>
                  <a:pt x="160931" y="46217"/>
                </a:cubicBezTo>
                <a:cubicBezTo>
                  <a:pt x="166605" y="60587"/>
                  <a:pt x="163085" y="71645"/>
                  <a:pt x="162008" y="74336"/>
                </a:cubicBezTo>
                <a:cubicBezTo>
                  <a:pt x="168634" y="81667"/>
                  <a:pt x="172692" y="87382"/>
                  <a:pt x="172692" y="98729"/>
                </a:cubicBezTo>
                <a:cubicBezTo>
                  <a:pt x="172692" y="138692"/>
                  <a:pt x="148300" y="141881"/>
                  <a:pt x="125150" y="144490"/>
                </a:cubicBezTo>
                <a:cubicBezTo>
                  <a:pt x="128960" y="147762"/>
                  <a:pt x="132190" y="153974"/>
                  <a:pt x="132190" y="163706"/>
                </a:cubicBezTo>
                <a:cubicBezTo>
                  <a:pt x="132190" y="177662"/>
                  <a:pt x="132066" y="194931"/>
                  <a:pt x="132066" y="198327"/>
                </a:cubicBezTo>
                <a:cubicBezTo>
                  <a:pt x="132066" y="201019"/>
                  <a:pt x="133971" y="204291"/>
                  <a:pt x="139231" y="203338"/>
                </a:cubicBezTo>
                <a:cubicBezTo>
                  <a:pt x="180644" y="189589"/>
                  <a:pt x="208722" y="150288"/>
                  <a:pt x="208722" y="104361"/>
                </a:cubicBezTo>
                <a:cubicBezTo>
                  <a:pt x="208722" y="46921"/>
                  <a:pt x="162132" y="3313"/>
                  <a:pt x="104692" y="3313"/>
                </a:cubicBezTo>
                <a:close/>
                <a:moveTo>
                  <a:pt x="43567" y="146147"/>
                </a:moveTo>
                <a:cubicBezTo>
                  <a:pt x="43028" y="146561"/>
                  <a:pt x="43152" y="147513"/>
                  <a:pt x="43856" y="148300"/>
                </a:cubicBezTo>
                <a:cubicBezTo>
                  <a:pt x="44519" y="148963"/>
                  <a:pt x="45472" y="149253"/>
                  <a:pt x="46010" y="148714"/>
                </a:cubicBezTo>
                <a:cubicBezTo>
                  <a:pt x="46548" y="148300"/>
                  <a:pt x="46424" y="147348"/>
                  <a:pt x="45720" y="146561"/>
                </a:cubicBezTo>
                <a:cubicBezTo>
                  <a:pt x="45057" y="145898"/>
                  <a:pt x="44105" y="145608"/>
                  <a:pt x="43567" y="146147"/>
                </a:cubicBezTo>
                <a:close/>
                <a:moveTo>
                  <a:pt x="39094" y="142792"/>
                </a:moveTo>
                <a:cubicBezTo>
                  <a:pt x="38804" y="143331"/>
                  <a:pt x="39218" y="143993"/>
                  <a:pt x="40046" y="144407"/>
                </a:cubicBezTo>
                <a:cubicBezTo>
                  <a:pt x="40709" y="144821"/>
                  <a:pt x="41537" y="144697"/>
                  <a:pt x="41827" y="144117"/>
                </a:cubicBezTo>
                <a:cubicBezTo>
                  <a:pt x="42117" y="143579"/>
                  <a:pt x="41703" y="142916"/>
                  <a:pt x="40875" y="142502"/>
                </a:cubicBezTo>
                <a:cubicBezTo>
                  <a:pt x="40046" y="142254"/>
                  <a:pt x="39384" y="142378"/>
                  <a:pt x="39094" y="142792"/>
                </a:cubicBezTo>
                <a:close/>
                <a:moveTo>
                  <a:pt x="52512" y="157535"/>
                </a:moveTo>
                <a:cubicBezTo>
                  <a:pt x="51849" y="158074"/>
                  <a:pt x="52098" y="159316"/>
                  <a:pt x="53050" y="160103"/>
                </a:cubicBezTo>
                <a:cubicBezTo>
                  <a:pt x="54003" y="161055"/>
                  <a:pt x="55204" y="161180"/>
                  <a:pt x="55742" y="160517"/>
                </a:cubicBezTo>
                <a:cubicBezTo>
                  <a:pt x="56280" y="159979"/>
                  <a:pt x="56032" y="158736"/>
                  <a:pt x="55204" y="157949"/>
                </a:cubicBezTo>
                <a:cubicBezTo>
                  <a:pt x="54293" y="156997"/>
                  <a:pt x="53050" y="156873"/>
                  <a:pt x="52512" y="157535"/>
                </a:cubicBezTo>
                <a:close/>
                <a:moveTo>
                  <a:pt x="47791" y="151448"/>
                </a:moveTo>
                <a:cubicBezTo>
                  <a:pt x="47128" y="151862"/>
                  <a:pt x="47128" y="152938"/>
                  <a:pt x="47791" y="153891"/>
                </a:cubicBezTo>
                <a:cubicBezTo>
                  <a:pt x="48453" y="154843"/>
                  <a:pt x="49571" y="155257"/>
                  <a:pt x="50110" y="154843"/>
                </a:cubicBezTo>
                <a:cubicBezTo>
                  <a:pt x="50772" y="154305"/>
                  <a:pt x="50772" y="153228"/>
                  <a:pt x="50110" y="152276"/>
                </a:cubicBezTo>
                <a:cubicBezTo>
                  <a:pt x="49530" y="151323"/>
                  <a:pt x="48453" y="150909"/>
                  <a:pt x="47791" y="151448"/>
                </a:cubicBezTo>
                <a:close/>
              </a:path>
            </a:pathLst>
          </a:custGeom>
          <a:solidFill>
            <a:srgbClr val="38B2AC"/>
          </a:solidFill>
        </p:spPr>
      </p:sp>
      <p:sp>
        <p:nvSpPr>
          <p:cNvPr id="17" name="Text 14"/>
          <p:cNvSpPr/>
          <p:nvPr/>
        </p:nvSpPr>
        <p:spPr>
          <a:xfrm>
            <a:off x="10646797" y="4231274"/>
            <a:ext cx="954157" cy="3298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70" b="1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版本管理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0287516" y="4655344"/>
            <a:ext cx="5194852" cy="3062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85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已提交至GitHub，生成提交记录并打Tag: </a:t>
            </a:r>
            <a:r>
              <a:rPr lang="en-US" sz="1485" b="1" dirty="0">
                <a:solidFill>
                  <a:srgbClr val="38B2A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v1.0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10287516" y="5055854"/>
            <a:ext cx="5100614" cy="424070"/>
          </a:xfrm>
          <a:custGeom>
            <a:avLst/>
            <a:gdLst/>
            <a:ahLst/>
            <a:cxnLst/>
            <a:rect l="l" t="t" r="r" b="b"/>
            <a:pathLst>
              <a:path w="5100614" h="424070">
                <a:moveTo>
                  <a:pt x="47118" y="0"/>
                </a:moveTo>
                <a:lnTo>
                  <a:pt x="5053496" y="0"/>
                </a:lnTo>
                <a:cubicBezTo>
                  <a:pt x="5079519" y="0"/>
                  <a:pt x="5100614" y="21096"/>
                  <a:pt x="5100614" y="47118"/>
                </a:cubicBezTo>
                <a:lnTo>
                  <a:pt x="5100614" y="376951"/>
                </a:lnTo>
                <a:cubicBezTo>
                  <a:pt x="5100614" y="402974"/>
                  <a:pt x="5079519" y="424070"/>
                  <a:pt x="5053496" y="424070"/>
                </a:cubicBezTo>
                <a:lnTo>
                  <a:pt x="47118" y="424070"/>
                </a:lnTo>
                <a:cubicBezTo>
                  <a:pt x="21096" y="424070"/>
                  <a:pt x="0" y="402974"/>
                  <a:pt x="0" y="376951"/>
                </a:cubicBezTo>
                <a:lnTo>
                  <a:pt x="0" y="47118"/>
                </a:lnTo>
                <a:cubicBezTo>
                  <a:pt x="0" y="21096"/>
                  <a:pt x="21096" y="0"/>
                  <a:pt x="47118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</p:spPr>
      </p:sp>
      <p:sp>
        <p:nvSpPr>
          <p:cNvPr id="20" name="Text 17"/>
          <p:cNvSpPr/>
          <p:nvPr/>
        </p:nvSpPr>
        <p:spPr>
          <a:xfrm>
            <a:off x="10381753" y="5150092"/>
            <a:ext cx="4994597" cy="23559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0" dirty="0">
                <a:solidFill>
                  <a:srgbClr val="71809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Commit: 完成V1.0基础版开发，实现多角色学业预警核心功能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10089617" y="5866296"/>
            <a:ext cx="1731617" cy="942377"/>
          </a:xfrm>
          <a:custGeom>
            <a:avLst/>
            <a:gdLst/>
            <a:ahLst/>
            <a:cxnLst/>
            <a:rect l="l" t="t" r="r" b="b"/>
            <a:pathLst>
              <a:path w="1731617" h="942377">
                <a:moveTo>
                  <a:pt x="47119" y="0"/>
                </a:moveTo>
                <a:lnTo>
                  <a:pt x="1684499" y="0"/>
                </a:lnTo>
                <a:cubicBezTo>
                  <a:pt x="1710522" y="0"/>
                  <a:pt x="1731617" y="21096"/>
                  <a:pt x="1731617" y="47119"/>
                </a:cubicBezTo>
                <a:lnTo>
                  <a:pt x="1731617" y="895258"/>
                </a:lnTo>
                <a:cubicBezTo>
                  <a:pt x="1731617" y="921281"/>
                  <a:pt x="1710522" y="942377"/>
                  <a:pt x="1684499" y="942377"/>
                </a:cubicBezTo>
                <a:lnTo>
                  <a:pt x="47119" y="942377"/>
                </a:lnTo>
                <a:cubicBezTo>
                  <a:pt x="21096" y="942377"/>
                  <a:pt x="0" y="921281"/>
                  <a:pt x="0" y="895258"/>
                </a:cubicBezTo>
                <a:lnTo>
                  <a:pt x="0" y="47119"/>
                </a:lnTo>
                <a:cubicBezTo>
                  <a:pt x="0" y="21096"/>
                  <a:pt x="21096" y="0"/>
                  <a:pt x="47119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</p:spPr>
      </p:sp>
      <p:sp>
        <p:nvSpPr>
          <p:cNvPr id="22" name="Text 19"/>
          <p:cNvSpPr/>
          <p:nvPr/>
        </p:nvSpPr>
        <p:spPr>
          <a:xfrm>
            <a:off x="10160295" y="6007652"/>
            <a:ext cx="1590261" cy="3769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225" b="1" dirty="0">
                <a:solidFill>
                  <a:srgbClr val="38B2A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5+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10189744" y="6431572"/>
            <a:ext cx="1531362" cy="23559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角色权限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11967302" y="5866296"/>
            <a:ext cx="1731617" cy="942377"/>
          </a:xfrm>
          <a:custGeom>
            <a:avLst/>
            <a:gdLst/>
            <a:ahLst/>
            <a:cxnLst/>
            <a:rect l="l" t="t" r="r" b="b"/>
            <a:pathLst>
              <a:path w="1731617" h="942377">
                <a:moveTo>
                  <a:pt x="47119" y="0"/>
                </a:moveTo>
                <a:lnTo>
                  <a:pt x="1684499" y="0"/>
                </a:lnTo>
                <a:cubicBezTo>
                  <a:pt x="1710522" y="0"/>
                  <a:pt x="1731617" y="21096"/>
                  <a:pt x="1731617" y="47119"/>
                </a:cubicBezTo>
                <a:lnTo>
                  <a:pt x="1731617" y="895258"/>
                </a:lnTo>
                <a:cubicBezTo>
                  <a:pt x="1731617" y="921281"/>
                  <a:pt x="1710522" y="942377"/>
                  <a:pt x="1684499" y="942377"/>
                </a:cubicBezTo>
                <a:lnTo>
                  <a:pt x="47119" y="942377"/>
                </a:lnTo>
                <a:cubicBezTo>
                  <a:pt x="21096" y="942377"/>
                  <a:pt x="0" y="921281"/>
                  <a:pt x="0" y="895258"/>
                </a:cubicBezTo>
                <a:lnTo>
                  <a:pt x="0" y="47119"/>
                </a:lnTo>
                <a:cubicBezTo>
                  <a:pt x="0" y="21096"/>
                  <a:pt x="21096" y="0"/>
                  <a:pt x="47119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</p:spPr>
      </p:sp>
      <p:sp>
        <p:nvSpPr>
          <p:cNvPr id="25" name="Text 22"/>
          <p:cNvSpPr/>
          <p:nvPr/>
        </p:nvSpPr>
        <p:spPr>
          <a:xfrm>
            <a:off x="12037981" y="6007652"/>
            <a:ext cx="1590261" cy="3769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225" b="1" dirty="0">
                <a:solidFill>
                  <a:srgbClr val="38B2A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20+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12067430" y="6431572"/>
            <a:ext cx="1531362" cy="23559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功能界面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13845135" y="5866296"/>
            <a:ext cx="1731617" cy="942377"/>
          </a:xfrm>
          <a:custGeom>
            <a:avLst/>
            <a:gdLst/>
            <a:ahLst/>
            <a:cxnLst/>
            <a:rect l="l" t="t" r="r" b="b"/>
            <a:pathLst>
              <a:path w="1731617" h="942377">
                <a:moveTo>
                  <a:pt x="47119" y="0"/>
                </a:moveTo>
                <a:lnTo>
                  <a:pt x="1684499" y="0"/>
                </a:lnTo>
                <a:cubicBezTo>
                  <a:pt x="1710522" y="0"/>
                  <a:pt x="1731617" y="21096"/>
                  <a:pt x="1731617" y="47119"/>
                </a:cubicBezTo>
                <a:lnTo>
                  <a:pt x="1731617" y="895258"/>
                </a:lnTo>
                <a:cubicBezTo>
                  <a:pt x="1731617" y="921281"/>
                  <a:pt x="1710522" y="942377"/>
                  <a:pt x="1684499" y="942377"/>
                </a:cubicBezTo>
                <a:lnTo>
                  <a:pt x="47119" y="942377"/>
                </a:lnTo>
                <a:cubicBezTo>
                  <a:pt x="21096" y="942377"/>
                  <a:pt x="0" y="921281"/>
                  <a:pt x="0" y="895258"/>
                </a:cubicBezTo>
                <a:lnTo>
                  <a:pt x="0" y="47119"/>
                </a:lnTo>
                <a:cubicBezTo>
                  <a:pt x="0" y="21096"/>
                  <a:pt x="21096" y="0"/>
                  <a:pt x="47119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</p:spPr>
      </p:sp>
      <p:sp>
        <p:nvSpPr>
          <p:cNvPr id="28" name="Text 25"/>
          <p:cNvSpPr/>
          <p:nvPr/>
        </p:nvSpPr>
        <p:spPr>
          <a:xfrm>
            <a:off x="13915814" y="6007652"/>
            <a:ext cx="1590261" cy="3769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225" b="1" dirty="0">
                <a:solidFill>
                  <a:srgbClr val="38B2A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100%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13945263" y="6431572"/>
            <a:ext cx="1531362" cy="23559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测试通过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9896429" y="7416657"/>
            <a:ext cx="5875719" cy="1705702"/>
          </a:xfrm>
          <a:custGeom>
            <a:avLst/>
            <a:gdLst/>
            <a:ahLst/>
            <a:cxnLst/>
            <a:rect l="l" t="t" r="r" b="b"/>
            <a:pathLst>
              <a:path w="5875719" h="1705702">
                <a:moveTo>
                  <a:pt x="94240" y="0"/>
                </a:moveTo>
                <a:lnTo>
                  <a:pt x="5781479" y="0"/>
                </a:lnTo>
                <a:cubicBezTo>
                  <a:pt x="5833527" y="0"/>
                  <a:pt x="5875719" y="42193"/>
                  <a:pt x="5875719" y="94240"/>
                </a:cubicBezTo>
                <a:lnTo>
                  <a:pt x="5875719" y="1611462"/>
                </a:lnTo>
                <a:cubicBezTo>
                  <a:pt x="5875719" y="1663509"/>
                  <a:pt x="5833527" y="1705702"/>
                  <a:pt x="5781479" y="1705702"/>
                </a:cubicBezTo>
                <a:lnTo>
                  <a:pt x="94240" y="1705702"/>
                </a:lnTo>
                <a:cubicBezTo>
                  <a:pt x="42228" y="1705702"/>
                  <a:pt x="0" y="1663474"/>
                  <a:pt x="0" y="1611462"/>
                </a:cubicBezTo>
                <a:lnTo>
                  <a:pt x="0" y="94240"/>
                </a:lnTo>
                <a:cubicBezTo>
                  <a:pt x="0" y="42193"/>
                  <a:pt x="42193" y="0"/>
                  <a:pt x="94240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10160">
            <a:solidFill>
              <a:srgbClr val="4A5568">
                <a:alpha val="30196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0042498" y="7562723"/>
            <a:ext cx="5677820" cy="2827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85" b="1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界面验证截图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10042498" y="7939674"/>
            <a:ext cx="1802296" cy="753901"/>
          </a:xfrm>
          <a:custGeom>
            <a:avLst/>
            <a:gdLst/>
            <a:ahLst/>
            <a:cxnLst/>
            <a:rect l="l" t="t" r="r" b="b"/>
            <a:pathLst>
              <a:path w="1802296" h="753901">
                <a:moveTo>
                  <a:pt x="47119" y="0"/>
                </a:moveTo>
                <a:lnTo>
                  <a:pt x="1755177" y="0"/>
                </a:lnTo>
                <a:cubicBezTo>
                  <a:pt x="1781200" y="0"/>
                  <a:pt x="1802296" y="21096"/>
                  <a:pt x="1802296" y="47119"/>
                </a:cubicBezTo>
                <a:lnTo>
                  <a:pt x="1802296" y="706783"/>
                </a:lnTo>
                <a:cubicBezTo>
                  <a:pt x="1802296" y="732806"/>
                  <a:pt x="1781200" y="753901"/>
                  <a:pt x="1755177" y="753901"/>
                </a:cubicBezTo>
                <a:lnTo>
                  <a:pt x="47119" y="753901"/>
                </a:lnTo>
                <a:cubicBezTo>
                  <a:pt x="21096" y="753901"/>
                  <a:pt x="0" y="732806"/>
                  <a:pt x="0" y="706783"/>
                </a:cubicBezTo>
                <a:lnTo>
                  <a:pt x="0" y="47119"/>
                </a:lnTo>
                <a:cubicBezTo>
                  <a:pt x="0" y="21113"/>
                  <a:pt x="21113" y="0"/>
                  <a:pt x="47119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</p:spPr>
      </p:sp>
      <p:sp>
        <p:nvSpPr>
          <p:cNvPr id="33" name="Shape 30"/>
          <p:cNvSpPr/>
          <p:nvPr/>
        </p:nvSpPr>
        <p:spPr>
          <a:xfrm>
            <a:off x="10853678" y="8198828"/>
            <a:ext cx="176696" cy="235594"/>
          </a:xfrm>
          <a:custGeom>
            <a:avLst/>
            <a:gdLst/>
            <a:ahLst/>
            <a:cxnLst/>
            <a:rect l="l" t="t" r="r" b="b"/>
            <a:pathLst>
              <a:path w="176696" h="235594">
                <a:moveTo>
                  <a:pt x="7362" y="29449"/>
                </a:moveTo>
                <a:cubicBezTo>
                  <a:pt x="7362" y="13206"/>
                  <a:pt x="20568" y="0"/>
                  <a:pt x="36812" y="0"/>
                </a:cubicBezTo>
                <a:lnTo>
                  <a:pt x="139884" y="0"/>
                </a:lnTo>
                <a:cubicBezTo>
                  <a:pt x="156127" y="0"/>
                  <a:pt x="169333" y="13206"/>
                  <a:pt x="169333" y="29449"/>
                </a:cubicBezTo>
                <a:lnTo>
                  <a:pt x="169333" y="206145"/>
                </a:lnTo>
                <a:cubicBezTo>
                  <a:pt x="169333" y="222388"/>
                  <a:pt x="156127" y="235594"/>
                  <a:pt x="139884" y="235594"/>
                </a:cubicBezTo>
                <a:lnTo>
                  <a:pt x="36812" y="235594"/>
                </a:lnTo>
                <a:cubicBezTo>
                  <a:pt x="20568" y="235594"/>
                  <a:pt x="7362" y="222388"/>
                  <a:pt x="7362" y="206145"/>
                </a:cubicBezTo>
                <a:lnTo>
                  <a:pt x="7362" y="29449"/>
                </a:lnTo>
                <a:close/>
                <a:moveTo>
                  <a:pt x="36812" y="29449"/>
                </a:moveTo>
                <a:lnTo>
                  <a:pt x="36812" y="169333"/>
                </a:lnTo>
                <a:lnTo>
                  <a:pt x="139884" y="169333"/>
                </a:lnTo>
                <a:lnTo>
                  <a:pt x="139884" y="29449"/>
                </a:lnTo>
                <a:lnTo>
                  <a:pt x="36812" y="29449"/>
                </a:lnTo>
                <a:close/>
                <a:moveTo>
                  <a:pt x="88348" y="217188"/>
                </a:moveTo>
                <a:cubicBezTo>
                  <a:pt x="96492" y="217188"/>
                  <a:pt x="103072" y="210608"/>
                  <a:pt x="103072" y="202464"/>
                </a:cubicBezTo>
                <a:cubicBezTo>
                  <a:pt x="103072" y="194319"/>
                  <a:pt x="96492" y="187739"/>
                  <a:pt x="88348" y="187739"/>
                </a:cubicBezTo>
                <a:cubicBezTo>
                  <a:pt x="80203" y="187739"/>
                  <a:pt x="73623" y="194319"/>
                  <a:pt x="73623" y="202464"/>
                </a:cubicBezTo>
                <a:cubicBezTo>
                  <a:pt x="73623" y="210608"/>
                  <a:pt x="80203" y="217188"/>
                  <a:pt x="88348" y="217188"/>
                </a:cubicBezTo>
                <a:close/>
              </a:path>
            </a:pathLst>
          </a:custGeom>
          <a:solidFill>
            <a:srgbClr val="718096"/>
          </a:solidFill>
        </p:spPr>
      </p:sp>
      <p:sp>
        <p:nvSpPr>
          <p:cNvPr id="34" name="Shape 31"/>
          <p:cNvSpPr/>
          <p:nvPr/>
        </p:nvSpPr>
        <p:spPr>
          <a:xfrm>
            <a:off x="11935939" y="7939674"/>
            <a:ext cx="1802296" cy="753901"/>
          </a:xfrm>
          <a:custGeom>
            <a:avLst/>
            <a:gdLst/>
            <a:ahLst/>
            <a:cxnLst/>
            <a:rect l="l" t="t" r="r" b="b"/>
            <a:pathLst>
              <a:path w="1802296" h="753901">
                <a:moveTo>
                  <a:pt x="47119" y="0"/>
                </a:moveTo>
                <a:lnTo>
                  <a:pt x="1755177" y="0"/>
                </a:lnTo>
                <a:cubicBezTo>
                  <a:pt x="1781200" y="0"/>
                  <a:pt x="1802296" y="21096"/>
                  <a:pt x="1802296" y="47119"/>
                </a:cubicBezTo>
                <a:lnTo>
                  <a:pt x="1802296" y="706783"/>
                </a:lnTo>
                <a:cubicBezTo>
                  <a:pt x="1802296" y="732806"/>
                  <a:pt x="1781200" y="753901"/>
                  <a:pt x="1755177" y="753901"/>
                </a:cubicBezTo>
                <a:lnTo>
                  <a:pt x="47119" y="753901"/>
                </a:lnTo>
                <a:cubicBezTo>
                  <a:pt x="21096" y="753901"/>
                  <a:pt x="0" y="732806"/>
                  <a:pt x="0" y="706783"/>
                </a:cubicBezTo>
                <a:lnTo>
                  <a:pt x="0" y="47119"/>
                </a:lnTo>
                <a:cubicBezTo>
                  <a:pt x="0" y="21113"/>
                  <a:pt x="21113" y="0"/>
                  <a:pt x="47119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</p:spPr>
      </p:sp>
      <p:sp>
        <p:nvSpPr>
          <p:cNvPr id="35" name="Shape 32"/>
          <p:cNvSpPr/>
          <p:nvPr/>
        </p:nvSpPr>
        <p:spPr>
          <a:xfrm>
            <a:off x="12717670" y="8198828"/>
            <a:ext cx="235594" cy="235594"/>
          </a:xfrm>
          <a:custGeom>
            <a:avLst/>
            <a:gdLst/>
            <a:ahLst/>
            <a:cxnLst/>
            <a:rect l="l" t="t" r="r" b="b"/>
            <a:pathLst>
              <a:path w="235594" h="235594">
                <a:moveTo>
                  <a:pt x="29449" y="14725"/>
                </a:moveTo>
                <a:cubicBezTo>
                  <a:pt x="13206" y="14725"/>
                  <a:pt x="0" y="27931"/>
                  <a:pt x="0" y="44174"/>
                </a:cubicBezTo>
                <a:lnTo>
                  <a:pt x="0" y="161971"/>
                </a:lnTo>
                <a:cubicBezTo>
                  <a:pt x="0" y="178214"/>
                  <a:pt x="13206" y="191420"/>
                  <a:pt x="29449" y="191420"/>
                </a:cubicBezTo>
                <a:lnTo>
                  <a:pt x="95710" y="191420"/>
                </a:lnTo>
                <a:lnTo>
                  <a:pt x="88348" y="213507"/>
                </a:lnTo>
                <a:lnTo>
                  <a:pt x="55217" y="213507"/>
                </a:lnTo>
                <a:cubicBezTo>
                  <a:pt x="49097" y="213507"/>
                  <a:pt x="44174" y="218431"/>
                  <a:pt x="44174" y="224551"/>
                </a:cubicBezTo>
                <a:cubicBezTo>
                  <a:pt x="44174" y="230671"/>
                  <a:pt x="49097" y="235594"/>
                  <a:pt x="55217" y="235594"/>
                </a:cubicBezTo>
                <a:lnTo>
                  <a:pt x="180377" y="235594"/>
                </a:lnTo>
                <a:cubicBezTo>
                  <a:pt x="186497" y="235594"/>
                  <a:pt x="191420" y="230671"/>
                  <a:pt x="191420" y="224551"/>
                </a:cubicBezTo>
                <a:cubicBezTo>
                  <a:pt x="191420" y="218431"/>
                  <a:pt x="186497" y="213507"/>
                  <a:pt x="180377" y="213507"/>
                </a:cubicBezTo>
                <a:lnTo>
                  <a:pt x="147246" y="213507"/>
                </a:lnTo>
                <a:lnTo>
                  <a:pt x="139884" y="191420"/>
                </a:lnTo>
                <a:lnTo>
                  <a:pt x="206145" y="191420"/>
                </a:lnTo>
                <a:cubicBezTo>
                  <a:pt x="222388" y="191420"/>
                  <a:pt x="235594" y="178214"/>
                  <a:pt x="235594" y="161971"/>
                </a:cubicBezTo>
                <a:lnTo>
                  <a:pt x="235594" y="44174"/>
                </a:lnTo>
                <a:cubicBezTo>
                  <a:pt x="235594" y="27931"/>
                  <a:pt x="222388" y="14725"/>
                  <a:pt x="206145" y="14725"/>
                </a:cubicBezTo>
                <a:lnTo>
                  <a:pt x="29449" y="14725"/>
                </a:lnTo>
                <a:close/>
                <a:moveTo>
                  <a:pt x="44174" y="44174"/>
                </a:moveTo>
                <a:lnTo>
                  <a:pt x="191420" y="44174"/>
                </a:lnTo>
                <a:cubicBezTo>
                  <a:pt x="199565" y="44174"/>
                  <a:pt x="206145" y="50754"/>
                  <a:pt x="206145" y="58899"/>
                </a:cubicBezTo>
                <a:lnTo>
                  <a:pt x="206145" y="132522"/>
                </a:lnTo>
                <a:cubicBezTo>
                  <a:pt x="206145" y="140666"/>
                  <a:pt x="199565" y="147246"/>
                  <a:pt x="191420" y="147246"/>
                </a:cubicBezTo>
                <a:lnTo>
                  <a:pt x="44174" y="147246"/>
                </a:lnTo>
                <a:cubicBezTo>
                  <a:pt x="36029" y="147246"/>
                  <a:pt x="29449" y="140666"/>
                  <a:pt x="29449" y="132522"/>
                </a:cubicBezTo>
                <a:lnTo>
                  <a:pt x="29449" y="58899"/>
                </a:lnTo>
                <a:cubicBezTo>
                  <a:pt x="29449" y="50754"/>
                  <a:pt x="36029" y="44174"/>
                  <a:pt x="44174" y="44174"/>
                </a:cubicBezTo>
                <a:close/>
              </a:path>
            </a:pathLst>
          </a:custGeom>
          <a:solidFill>
            <a:srgbClr val="718096"/>
          </a:solidFill>
        </p:spPr>
      </p:sp>
      <p:sp>
        <p:nvSpPr>
          <p:cNvPr id="36" name="Shape 33"/>
          <p:cNvSpPr/>
          <p:nvPr/>
        </p:nvSpPr>
        <p:spPr>
          <a:xfrm>
            <a:off x="13829380" y="7939674"/>
            <a:ext cx="1802296" cy="753901"/>
          </a:xfrm>
          <a:custGeom>
            <a:avLst/>
            <a:gdLst/>
            <a:ahLst/>
            <a:cxnLst/>
            <a:rect l="l" t="t" r="r" b="b"/>
            <a:pathLst>
              <a:path w="1802296" h="753901">
                <a:moveTo>
                  <a:pt x="47119" y="0"/>
                </a:moveTo>
                <a:lnTo>
                  <a:pt x="1755177" y="0"/>
                </a:lnTo>
                <a:cubicBezTo>
                  <a:pt x="1781200" y="0"/>
                  <a:pt x="1802296" y="21096"/>
                  <a:pt x="1802296" y="47119"/>
                </a:cubicBezTo>
                <a:lnTo>
                  <a:pt x="1802296" y="706783"/>
                </a:lnTo>
                <a:cubicBezTo>
                  <a:pt x="1802296" y="732806"/>
                  <a:pt x="1781200" y="753901"/>
                  <a:pt x="1755177" y="753901"/>
                </a:cubicBezTo>
                <a:lnTo>
                  <a:pt x="47119" y="753901"/>
                </a:lnTo>
                <a:cubicBezTo>
                  <a:pt x="21096" y="753901"/>
                  <a:pt x="0" y="732806"/>
                  <a:pt x="0" y="706783"/>
                </a:cubicBezTo>
                <a:lnTo>
                  <a:pt x="0" y="47119"/>
                </a:lnTo>
                <a:cubicBezTo>
                  <a:pt x="0" y="21113"/>
                  <a:pt x="21113" y="0"/>
                  <a:pt x="47119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</p:spPr>
      </p:sp>
      <p:sp>
        <p:nvSpPr>
          <p:cNvPr id="37" name="Shape 34"/>
          <p:cNvSpPr/>
          <p:nvPr/>
        </p:nvSpPr>
        <p:spPr>
          <a:xfrm>
            <a:off x="14581662" y="8198828"/>
            <a:ext cx="294493" cy="235594"/>
          </a:xfrm>
          <a:custGeom>
            <a:avLst/>
            <a:gdLst/>
            <a:ahLst/>
            <a:cxnLst/>
            <a:rect l="l" t="t" r="r" b="b"/>
            <a:pathLst>
              <a:path w="294493" h="235594">
                <a:moveTo>
                  <a:pt x="58899" y="14725"/>
                </a:moveTo>
                <a:cubicBezTo>
                  <a:pt x="42655" y="14725"/>
                  <a:pt x="29449" y="27931"/>
                  <a:pt x="29449" y="44174"/>
                </a:cubicBezTo>
                <a:lnTo>
                  <a:pt x="29449" y="154609"/>
                </a:lnTo>
                <a:lnTo>
                  <a:pt x="58899" y="154609"/>
                </a:lnTo>
                <a:lnTo>
                  <a:pt x="58899" y="44174"/>
                </a:lnTo>
                <a:lnTo>
                  <a:pt x="235594" y="44174"/>
                </a:lnTo>
                <a:lnTo>
                  <a:pt x="235594" y="154609"/>
                </a:lnTo>
                <a:lnTo>
                  <a:pt x="265043" y="154609"/>
                </a:lnTo>
                <a:lnTo>
                  <a:pt x="265043" y="44174"/>
                </a:lnTo>
                <a:cubicBezTo>
                  <a:pt x="265043" y="27931"/>
                  <a:pt x="251837" y="14725"/>
                  <a:pt x="235594" y="14725"/>
                </a:cubicBezTo>
                <a:lnTo>
                  <a:pt x="58899" y="14725"/>
                </a:lnTo>
                <a:close/>
                <a:moveTo>
                  <a:pt x="8835" y="176696"/>
                </a:moveTo>
                <a:cubicBezTo>
                  <a:pt x="3957" y="176696"/>
                  <a:pt x="0" y="180653"/>
                  <a:pt x="0" y="185530"/>
                </a:cubicBezTo>
                <a:cubicBezTo>
                  <a:pt x="0" y="205041"/>
                  <a:pt x="15829" y="220870"/>
                  <a:pt x="35339" y="220870"/>
                </a:cubicBezTo>
                <a:lnTo>
                  <a:pt x="259154" y="220870"/>
                </a:lnTo>
                <a:cubicBezTo>
                  <a:pt x="278664" y="220870"/>
                  <a:pt x="294493" y="205041"/>
                  <a:pt x="294493" y="185530"/>
                </a:cubicBezTo>
                <a:cubicBezTo>
                  <a:pt x="294493" y="180653"/>
                  <a:pt x="290536" y="176696"/>
                  <a:pt x="285658" y="176696"/>
                </a:cubicBezTo>
                <a:lnTo>
                  <a:pt x="8835" y="176696"/>
                </a:lnTo>
                <a:close/>
              </a:path>
            </a:pathLst>
          </a:custGeom>
          <a:solidFill>
            <a:srgbClr val="718096"/>
          </a:solidFill>
        </p:spPr>
      </p:sp>
      <p:sp>
        <p:nvSpPr>
          <p:cNvPr id="38" name="Text 35"/>
          <p:cNvSpPr/>
          <p:nvPr/>
        </p:nvSpPr>
        <p:spPr>
          <a:xfrm>
            <a:off x="10007159" y="8787813"/>
            <a:ext cx="5654261" cy="1884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115" dirty="0">
                <a:solidFill>
                  <a:srgbClr val="71809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V1.0各角色界面功能正常运行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000" y="508000"/>
            <a:ext cx="1689100" cy="406400"/>
          </a:xfrm>
          <a:custGeom>
            <a:avLst/>
            <a:gdLst/>
            <a:ahLst/>
            <a:cxnLst/>
            <a:rect l="l" t="t" r="r" b="b"/>
            <a:pathLst>
              <a:path w="1689100" h="406400">
                <a:moveTo>
                  <a:pt x="50800" y="0"/>
                </a:moveTo>
                <a:lnTo>
                  <a:pt x="1638300" y="0"/>
                </a:lnTo>
                <a:cubicBezTo>
                  <a:pt x="1666337" y="0"/>
                  <a:pt x="1689100" y="22763"/>
                  <a:pt x="1689100" y="50800"/>
                </a:cubicBezTo>
                <a:lnTo>
                  <a:pt x="1689100" y="355600"/>
                </a:lnTo>
                <a:cubicBezTo>
                  <a:pt x="1689100" y="383637"/>
                  <a:pt x="1666337" y="406400"/>
                  <a:pt x="1638300" y="406400"/>
                </a:cubicBezTo>
                <a:lnTo>
                  <a:pt x="50800" y="406400"/>
                </a:lnTo>
                <a:cubicBezTo>
                  <a:pt x="22763" y="406400"/>
                  <a:pt x="0" y="383637"/>
                  <a:pt x="0" y="355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660400" y="599442"/>
            <a:ext cx="1473676" cy="233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kern="0" spc="35" dirty="0">
                <a:solidFill>
                  <a:srgbClr val="38B2A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V2.0 ITERATION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8000" y="1016000"/>
            <a:ext cx="154686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2E8F0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V2.0（AI增强版）迭代设计 - 迭代背景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8000" y="1625600"/>
            <a:ext cx="1016000" cy="50800"/>
          </a:xfrm>
          <a:custGeom>
            <a:avLst/>
            <a:gdLst/>
            <a:ahLst/>
            <a:cxnLst/>
            <a:rect l="l" t="t" r="r" b="b"/>
            <a:pathLst>
              <a:path w="1016000" h="50800">
                <a:moveTo>
                  <a:pt x="0" y="0"/>
                </a:moveTo>
                <a:lnTo>
                  <a:pt x="1016000" y="0"/>
                </a:lnTo>
                <a:lnTo>
                  <a:pt x="10160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38B2AC"/>
          </a:solidFill>
        </p:spPr>
      </p:sp>
      <p:sp>
        <p:nvSpPr>
          <p:cNvPr id="6" name="Shape 4"/>
          <p:cNvSpPr/>
          <p:nvPr/>
        </p:nvSpPr>
        <p:spPr>
          <a:xfrm>
            <a:off x="513080" y="1884680"/>
            <a:ext cx="6080760" cy="6842760"/>
          </a:xfrm>
          <a:custGeom>
            <a:avLst/>
            <a:gdLst/>
            <a:ahLst/>
            <a:cxnLst/>
            <a:rect l="l" t="t" r="r" b="b"/>
            <a:pathLst>
              <a:path w="6080760" h="6842760">
                <a:moveTo>
                  <a:pt x="101609" y="0"/>
                </a:moveTo>
                <a:lnTo>
                  <a:pt x="5979151" y="0"/>
                </a:lnTo>
                <a:cubicBezTo>
                  <a:pt x="6035268" y="0"/>
                  <a:pt x="6080760" y="45492"/>
                  <a:pt x="6080760" y="101609"/>
                </a:cubicBezTo>
                <a:lnTo>
                  <a:pt x="6080760" y="6741151"/>
                </a:lnTo>
                <a:cubicBezTo>
                  <a:pt x="6080760" y="6797268"/>
                  <a:pt x="6035268" y="6842760"/>
                  <a:pt x="5979151" y="6842760"/>
                </a:cubicBezTo>
                <a:lnTo>
                  <a:pt x="101609" y="6842760"/>
                </a:lnTo>
                <a:cubicBezTo>
                  <a:pt x="45492" y="6842760"/>
                  <a:pt x="0" y="6797268"/>
                  <a:pt x="0" y="6741151"/>
                </a:cubicBezTo>
                <a:lnTo>
                  <a:pt x="0" y="101609"/>
                </a:lnTo>
                <a:cubicBezTo>
                  <a:pt x="0" y="45530"/>
                  <a:pt x="45530" y="0"/>
                  <a:pt x="101609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10160">
            <a:solidFill>
              <a:srgbClr val="FB2C36">
                <a:alpha val="30196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21360" y="2092958"/>
            <a:ext cx="57912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F646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V1.0核心痛点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46760" y="2651758"/>
            <a:ext cx="50800" cy="1117600"/>
          </a:xfrm>
          <a:custGeom>
            <a:avLst/>
            <a:gdLst/>
            <a:ahLst/>
            <a:cxnLst/>
            <a:rect l="l" t="t" r="r" b="b"/>
            <a:pathLst>
              <a:path w="50800" h="1117600">
                <a:moveTo>
                  <a:pt x="0" y="0"/>
                </a:moveTo>
                <a:lnTo>
                  <a:pt x="50800" y="0"/>
                </a:lnTo>
                <a:lnTo>
                  <a:pt x="50800" y="1117600"/>
                </a:lnTo>
                <a:lnTo>
                  <a:pt x="0" y="1117600"/>
                </a:lnTo>
                <a:lnTo>
                  <a:pt x="0" y="0"/>
                </a:lnTo>
                <a:close/>
              </a:path>
            </a:pathLst>
          </a:custGeom>
          <a:solidFill>
            <a:srgbClr val="FB2C36"/>
          </a:solidFill>
        </p:spPr>
      </p:sp>
      <p:sp>
        <p:nvSpPr>
          <p:cNvPr id="9" name="Shape 7"/>
          <p:cNvSpPr/>
          <p:nvPr/>
        </p:nvSpPr>
        <p:spPr>
          <a:xfrm>
            <a:off x="949960" y="2727958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101600" y="53975"/>
                </a:moveTo>
                <a:cubicBezTo>
                  <a:pt x="106878" y="53975"/>
                  <a:pt x="111125" y="58222"/>
                  <a:pt x="111125" y="63500"/>
                </a:cubicBezTo>
                <a:lnTo>
                  <a:pt x="111125" y="107950"/>
                </a:lnTo>
                <a:cubicBezTo>
                  <a:pt x="111125" y="113228"/>
                  <a:pt x="106878" y="117475"/>
                  <a:pt x="101600" y="117475"/>
                </a:cubicBezTo>
                <a:cubicBezTo>
                  <a:pt x="96322" y="117475"/>
                  <a:pt x="92075" y="113228"/>
                  <a:pt x="92075" y="107950"/>
                </a:cubicBezTo>
                <a:lnTo>
                  <a:pt x="92075" y="63500"/>
                </a:lnTo>
                <a:cubicBezTo>
                  <a:pt x="92075" y="58222"/>
                  <a:pt x="96322" y="53975"/>
                  <a:pt x="101600" y="53975"/>
                </a:cubicBezTo>
                <a:close/>
                <a:moveTo>
                  <a:pt x="91003" y="139700"/>
                </a:moveTo>
                <a:cubicBezTo>
                  <a:pt x="90762" y="135767"/>
                  <a:pt x="92724" y="132024"/>
                  <a:pt x="96096" y="129985"/>
                </a:cubicBezTo>
                <a:cubicBezTo>
                  <a:pt x="99468" y="127945"/>
                  <a:pt x="103693" y="127945"/>
                  <a:pt x="107065" y="129985"/>
                </a:cubicBezTo>
                <a:cubicBezTo>
                  <a:pt x="110436" y="132024"/>
                  <a:pt x="112398" y="135767"/>
                  <a:pt x="112157" y="139700"/>
                </a:cubicBezTo>
                <a:cubicBezTo>
                  <a:pt x="112398" y="143633"/>
                  <a:pt x="110436" y="147376"/>
                  <a:pt x="107065" y="149415"/>
                </a:cubicBezTo>
                <a:cubicBezTo>
                  <a:pt x="103693" y="151455"/>
                  <a:pt x="99468" y="151455"/>
                  <a:pt x="96096" y="149415"/>
                </a:cubicBezTo>
                <a:cubicBezTo>
                  <a:pt x="92724" y="147376"/>
                  <a:pt x="90762" y="143633"/>
                  <a:pt x="91003" y="139700"/>
                </a:cubicBezTo>
                <a:close/>
              </a:path>
            </a:pathLst>
          </a:custGeom>
          <a:solidFill>
            <a:srgbClr val="FB2C36"/>
          </a:solidFill>
        </p:spPr>
      </p:sp>
      <p:sp>
        <p:nvSpPr>
          <p:cNvPr id="10" name="Text 8"/>
          <p:cNvSpPr/>
          <p:nvPr/>
        </p:nvSpPr>
        <p:spPr>
          <a:xfrm>
            <a:off x="1280160" y="2651758"/>
            <a:ext cx="24003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风险等级依赖人工配置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24560" y="3108958"/>
            <a:ext cx="5562600" cy="660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无法根据学生历史数据动态调整风险等级，缺乏个性化和智能化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46760" y="3972558"/>
            <a:ext cx="50800" cy="787400"/>
          </a:xfrm>
          <a:custGeom>
            <a:avLst/>
            <a:gdLst/>
            <a:ahLst/>
            <a:cxnLst/>
            <a:rect l="l" t="t" r="r" b="b"/>
            <a:pathLst>
              <a:path w="50800" h="787400">
                <a:moveTo>
                  <a:pt x="0" y="0"/>
                </a:moveTo>
                <a:lnTo>
                  <a:pt x="50800" y="0"/>
                </a:lnTo>
                <a:lnTo>
                  <a:pt x="50800" y="787400"/>
                </a:lnTo>
                <a:lnTo>
                  <a:pt x="0" y="787400"/>
                </a:lnTo>
                <a:lnTo>
                  <a:pt x="0" y="0"/>
                </a:lnTo>
                <a:close/>
              </a:path>
            </a:pathLst>
          </a:custGeom>
          <a:solidFill>
            <a:srgbClr val="FB2C36"/>
          </a:solidFill>
        </p:spPr>
      </p:sp>
      <p:sp>
        <p:nvSpPr>
          <p:cNvPr id="13" name="Shape 11"/>
          <p:cNvSpPr/>
          <p:nvPr/>
        </p:nvSpPr>
        <p:spPr>
          <a:xfrm>
            <a:off x="949960" y="4048758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101600" y="53975"/>
                </a:moveTo>
                <a:cubicBezTo>
                  <a:pt x="106878" y="53975"/>
                  <a:pt x="111125" y="58222"/>
                  <a:pt x="111125" y="63500"/>
                </a:cubicBezTo>
                <a:lnTo>
                  <a:pt x="111125" y="107950"/>
                </a:lnTo>
                <a:cubicBezTo>
                  <a:pt x="111125" y="113228"/>
                  <a:pt x="106878" y="117475"/>
                  <a:pt x="101600" y="117475"/>
                </a:cubicBezTo>
                <a:cubicBezTo>
                  <a:pt x="96322" y="117475"/>
                  <a:pt x="92075" y="113228"/>
                  <a:pt x="92075" y="107950"/>
                </a:cubicBezTo>
                <a:lnTo>
                  <a:pt x="92075" y="63500"/>
                </a:lnTo>
                <a:cubicBezTo>
                  <a:pt x="92075" y="58222"/>
                  <a:pt x="96322" y="53975"/>
                  <a:pt x="101600" y="53975"/>
                </a:cubicBezTo>
                <a:close/>
                <a:moveTo>
                  <a:pt x="91003" y="139700"/>
                </a:moveTo>
                <a:cubicBezTo>
                  <a:pt x="90762" y="135767"/>
                  <a:pt x="92724" y="132024"/>
                  <a:pt x="96096" y="129985"/>
                </a:cubicBezTo>
                <a:cubicBezTo>
                  <a:pt x="99468" y="127945"/>
                  <a:pt x="103693" y="127945"/>
                  <a:pt x="107065" y="129985"/>
                </a:cubicBezTo>
                <a:cubicBezTo>
                  <a:pt x="110436" y="132024"/>
                  <a:pt x="112398" y="135767"/>
                  <a:pt x="112157" y="139700"/>
                </a:cubicBezTo>
                <a:cubicBezTo>
                  <a:pt x="112398" y="143633"/>
                  <a:pt x="110436" y="147376"/>
                  <a:pt x="107065" y="149415"/>
                </a:cubicBezTo>
                <a:cubicBezTo>
                  <a:pt x="103693" y="151455"/>
                  <a:pt x="99468" y="151455"/>
                  <a:pt x="96096" y="149415"/>
                </a:cubicBezTo>
                <a:cubicBezTo>
                  <a:pt x="92724" y="147376"/>
                  <a:pt x="90762" y="143633"/>
                  <a:pt x="91003" y="139700"/>
                </a:cubicBezTo>
                <a:close/>
              </a:path>
            </a:pathLst>
          </a:custGeom>
          <a:solidFill>
            <a:srgbClr val="FB2C36"/>
          </a:solidFill>
        </p:spPr>
      </p:sp>
      <p:sp>
        <p:nvSpPr>
          <p:cNvPr id="14" name="Text 12"/>
          <p:cNvSpPr/>
          <p:nvPr/>
        </p:nvSpPr>
        <p:spPr>
          <a:xfrm>
            <a:off x="1280160" y="3972558"/>
            <a:ext cx="21717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预警文案需手动编写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24560" y="4429758"/>
            <a:ext cx="5562600" cy="330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效率低且表述不统一，难以保证文案质量和干预效果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46760" y="4963158"/>
            <a:ext cx="50800" cy="787400"/>
          </a:xfrm>
          <a:custGeom>
            <a:avLst/>
            <a:gdLst/>
            <a:ahLst/>
            <a:cxnLst/>
            <a:rect l="l" t="t" r="r" b="b"/>
            <a:pathLst>
              <a:path w="50800" h="787400">
                <a:moveTo>
                  <a:pt x="0" y="0"/>
                </a:moveTo>
                <a:lnTo>
                  <a:pt x="50800" y="0"/>
                </a:lnTo>
                <a:lnTo>
                  <a:pt x="50800" y="787400"/>
                </a:lnTo>
                <a:lnTo>
                  <a:pt x="0" y="787400"/>
                </a:lnTo>
                <a:lnTo>
                  <a:pt x="0" y="0"/>
                </a:lnTo>
                <a:close/>
              </a:path>
            </a:pathLst>
          </a:custGeom>
          <a:solidFill>
            <a:srgbClr val="FB2C36"/>
          </a:solidFill>
        </p:spPr>
      </p:sp>
      <p:sp>
        <p:nvSpPr>
          <p:cNvPr id="17" name="Shape 15"/>
          <p:cNvSpPr/>
          <p:nvPr/>
        </p:nvSpPr>
        <p:spPr>
          <a:xfrm>
            <a:off x="949960" y="5039358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101600" y="53975"/>
                </a:moveTo>
                <a:cubicBezTo>
                  <a:pt x="106878" y="53975"/>
                  <a:pt x="111125" y="58222"/>
                  <a:pt x="111125" y="63500"/>
                </a:cubicBezTo>
                <a:lnTo>
                  <a:pt x="111125" y="107950"/>
                </a:lnTo>
                <a:cubicBezTo>
                  <a:pt x="111125" y="113228"/>
                  <a:pt x="106878" y="117475"/>
                  <a:pt x="101600" y="117475"/>
                </a:cubicBezTo>
                <a:cubicBezTo>
                  <a:pt x="96322" y="117475"/>
                  <a:pt x="92075" y="113228"/>
                  <a:pt x="92075" y="107950"/>
                </a:cubicBezTo>
                <a:lnTo>
                  <a:pt x="92075" y="63500"/>
                </a:lnTo>
                <a:cubicBezTo>
                  <a:pt x="92075" y="58222"/>
                  <a:pt x="96322" y="53975"/>
                  <a:pt x="101600" y="53975"/>
                </a:cubicBezTo>
                <a:close/>
                <a:moveTo>
                  <a:pt x="91003" y="139700"/>
                </a:moveTo>
                <a:cubicBezTo>
                  <a:pt x="90762" y="135767"/>
                  <a:pt x="92724" y="132024"/>
                  <a:pt x="96096" y="129985"/>
                </a:cubicBezTo>
                <a:cubicBezTo>
                  <a:pt x="99468" y="127945"/>
                  <a:pt x="103693" y="127945"/>
                  <a:pt x="107065" y="129985"/>
                </a:cubicBezTo>
                <a:cubicBezTo>
                  <a:pt x="110436" y="132024"/>
                  <a:pt x="112398" y="135767"/>
                  <a:pt x="112157" y="139700"/>
                </a:cubicBezTo>
                <a:cubicBezTo>
                  <a:pt x="112398" y="143633"/>
                  <a:pt x="110436" y="147376"/>
                  <a:pt x="107065" y="149415"/>
                </a:cubicBezTo>
                <a:cubicBezTo>
                  <a:pt x="103693" y="151455"/>
                  <a:pt x="99468" y="151455"/>
                  <a:pt x="96096" y="149415"/>
                </a:cubicBezTo>
                <a:cubicBezTo>
                  <a:pt x="92724" y="147376"/>
                  <a:pt x="90762" y="143633"/>
                  <a:pt x="91003" y="139700"/>
                </a:cubicBezTo>
                <a:close/>
              </a:path>
            </a:pathLst>
          </a:custGeom>
          <a:solidFill>
            <a:srgbClr val="FB2C36"/>
          </a:solidFill>
        </p:spPr>
      </p:sp>
      <p:sp>
        <p:nvSpPr>
          <p:cNvPr id="18" name="Text 16"/>
          <p:cNvSpPr/>
          <p:nvPr/>
        </p:nvSpPr>
        <p:spPr>
          <a:xfrm>
            <a:off x="1280160" y="4963158"/>
            <a:ext cx="25527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数据统计仅为"现状展示"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24560" y="5420358"/>
            <a:ext cx="5562600" cy="330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无趋势预测、干预效果评估能力，无法提供前瞻性决策支持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46760" y="5953758"/>
            <a:ext cx="50800" cy="787400"/>
          </a:xfrm>
          <a:custGeom>
            <a:avLst/>
            <a:gdLst/>
            <a:ahLst/>
            <a:cxnLst/>
            <a:rect l="l" t="t" r="r" b="b"/>
            <a:pathLst>
              <a:path w="50800" h="787400">
                <a:moveTo>
                  <a:pt x="0" y="0"/>
                </a:moveTo>
                <a:lnTo>
                  <a:pt x="50800" y="0"/>
                </a:lnTo>
                <a:lnTo>
                  <a:pt x="50800" y="787400"/>
                </a:lnTo>
                <a:lnTo>
                  <a:pt x="0" y="787400"/>
                </a:lnTo>
                <a:lnTo>
                  <a:pt x="0" y="0"/>
                </a:lnTo>
                <a:close/>
              </a:path>
            </a:pathLst>
          </a:custGeom>
          <a:solidFill>
            <a:srgbClr val="FB2C36"/>
          </a:solidFill>
        </p:spPr>
      </p:sp>
      <p:sp>
        <p:nvSpPr>
          <p:cNvPr id="21" name="Shape 19"/>
          <p:cNvSpPr/>
          <p:nvPr/>
        </p:nvSpPr>
        <p:spPr>
          <a:xfrm>
            <a:off x="949960" y="6029958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101600" y="53975"/>
                </a:moveTo>
                <a:cubicBezTo>
                  <a:pt x="106878" y="53975"/>
                  <a:pt x="111125" y="58222"/>
                  <a:pt x="111125" y="63500"/>
                </a:cubicBezTo>
                <a:lnTo>
                  <a:pt x="111125" y="107950"/>
                </a:lnTo>
                <a:cubicBezTo>
                  <a:pt x="111125" y="113228"/>
                  <a:pt x="106878" y="117475"/>
                  <a:pt x="101600" y="117475"/>
                </a:cubicBezTo>
                <a:cubicBezTo>
                  <a:pt x="96322" y="117475"/>
                  <a:pt x="92075" y="113228"/>
                  <a:pt x="92075" y="107950"/>
                </a:cubicBezTo>
                <a:lnTo>
                  <a:pt x="92075" y="63500"/>
                </a:lnTo>
                <a:cubicBezTo>
                  <a:pt x="92075" y="58222"/>
                  <a:pt x="96322" y="53975"/>
                  <a:pt x="101600" y="53975"/>
                </a:cubicBezTo>
                <a:close/>
                <a:moveTo>
                  <a:pt x="91003" y="139700"/>
                </a:moveTo>
                <a:cubicBezTo>
                  <a:pt x="90762" y="135767"/>
                  <a:pt x="92724" y="132024"/>
                  <a:pt x="96096" y="129985"/>
                </a:cubicBezTo>
                <a:cubicBezTo>
                  <a:pt x="99468" y="127945"/>
                  <a:pt x="103693" y="127945"/>
                  <a:pt x="107065" y="129985"/>
                </a:cubicBezTo>
                <a:cubicBezTo>
                  <a:pt x="110436" y="132024"/>
                  <a:pt x="112398" y="135767"/>
                  <a:pt x="112157" y="139700"/>
                </a:cubicBezTo>
                <a:cubicBezTo>
                  <a:pt x="112398" y="143633"/>
                  <a:pt x="110436" y="147376"/>
                  <a:pt x="107065" y="149415"/>
                </a:cubicBezTo>
                <a:cubicBezTo>
                  <a:pt x="103693" y="151455"/>
                  <a:pt x="99468" y="151455"/>
                  <a:pt x="96096" y="149415"/>
                </a:cubicBezTo>
                <a:cubicBezTo>
                  <a:pt x="92724" y="147376"/>
                  <a:pt x="90762" y="143633"/>
                  <a:pt x="91003" y="139700"/>
                </a:cubicBezTo>
                <a:close/>
              </a:path>
            </a:pathLst>
          </a:custGeom>
          <a:solidFill>
            <a:srgbClr val="FB2C36"/>
          </a:solidFill>
        </p:spPr>
      </p:sp>
      <p:sp>
        <p:nvSpPr>
          <p:cNvPr id="22" name="Text 20"/>
          <p:cNvSpPr/>
          <p:nvPr/>
        </p:nvSpPr>
        <p:spPr>
          <a:xfrm>
            <a:off x="1280160" y="5953758"/>
            <a:ext cx="28575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海量数据下规则匹配效率低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24560" y="6410958"/>
            <a:ext cx="5562600" cy="330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无法精准识别潜在风险学生，规则过于简单和僵化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863080" y="1884680"/>
            <a:ext cx="8874760" cy="6842760"/>
          </a:xfrm>
          <a:custGeom>
            <a:avLst/>
            <a:gdLst/>
            <a:ahLst/>
            <a:cxnLst/>
            <a:rect l="l" t="t" r="r" b="b"/>
            <a:pathLst>
              <a:path w="8874760" h="6842760">
                <a:moveTo>
                  <a:pt x="101615" y="0"/>
                </a:moveTo>
                <a:lnTo>
                  <a:pt x="8773145" y="0"/>
                </a:lnTo>
                <a:cubicBezTo>
                  <a:pt x="8829265" y="0"/>
                  <a:pt x="8874760" y="45495"/>
                  <a:pt x="8874760" y="101615"/>
                </a:cubicBezTo>
                <a:lnTo>
                  <a:pt x="8874760" y="6741145"/>
                </a:lnTo>
                <a:cubicBezTo>
                  <a:pt x="8874760" y="6797265"/>
                  <a:pt x="8829265" y="6842760"/>
                  <a:pt x="8773145" y="6842760"/>
                </a:cubicBezTo>
                <a:lnTo>
                  <a:pt x="101615" y="6842760"/>
                </a:lnTo>
                <a:cubicBezTo>
                  <a:pt x="45495" y="6842760"/>
                  <a:pt x="0" y="6797265"/>
                  <a:pt x="0" y="6741145"/>
                </a:cubicBezTo>
                <a:lnTo>
                  <a:pt x="0" y="101615"/>
                </a:lnTo>
                <a:cubicBezTo>
                  <a:pt x="0" y="45495"/>
                  <a:pt x="45495" y="0"/>
                  <a:pt x="101615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10160">
            <a:solidFill>
              <a:srgbClr val="38B2AC">
                <a:alpha val="30196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71360" y="2092958"/>
            <a:ext cx="85852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38B2A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V2.0迭代核心方向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076440" y="2656838"/>
            <a:ext cx="8455660" cy="1203960"/>
          </a:xfrm>
          <a:custGeom>
            <a:avLst/>
            <a:gdLst/>
            <a:ahLst/>
            <a:cxnLst/>
            <a:rect l="l" t="t" r="r" b="b"/>
            <a:pathLst>
              <a:path w="8455660" h="1203960">
                <a:moveTo>
                  <a:pt x="50795" y="0"/>
                </a:moveTo>
                <a:lnTo>
                  <a:pt x="8404865" y="0"/>
                </a:lnTo>
                <a:cubicBezTo>
                  <a:pt x="8432918" y="0"/>
                  <a:pt x="8455660" y="22742"/>
                  <a:pt x="8455660" y="50795"/>
                </a:cubicBezTo>
                <a:lnTo>
                  <a:pt x="8455660" y="1153165"/>
                </a:lnTo>
                <a:cubicBezTo>
                  <a:pt x="8455660" y="1181218"/>
                  <a:pt x="8432918" y="1203960"/>
                  <a:pt x="8404865" y="1203960"/>
                </a:cubicBezTo>
                <a:lnTo>
                  <a:pt x="50795" y="1203960"/>
                </a:lnTo>
                <a:cubicBezTo>
                  <a:pt x="22742" y="1203960"/>
                  <a:pt x="0" y="1181218"/>
                  <a:pt x="0" y="1153165"/>
                </a:cubicBezTo>
                <a:lnTo>
                  <a:pt x="0" y="50795"/>
                </a:lnTo>
                <a:cubicBezTo>
                  <a:pt x="0" y="22761"/>
                  <a:pt x="22761" y="0"/>
                  <a:pt x="50795" y="0"/>
                </a:cubicBezTo>
                <a:close/>
              </a:path>
            </a:pathLst>
          </a:custGeom>
          <a:solidFill>
            <a:srgbClr val="38B2AC">
              <a:alpha val="10196"/>
            </a:srgbClr>
          </a:solidFill>
          <a:ln w="10160">
            <a:solidFill>
              <a:srgbClr val="38B2AC">
                <a:alpha val="30196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84720" y="2865127"/>
            <a:ext cx="81534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保留V1.0所有界面与功能，无感知升级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284720" y="3322327"/>
            <a:ext cx="8140700" cy="330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V2.0在V1.0基础上进行AI能力增强，不影响原有业务流程和界面操作，支持一键降级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096760" y="4069085"/>
            <a:ext cx="50800" cy="1346200"/>
          </a:xfrm>
          <a:custGeom>
            <a:avLst/>
            <a:gdLst/>
            <a:ahLst/>
            <a:cxnLst/>
            <a:rect l="l" t="t" r="r" b="b"/>
            <a:pathLst>
              <a:path w="50800" h="1346200">
                <a:moveTo>
                  <a:pt x="0" y="0"/>
                </a:moveTo>
                <a:lnTo>
                  <a:pt x="50800" y="0"/>
                </a:lnTo>
                <a:lnTo>
                  <a:pt x="50800" y="1346200"/>
                </a:lnTo>
                <a:lnTo>
                  <a:pt x="0" y="1346200"/>
                </a:lnTo>
                <a:lnTo>
                  <a:pt x="0" y="0"/>
                </a:lnTo>
                <a:close/>
              </a:path>
            </a:pathLst>
          </a:custGeom>
          <a:solidFill>
            <a:srgbClr val="38B2AC"/>
          </a:solidFill>
        </p:spPr>
      </p:sp>
      <p:sp>
        <p:nvSpPr>
          <p:cNvPr id="30" name="Shape 28"/>
          <p:cNvSpPr/>
          <p:nvPr/>
        </p:nvSpPr>
        <p:spPr>
          <a:xfrm>
            <a:off x="7325360" y="4069085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38B2AC"/>
          </a:solidFill>
        </p:spPr>
      </p:sp>
      <p:sp>
        <p:nvSpPr>
          <p:cNvPr id="31" name="Text 29"/>
          <p:cNvSpPr/>
          <p:nvPr/>
        </p:nvSpPr>
        <p:spPr>
          <a:xfrm>
            <a:off x="7274560" y="4069085"/>
            <a:ext cx="6096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1A202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985760" y="4145285"/>
            <a:ext cx="19431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38B2A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风险等级智能判定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325360" y="4678685"/>
            <a:ext cx="8305800" cy="330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基于学生历史成绩/考勤数据，AI动态评估风险等级（高/中/低），实现个性化风险识别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325360" y="5110485"/>
            <a:ext cx="1117600" cy="304800"/>
          </a:xfrm>
          <a:custGeom>
            <a:avLst/>
            <a:gdLst/>
            <a:ahLst/>
            <a:cxnLst/>
            <a:rect l="l" t="t" r="r" b="b"/>
            <a:pathLst>
              <a:path w="1117600" h="304800">
                <a:moveTo>
                  <a:pt x="50801" y="0"/>
                </a:moveTo>
                <a:lnTo>
                  <a:pt x="1066799" y="0"/>
                </a:lnTo>
                <a:cubicBezTo>
                  <a:pt x="1094856" y="0"/>
                  <a:pt x="1117600" y="22744"/>
                  <a:pt x="1117600" y="50801"/>
                </a:cubicBezTo>
                <a:lnTo>
                  <a:pt x="1117600" y="253999"/>
                </a:lnTo>
                <a:cubicBezTo>
                  <a:pt x="1117600" y="282056"/>
                  <a:pt x="1094856" y="304800"/>
                  <a:pt x="10667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</p:spPr>
      </p:sp>
      <p:sp>
        <p:nvSpPr>
          <p:cNvPr id="35" name="Text 33"/>
          <p:cNvSpPr/>
          <p:nvPr/>
        </p:nvSpPr>
        <p:spPr>
          <a:xfrm>
            <a:off x="7325360" y="5110485"/>
            <a:ext cx="1193800" cy="304800"/>
          </a:xfrm>
          <a:prstGeom prst="rect">
            <a:avLst/>
          </a:prstGeom>
          <a:noFill/>
        </p:spPr>
        <p:txBody>
          <a:bodyPr wrap="square" lIns="101600" tIns="50800" rIns="101600" bIns="5080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38B2A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历史数据分析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544560" y="5110485"/>
            <a:ext cx="812800" cy="304800"/>
          </a:xfrm>
          <a:custGeom>
            <a:avLst/>
            <a:gdLst/>
            <a:ahLst/>
            <a:cxnLst/>
            <a:rect l="l" t="t" r="r" b="b"/>
            <a:pathLst>
              <a:path w="812800" h="304800">
                <a:moveTo>
                  <a:pt x="50801" y="0"/>
                </a:moveTo>
                <a:lnTo>
                  <a:pt x="761999" y="0"/>
                </a:lnTo>
                <a:cubicBezTo>
                  <a:pt x="790056" y="0"/>
                  <a:pt x="812800" y="22744"/>
                  <a:pt x="812800" y="50801"/>
                </a:cubicBezTo>
                <a:lnTo>
                  <a:pt x="812800" y="253999"/>
                </a:lnTo>
                <a:cubicBezTo>
                  <a:pt x="812800" y="282056"/>
                  <a:pt x="790056" y="304800"/>
                  <a:pt x="7619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</p:spPr>
      </p:sp>
      <p:sp>
        <p:nvSpPr>
          <p:cNvPr id="37" name="Text 35"/>
          <p:cNvSpPr/>
          <p:nvPr/>
        </p:nvSpPr>
        <p:spPr>
          <a:xfrm>
            <a:off x="8544560" y="5110485"/>
            <a:ext cx="889000" cy="304800"/>
          </a:xfrm>
          <a:prstGeom prst="rect">
            <a:avLst/>
          </a:prstGeom>
          <a:noFill/>
        </p:spPr>
        <p:txBody>
          <a:bodyPr wrap="square" lIns="101600" tIns="50800" rIns="101600" bIns="5080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38B2A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动态评估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9458960" y="5110485"/>
            <a:ext cx="965200" cy="304800"/>
          </a:xfrm>
          <a:custGeom>
            <a:avLst/>
            <a:gdLst/>
            <a:ahLst/>
            <a:cxnLst/>
            <a:rect l="l" t="t" r="r" b="b"/>
            <a:pathLst>
              <a:path w="965200" h="304800">
                <a:moveTo>
                  <a:pt x="50801" y="0"/>
                </a:moveTo>
                <a:lnTo>
                  <a:pt x="914399" y="0"/>
                </a:lnTo>
                <a:cubicBezTo>
                  <a:pt x="942456" y="0"/>
                  <a:pt x="965200" y="22744"/>
                  <a:pt x="965200" y="50801"/>
                </a:cubicBezTo>
                <a:lnTo>
                  <a:pt x="965200" y="253999"/>
                </a:lnTo>
                <a:cubicBezTo>
                  <a:pt x="965200" y="282056"/>
                  <a:pt x="942456" y="304800"/>
                  <a:pt x="9143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</p:spPr>
      </p:sp>
      <p:sp>
        <p:nvSpPr>
          <p:cNvPr id="39" name="Text 37"/>
          <p:cNvSpPr/>
          <p:nvPr/>
        </p:nvSpPr>
        <p:spPr>
          <a:xfrm>
            <a:off x="9458960" y="5110485"/>
            <a:ext cx="1041400" cy="304800"/>
          </a:xfrm>
          <a:prstGeom prst="rect">
            <a:avLst/>
          </a:prstGeom>
          <a:noFill/>
        </p:spPr>
        <p:txBody>
          <a:bodyPr wrap="square" lIns="101600" tIns="50800" rIns="101600" bIns="5080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38B2A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个性化识别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096760" y="5618324"/>
            <a:ext cx="50800" cy="1346200"/>
          </a:xfrm>
          <a:custGeom>
            <a:avLst/>
            <a:gdLst/>
            <a:ahLst/>
            <a:cxnLst/>
            <a:rect l="l" t="t" r="r" b="b"/>
            <a:pathLst>
              <a:path w="50800" h="1346200">
                <a:moveTo>
                  <a:pt x="0" y="0"/>
                </a:moveTo>
                <a:lnTo>
                  <a:pt x="50800" y="0"/>
                </a:lnTo>
                <a:lnTo>
                  <a:pt x="50800" y="1346200"/>
                </a:lnTo>
                <a:lnTo>
                  <a:pt x="0" y="1346200"/>
                </a:lnTo>
                <a:lnTo>
                  <a:pt x="0" y="0"/>
                </a:lnTo>
                <a:close/>
              </a:path>
            </a:pathLst>
          </a:custGeom>
          <a:solidFill>
            <a:srgbClr val="38B2AC"/>
          </a:solidFill>
        </p:spPr>
      </p:sp>
      <p:sp>
        <p:nvSpPr>
          <p:cNvPr id="41" name="Shape 39"/>
          <p:cNvSpPr/>
          <p:nvPr/>
        </p:nvSpPr>
        <p:spPr>
          <a:xfrm>
            <a:off x="7325360" y="5618324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38B2AC"/>
          </a:solidFill>
        </p:spPr>
      </p:sp>
      <p:sp>
        <p:nvSpPr>
          <p:cNvPr id="42" name="Text 40"/>
          <p:cNvSpPr/>
          <p:nvPr/>
        </p:nvSpPr>
        <p:spPr>
          <a:xfrm>
            <a:off x="7274560" y="5618324"/>
            <a:ext cx="6096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1A202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985760" y="5694524"/>
            <a:ext cx="19431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38B2A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预警文案自动生成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325360" y="6227924"/>
            <a:ext cx="8305800" cy="330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根据风险类型、学生情况，AI生成个性化预警通知，支持辅导员微调，提升干预效率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7325360" y="6659724"/>
            <a:ext cx="965200" cy="304800"/>
          </a:xfrm>
          <a:custGeom>
            <a:avLst/>
            <a:gdLst/>
            <a:ahLst/>
            <a:cxnLst/>
            <a:rect l="l" t="t" r="r" b="b"/>
            <a:pathLst>
              <a:path w="965200" h="304800">
                <a:moveTo>
                  <a:pt x="50801" y="0"/>
                </a:moveTo>
                <a:lnTo>
                  <a:pt x="914399" y="0"/>
                </a:lnTo>
                <a:cubicBezTo>
                  <a:pt x="942456" y="0"/>
                  <a:pt x="965200" y="22744"/>
                  <a:pt x="965200" y="50801"/>
                </a:cubicBezTo>
                <a:lnTo>
                  <a:pt x="965200" y="253999"/>
                </a:lnTo>
                <a:cubicBezTo>
                  <a:pt x="965200" y="282056"/>
                  <a:pt x="942456" y="304800"/>
                  <a:pt x="9143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</p:spPr>
      </p:sp>
      <p:sp>
        <p:nvSpPr>
          <p:cNvPr id="46" name="Text 44"/>
          <p:cNvSpPr/>
          <p:nvPr/>
        </p:nvSpPr>
        <p:spPr>
          <a:xfrm>
            <a:off x="7325360" y="6659724"/>
            <a:ext cx="1041400" cy="304800"/>
          </a:xfrm>
          <a:prstGeom prst="rect">
            <a:avLst/>
          </a:prstGeom>
          <a:noFill/>
        </p:spPr>
        <p:txBody>
          <a:bodyPr wrap="square" lIns="101600" tIns="50800" rIns="101600" bIns="5080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38B2A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个性化文案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8392160" y="6659724"/>
            <a:ext cx="812800" cy="304800"/>
          </a:xfrm>
          <a:custGeom>
            <a:avLst/>
            <a:gdLst/>
            <a:ahLst/>
            <a:cxnLst/>
            <a:rect l="l" t="t" r="r" b="b"/>
            <a:pathLst>
              <a:path w="812800" h="304800">
                <a:moveTo>
                  <a:pt x="50801" y="0"/>
                </a:moveTo>
                <a:lnTo>
                  <a:pt x="761999" y="0"/>
                </a:lnTo>
                <a:cubicBezTo>
                  <a:pt x="790056" y="0"/>
                  <a:pt x="812800" y="22744"/>
                  <a:pt x="812800" y="50801"/>
                </a:cubicBezTo>
                <a:lnTo>
                  <a:pt x="812800" y="253999"/>
                </a:lnTo>
                <a:cubicBezTo>
                  <a:pt x="812800" y="282056"/>
                  <a:pt x="790056" y="304800"/>
                  <a:pt x="7619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</p:spPr>
      </p:sp>
      <p:sp>
        <p:nvSpPr>
          <p:cNvPr id="48" name="Text 46"/>
          <p:cNvSpPr/>
          <p:nvPr/>
        </p:nvSpPr>
        <p:spPr>
          <a:xfrm>
            <a:off x="8392160" y="6659724"/>
            <a:ext cx="889000" cy="304800"/>
          </a:xfrm>
          <a:prstGeom prst="rect">
            <a:avLst/>
          </a:prstGeom>
          <a:noFill/>
        </p:spPr>
        <p:txBody>
          <a:bodyPr wrap="square" lIns="101600" tIns="50800" rIns="101600" bIns="5080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38B2A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自动生成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9306560" y="6659724"/>
            <a:ext cx="965200" cy="304800"/>
          </a:xfrm>
          <a:custGeom>
            <a:avLst/>
            <a:gdLst/>
            <a:ahLst/>
            <a:cxnLst/>
            <a:rect l="l" t="t" r="r" b="b"/>
            <a:pathLst>
              <a:path w="965200" h="304800">
                <a:moveTo>
                  <a:pt x="50801" y="0"/>
                </a:moveTo>
                <a:lnTo>
                  <a:pt x="914399" y="0"/>
                </a:lnTo>
                <a:cubicBezTo>
                  <a:pt x="942456" y="0"/>
                  <a:pt x="965200" y="22744"/>
                  <a:pt x="965200" y="50801"/>
                </a:cubicBezTo>
                <a:lnTo>
                  <a:pt x="965200" y="253999"/>
                </a:lnTo>
                <a:cubicBezTo>
                  <a:pt x="965200" y="282056"/>
                  <a:pt x="942456" y="304800"/>
                  <a:pt x="9143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</p:spPr>
      </p:sp>
      <p:sp>
        <p:nvSpPr>
          <p:cNvPr id="50" name="Text 48"/>
          <p:cNvSpPr/>
          <p:nvPr/>
        </p:nvSpPr>
        <p:spPr>
          <a:xfrm>
            <a:off x="9306560" y="6659724"/>
            <a:ext cx="1041400" cy="304800"/>
          </a:xfrm>
          <a:prstGeom prst="rect">
            <a:avLst/>
          </a:prstGeom>
          <a:noFill/>
        </p:spPr>
        <p:txBody>
          <a:bodyPr wrap="square" lIns="101600" tIns="50800" rIns="101600" bIns="5080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38B2A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辅导员微调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7096760" y="7167563"/>
            <a:ext cx="50800" cy="1346200"/>
          </a:xfrm>
          <a:custGeom>
            <a:avLst/>
            <a:gdLst/>
            <a:ahLst/>
            <a:cxnLst/>
            <a:rect l="l" t="t" r="r" b="b"/>
            <a:pathLst>
              <a:path w="50800" h="1346200">
                <a:moveTo>
                  <a:pt x="0" y="0"/>
                </a:moveTo>
                <a:lnTo>
                  <a:pt x="50800" y="0"/>
                </a:lnTo>
                <a:lnTo>
                  <a:pt x="50800" y="1346200"/>
                </a:lnTo>
                <a:lnTo>
                  <a:pt x="0" y="1346200"/>
                </a:lnTo>
                <a:lnTo>
                  <a:pt x="0" y="0"/>
                </a:lnTo>
                <a:close/>
              </a:path>
            </a:pathLst>
          </a:custGeom>
          <a:solidFill>
            <a:srgbClr val="38B2AC"/>
          </a:solidFill>
        </p:spPr>
      </p:sp>
      <p:sp>
        <p:nvSpPr>
          <p:cNvPr id="52" name="Shape 50"/>
          <p:cNvSpPr/>
          <p:nvPr/>
        </p:nvSpPr>
        <p:spPr>
          <a:xfrm>
            <a:off x="7325360" y="7167563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38B2AC"/>
          </a:solidFill>
        </p:spPr>
      </p:sp>
      <p:sp>
        <p:nvSpPr>
          <p:cNvPr id="53" name="Text 51"/>
          <p:cNvSpPr/>
          <p:nvPr/>
        </p:nvSpPr>
        <p:spPr>
          <a:xfrm>
            <a:off x="7274560" y="7167563"/>
            <a:ext cx="6096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1A202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7985760" y="7243763"/>
            <a:ext cx="14859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38B2A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数据智能分析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7325360" y="7777163"/>
            <a:ext cx="8305800" cy="330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AI辅助预测预警趋势，评估干预效果，为教务处主任提供数据驱动的决策支持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7325360" y="8208963"/>
            <a:ext cx="812800" cy="304800"/>
          </a:xfrm>
          <a:custGeom>
            <a:avLst/>
            <a:gdLst/>
            <a:ahLst/>
            <a:cxnLst/>
            <a:rect l="l" t="t" r="r" b="b"/>
            <a:pathLst>
              <a:path w="812800" h="304800">
                <a:moveTo>
                  <a:pt x="50801" y="0"/>
                </a:moveTo>
                <a:lnTo>
                  <a:pt x="761999" y="0"/>
                </a:lnTo>
                <a:cubicBezTo>
                  <a:pt x="790056" y="0"/>
                  <a:pt x="812800" y="22744"/>
                  <a:pt x="812800" y="50801"/>
                </a:cubicBezTo>
                <a:lnTo>
                  <a:pt x="812800" y="253999"/>
                </a:lnTo>
                <a:cubicBezTo>
                  <a:pt x="812800" y="282056"/>
                  <a:pt x="790056" y="304800"/>
                  <a:pt x="7619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</p:spPr>
      </p:sp>
      <p:sp>
        <p:nvSpPr>
          <p:cNvPr id="57" name="Text 55"/>
          <p:cNvSpPr/>
          <p:nvPr/>
        </p:nvSpPr>
        <p:spPr>
          <a:xfrm>
            <a:off x="7325360" y="8208963"/>
            <a:ext cx="889000" cy="304800"/>
          </a:xfrm>
          <a:prstGeom prst="rect">
            <a:avLst/>
          </a:prstGeom>
          <a:noFill/>
        </p:spPr>
        <p:txBody>
          <a:bodyPr wrap="square" lIns="101600" tIns="50800" rIns="101600" bIns="5080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38B2A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趋势预测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8239760" y="8208963"/>
            <a:ext cx="812800" cy="304800"/>
          </a:xfrm>
          <a:custGeom>
            <a:avLst/>
            <a:gdLst/>
            <a:ahLst/>
            <a:cxnLst/>
            <a:rect l="l" t="t" r="r" b="b"/>
            <a:pathLst>
              <a:path w="812800" h="304800">
                <a:moveTo>
                  <a:pt x="50801" y="0"/>
                </a:moveTo>
                <a:lnTo>
                  <a:pt x="761999" y="0"/>
                </a:lnTo>
                <a:cubicBezTo>
                  <a:pt x="790056" y="0"/>
                  <a:pt x="812800" y="22744"/>
                  <a:pt x="812800" y="50801"/>
                </a:cubicBezTo>
                <a:lnTo>
                  <a:pt x="812800" y="253999"/>
                </a:lnTo>
                <a:cubicBezTo>
                  <a:pt x="812800" y="282056"/>
                  <a:pt x="790056" y="304800"/>
                  <a:pt x="7619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</p:spPr>
      </p:sp>
      <p:sp>
        <p:nvSpPr>
          <p:cNvPr id="59" name="Text 57"/>
          <p:cNvSpPr/>
          <p:nvPr/>
        </p:nvSpPr>
        <p:spPr>
          <a:xfrm>
            <a:off x="8239760" y="8208963"/>
            <a:ext cx="889000" cy="304800"/>
          </a:xfrm>
          <a:prstGeom prst="rect">
            <a:avLst/>
          </a:prstGeom>
          <a:noFill/>
        </p:spPr>
        <p:txBody>
          <a:bodyPr wrap="square" lIns="101600" tIns="50800" rIns="101600" bIns="5080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38B2A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效果评估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9154160" y="8208963"/>
            <a:ext cx="812800" cy="304800"/>
          </a:xfrm>
          <a:custGeom>
            <a:avLst/>
            <a:gdLst/>
            <a:ahLst/>
            <a:cxnLst/>
            <a:rect l="l" t="t" r="r" b="b"/>
            <a:pathLst>
              <a:path w="812800" h="304800">
                <a:moveTo>
                  <a:pt x="50801" y="0"/>
                </a:moveTo>
                <a:lnTo>
                  <a:pt x="761999" y="0"/>
                </a:lnTo>
                <a:cubicBezTo>
                  <a:pt x="790056" y="0"/>
                  <a:pt x="812800" y="22744"/>
                  <a:pt x="812800" y="50801"/>
                </a:cubicBezTo>
                <a:lnTo>
                  <a:pt x="812800" y="253999"/>
                </a:lnTo>
                <a:cubicBezTo>
                  <a:pt x="812800" y="282056"/>
                  <a:pt x="790056" y="304800"/>
                  <a:pt x="7619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</p:spPr>
      </p:sp>
      <p:sp>
        <p:nvSpPr>
          <p:cNvPr id="61" name="Text 59"/>
          <p:cNvSpPr/>
          <p:nvPr/>
        </p:nvSpPr>
        <p:spPr>
          <a:xfrm>
            <a:off x="9154160" y="8208963"/>
            <a:ext cx="889000" cy="304800"/>
          </a:xfrm>
          <a:prstGeom prst="rect">
            <a:avLst/>
          </a:prstGeom>
          <a:noFill/>
        </p:spPr>
        <p:txBody>
          <a:bodyPr wrap="square" lIns="101600" tIns="50800" rIns="101600" bIns="5080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38B2A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决策支持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2916" y="432916"/>
            <a:ext cx="2337747" cy="346333"/>
          </a:xfrm>
          <a:custGeom>
            <a:avLst/>
            <a:gdLst/>
            <a:ahLst/>
            <a:cxnLst/>
            <a:rect l="l" t="t" r="r" b="b"/>
            <a:pathLst>
              <a:path w="2337747" h="346333">
                <a:moveTo>
                  <a:pt x="43292" y="0"/>
                </a:moveTo>
                <a:lnTo>
                  <a:pt x="2294455" y="0"/>
                </a:lnTo>
                <a:cubicBezTo>
                  <a:pt x="2318365" y="0"/>
                  <a:pt x="2337747" y="19382"/>
                  <a:pt x="2337747" y="43292"/>
                </a:cubicBezTo>
                <a:lnTo>
                  <a:pt x="2337747" y="303041"/>
                </a:lnTo>
                <a:cubicBezTo>
                  <a:pt x="2337747" y="326951"/>
                  <a:pt x="2318365" y="346333"/>
                  <a:pt x="2294455" y="346333"/>
                </a:cubicBezTo>
                <a:lnTo>
                  <a:pt x="43292" y="346333"/>
                </a:lnTo>
                <a:cubicBezTo>
                  <a:pt x="19382" y="346333"/>
                  <a:pt x="0" y="326951"/>
                  <a:pt x="0" y="303041"/>
                </a:cubicBezTo>
                <a:lnTo>
                  <a:pt x="0" y="43292"/>
                </a:lnTo>
                <a:cubicBezTo>
                  <a:pt x="0" y="19398"/>
                  <a:pt x="19398" y="0"/>
                  <a:pt x="43292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562791" y="510843"/>
            <a:ext cx="2153352" cy="19914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5" b="1" kern="0" spc="30" dirty="0">
                <a:solidFill>
                  <a:srgbClr val="38B2A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V2.0 TECHNICAL SOLUTION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32916" y="865832"/>
            <a:ext cx="15584980" cy="4329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070" b="1" dirty="0">
                <a:solidFill>
                  <a:srgbClr val="E2E8F0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V2.0迭代设计 - 技术方案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32916" y="1385332"/>
            <a:ext cx="865832" cy="43292"/>
          </a:xfrm>
          <a:custGeom>
            <a:avLst/>
            <a:gdLst/>
            <a:ahLst/>
            <a:cxnLst/>
            <a:rect l="l" t="t" r="r" b="b"/>
            <a:pathLst>
              <a:path w="865832" h="43292">
                <a:moveTo>
                  <a:pt x="0" y="0"/>
                </a:moveTo>
                <a:lnTo>
                  <a:pt x="865832" y="0"/>
                </a:lnTo>
                <a:lnTo>
                  <a:pt x="865832" y="43292"/>
                </a:lnTo>
                <a:lnTo>
                  <a:pt x="0" y="43292"/>
                </a:lnTo>
                <a:lnTo>
                  <a:pt x="0" y="0"/>
                </a:lnTo>
                <a:close/>
              </a:path>
            </a:pathLst>
          </a:custGeom>
          <a:solidFill>
            <a:srgbClr val="38B2AC"/>
          </a:solidFill>
        </p:spPr>
      </p:sp>
      <p:sp>
        <p:nvSpPr>
          <p:cNvPr id="6" name="Shape 4"/>
          <p:cNvSpPr/>
          <p:nvPr/>
        </p:nvSpPr>
        <p:spPr>
          <a:xfrm>
            <a:off x="437245" y="1606119"/>
            <a:ext cx="6145244" cy="3179769"/>
          </a:xfrm>
          <a:custGeom>
            <a:avLst/>
            <a:gdLst/>
            <a:ahLst/>
            <a:cxnLst/>
            <a:rect l="l" t="t" r="r" b="b"/>
            <a:pathLst>
              <a:path w="6145244" h="3179769">
                <a:moveTo>
                  <a:pt x="86585" y="0"/>
                </a:moveTo>
                <a:lnTo>
                  <a:pt x="6058659" y="0"/>
                </a:lnTo>
                <a:cubicBezTo>
                  <a:pt x="6106479" y="0"/>
                  <a:pt x="6145244" y="38765"/>
                  <a:pt x="6145244" y="86585"/>
                </a:cubicBezTo>
                <a:lnTo>
                  <a:pt x="6145244" y="3093184"/>
                </a:lnTo>
                <a:cubicBezTo>
                  <a:pt x="6145244" y="3141003"/>
                  <a:pt x="6106479" y="3179769"/>
                  <a:pt x="6058659" y="3179769"/>
                </a:cubicBezTo>
                <a:lnTo>
                  <a:pt x="86585" y="3179769"/>
                </a:lnTo>
                <a:cubicBezTo>
                  <a:pt x="38765" y="3179769"/>
                  <a:pt x="0" y="3141003"/>
                  <a:pt x="0" y="3093184"/>
                </a:cubicBezTo>
                <a:lnTo>
                  <a:pt x="0" y="86585"/>
                </a:lnTo>
                <a:cubicBezTo>
                  <a:pt x="0" y="38797"/>
                  <a:pt x="38797" y="0"/>
                  <a:pt x="86585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10160">
            <a:solidFill>
              <a:srgbClr val="38B2AC">
                <a:alpha val="30196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4741" y="1783612"/>
            <a:ext cx="5898482" cy="30304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05" b="1" dirty="0">
                <a:solidFill>
                  <a:srgbClr val="38B2A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AI接口选型与集成逻辑</a:t>
            </a:r>
            <a:endParaRPr lang="en-US" sz="1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/>
        </p:nvGraphicFramePr>
        <p:xfrm>
          <a:off x="614741" y="2216528"/>
          <a:ext cx="5790253" cy="2391864"/>
        </p:xfrm>
        <a:graphic>
          <a:graphicData uri="http://schemas.openxmlformats.org/drawingml/2006/table">
            <a:tbl>
              <a:tblPr/>
              <a:tblGrid>
                <a:gridCol w="1091074"/>
                <a:gridCol w="4699179"/>
              </a:tblGrid>
              <a:tr h="398644">
                <a:tc>
                  <a:txBody>
                    <a:bodyPr/>
                    <a:lstStyle/>
                    <a:p>
                      <a:pPr algn="l"/>
                      <a:r>
                        <a:rPr lang="en-US" sz="1100" b="1" u="none" dirty="0">
                          <a:solidFill>
                            <a:srgbClr val="38B2A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选型维度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0320" cap="flat" cmpd="sng" algn="ctr">
                      <a:solidFill>
                        <a:srgbClr val="38B2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u="none" dirty="0">
                          <a:solidFill>
                            <a:srgbClr val="38B2A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选择方案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0320" cap="flat" cmpd="sng" algn="ctr">
                      <a:solidFill>
                        <a:srgbClr val="38B2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8644">
                <a:tc>
                  <a:txBody>
                    <a:bodyPr/>
                    <a:lstStyle/>
                    <a:p>
                      <a:r>
                        <a:rPr lang="en-US" sz="1100" b="1" u="none" dirty="0">
                          <a:solidFill>
                            <a:srgbClr val="38B2A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AI接口类型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文本生成API + 数据分析API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8644">
                <a:tc>
                  <a:txBody>
                    <a:bodyPr/>
                    <a:lstStyle/>
                    <a:p>
                      <a:r>
                        <a:rPr lang="en-US" sz="1100" b="1" u="none" dirty="0">
                          <a:solidFill>
                            <a:srgbClr val="38B2A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适配场景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预警文案生成 + 风险等级判定/趋势预测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8644">
                <a:tc>
                  <a:txBody>
                    <a:bodyPr/>
                    <a:lstStyle/>
                    <a:p>
                      <a:r>
                        <a:rPr lang="en-US" sz="1100" b="1" u="none" dirty="0">
                          <a:solidFill>
                            <a:srgbClr val="38B2A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接口提供商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百度AI（示例）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8644">
                <a:tc>
                  <a:txBody>
                    <a:bodyPr/>
                    <a:lstStyle/>
                    <a:p>
                      <a:r>
                        <a:rPr lang="en-US" sz="1100" b="1" u="none" dirty="0">
                          <a:solidFill>
                            <a:srgbClr val="38B2A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选择理由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免费额度充足，文档完善，支持多维度文本/数据处理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8644">
                <a:tc>
                  <a:txBody>
                    <a:bodyPr/>
                    <a:lstStyle/>
                    <a:p>
                      <a:r>
                        <a:rPr lang="en-US" sz="1100" b="1" u="none" dirty="0">
                          <a:solidFill>
                            <a:srgbClr val="38B2A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集成方式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后端封装AI服务层，前端无感知，统一管理接口调用/结果解析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37245" y="4965552"/>
            <a:ext cx="6145244" cy="1956781"/>
          </a:xfrm>
          <a:custGeom>
            <a:avLst/>
            <a:gdLst/>
            <a:ahLst/>
            <a:cxnLst/>
            <a:rect l="l" t="t" r="r" b="b"/>
            <a:pathLst>
              <a:path w="6145244" h="1956781">
                <a:moveTo>
                  <a:pt x="86588" y="0"/>
                </a:moveTo>
                <a:lnTo>
                  <a:pt x="6058657" y="0"/>
                </a:lnTo>
                <a:cubicBezTo>
                  <a:pt x="6106478" y="0"/>
                  <a:pt x="6145244" y="38767"/>
                  <a:pt x="6145244" y="86588"/>
                </a:cubicBezTo>
                <a:lnTo>
                  <a:pt x="6145244" y="1870193"/>
                </a:lnTo>
                <a:cubicBezTo>
                  <a:pt x="6145244" y="1918014"/>
                  <a:pt x="6106478" y="1956781"/>
                  <a:pt x="6058657" y="1956781"/>
                </a:cubicBezTo>
                <a:lnTo>
                  <a:pt x="86588" y="1956781"/>
                </a:lnTo>
                <a:cubicBezTo>
                  <a:pt x="38799" y="1956781"/>
                  <a:pt x="0" y="1917982"/>
                  <a:pt x="0" y="1870193"/>
                </a:cubicBezTo>
                <a:lnTo>
                  <a:pt x="0" y="86588"/>
                </a:lnTo>
                <a:cubicBezTo>
                  <a:pt x="0" y="38799"/>
                  <a:pt x="38799" y="0"/>
                  <a:pt x="86588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10160">
            <a:solidFill>
              <a:srgbClr val="4A5568">
                <a:alpha val="30196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14741" y="5143046"/>
            <a:ext cx="5887659" cy="30304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35" b="1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新增界面适配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36387" y="5575962"/>
            <a:ext cx="43292" cy="519499"/>
          </a:xfrm>
          <a:custGeom>
            <a:avLst/>
            <a:gdLst/>
            <a:ahLst/>
            <a:cxnLst/>
            <a:rect l="l" t="t" r="r" b="b"/>
            <a:pathLst>
              <a:path w="43292" h="519499">
                <a:moveTo>
                  <a:pt x="0" y="0"/>
                </a:moveTo>
                <a:lnTo>
                  <a:pt x="43292" y="0"/>
                </a:lnTo>
                <a:lnTo>
                  <a:pt x="43292" y="519499"/>
                </a:lnTo>
                <a:lnTo>
                  <a:pt x="0" y="519499"/>
                </a:lnTo>
                <a:lnTo>
                  <a:pt x="0" y="0"/>
                </a:lnTo>
                <a:close/>
              </a:path>
            </a:pathLst>
          </a:custGeom>
          <a:solidFill>
            <a:srgbClr val="38B2AC"/>
          </a:solidFill>
        </p:spPr>
      </p:sp>
      <p:sp>
        <p:nvSpPr>
          <p:cNvPr id="12" name="Text 9"/>
          <p:cNvSpPr/>
          <p:nvPr/>
        </p:nvSpPr>
        <p:spPr>
          <a:xfrm>
            <a:off x="787907" y="5575962"/>
            <a:ext cx="5703670" cy="259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65" b="1" dirty="0">
                <a:solidFill>
                  <a:srgbClr val="38B2A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AI预警文案展示界面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87907" y="5879003"/>
            <a:ext cx="5692847" cy="2164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5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展示AI生成的个性化预警通知，支持辅导员微调后推送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36387" y="6225336"/>
            <a:ext cx="43292" cy="519499"/>
          </a:xfrm>
          <a:custGeom>
            <a:avLst/>
            <a:gdLst/>
            <a:ahLst/>
            <a:cxnLst/>
            <a:rect l="l" t="t" r="r" b="b"/>
            <a:pathLst>
              <a:path w="43292" h="519499">
                <a:moveTo>
                  <a:pt x="0" y="0"/>
                </a:moveTo>
                <a:lnTo>
                  <a:pt x="43292" y="0"/>
                </a:lnTo>
                <a:lnTo>
                  <a:pt x="43292" y="519499"/>
                </a:lnTo>
                <a:lnTo>
                  <a:pt x="0" y="519499"/>
                </a:lnTo>
                <a:lnTo>
                  <a:pt x="0" y="0"/>
                </a:lnTo>
                <a:close/>
              </a:path>
            </a:pathLst>
          </a:custGeom>
          <a:solidFill>
            <a:srgbClr val="38B2AC"/>
          </a:solidFill>
        </p:spPr>
      </p:sp>
      <p:sp>
        <p:nvSpPr>
          <p:cNvPr id="15" name="Text 12"/>
          <p:cNvSpPr/>
          <p:nvPr/>
        </p:nvSpPr>
        <p:spPr>
          <a:xfrm>
            <a:off x="787907" y="6225336"/>
            <a:ext cx="5703670" cy="259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65" b="1" dirty="0">
                <a:solidFill>
                  <a:srgbClr val="38B2A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AI趋势预测界面</a:t>
            </a:r>
            <a:endParaRPr lang="en-US" sz="1600" dirty="0"/>
          </a:p>
        </p:txBody>
      </p:sp>
      <p:sp>
        <p:nvSpPr>
          <p:cNvPr id="8" name="Text 13"/>
          <p:cNvSpPr/>
          <p:nvPr/>
        </p:nvSpPr>
        <p:spPr>
          <a:xfrm>
            <a:off x="787907" y="6528377"/>
            <a:ext cx="5692847" cy="2164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5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以图表形式展示AI预测的预警趋势，辅助教务处主任决策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810582" y="1606119"/>
            <a:ext cx="9013313" cy="8396408"/>
          </a:xfrm>
          <a:custGeom>
            <a:avLst/>
            <a:gdLst/>
            <a:ahLst/>
            <a:cxnLst/>
            <a:rect l="l" t="t" r="r" b="b"/>
            <a:pathLst>
              <a:path w="9013313" h="8396408">
                <a:moveTo>
                  <a:pt x="86567" y="0"/>
                </a:moveTo>
                <a:lnTo>
                  <a:pt x="8926746" y="0"/>
                </a:lnTo>
                <a:cubicBezTo>
                  <a:pt x="8974556" y="0"/>
                  <a:pt x="9013313" y="38757"/>
                  <a:pt x="9013313" y="86567"/>
                </a:cubicBezTo>
                <a:lnTo>
                  <a:pt x="9013313" y="8309841"/>
                </a:lnTo>
                <a:cubicBezTo>
                  <a:pt x="9013313" y="8357651"/>
                  <a:pt x="8974556" y="8396408"/>
                  <a:pt x="8926746" y="8396408"/>
                </a:cubicBezTo>
                <a:lnTo>
                  <a:pt x="86567" y="8396408"/>
                </a:lnTo>
                <a:cubicBezTo>
                  <a:pt x="38757" y="8396408"/>
                  <a:pt x="0" y="8357651"/>
                  <a:pt x="0" y="8309841"/>
                </a:cubicBezTo>
                <a:lnTo>
                  <a:pt x="0" y="86567"/>
                </a:lnTo>
                <a:cubicBezTo>
                  <a:pt x="0" y="38757"/>
                  <a:pt x="38757" y="0"/>
                  <a:pt x="8656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10160">
            <a:solidFill>
              <a:srgbClr val="38B2AC">
                <a:alpha val="30196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988078" y="1783612"/>
            <a:ext cx="8766551" cy="30304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05" b="1" dirty="0">
                <a:solidFill>
                  <a:srgbClr val="38B2A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V2.0新增架构模块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7009723" y="2216528"/>
            <a:ext cx="43292" cy="2597497"/>
          </a:xfrm>
          <a:custGeom>
            <a:avLst/>
            <a:gdLst/>
            <a:ahLst/>
            <a:cxnLst/>
            <a:rect l="l" t="t" r="r" b="b"/>
            <a:pathLst>
              <a:path w="43292" h="2597497">
                <a:moveTo>
                  <a:pt x="0" y="0"/>
                </a:moveTo>
                <a:lnTo>
                  <a:pt x="43292" y="0"/>
                </a:lnTo>
                <a:lnTo>
                  <a:pt x="43292" y="2597497"/>
                </a:lnTo>
                <a:lnTo>
                  <a:pt x="0" y="2597497"/>
                </a:lnTo>
                <a:lnTo>
                  <a:pt x="0" y="0"/>
                </a:lnTo>
                <a:close/>
              </a:path>
            </a:pathLst>
          </a:custGeom>
          <a:solidFill>
            <a:srgbClr val="38B2AC"/>
          </a:solidFill>
        </p:spPr>
      </p:sp>
      <p:sp>
        <p:nvSpPr>
          <p:cNvPr id="20" name="Shape 17"/>
          <p:cNvSpPr/>
          <p:nvPr/>
        </p:nvSpPr>
        <p:spPr>
          <a:xfrm>
            <a:off x="7204536" y="2216528"/>
            <a:ext cx="346333" cy="346333"/>
          </a:xfrm>
          <a:custGeom>
            <a:avLst/>
            <a:gdLst/>
            <a:ahLst/>
            <a:cxnLst/>
            <a:rect l="l" t="t" r="r" b="b"/>
            <a:pathLst>
              <a:path w="346333" h="346333">
                <a:moveTo>
                  <a:pt x="43292" y="0"/>
                </a:moveTo>
                <a:lnTo>
                  <a:pt x="303041" y="0"/>
                </a:lnTo>
                <a:cubicBezTo>
                  <a:pt x="326951" y="0"/>
                  <a:pt x="346333" y="19382"/>
                  <a:pt x="346333" y="43292"/>
                </a:cubicBezTo>
                <a:lnTo>
                  <a:pt x="346333" y="303041"/>
                </a:lnTo>
                <a:cubicBezTo>
                  <a:pt x="346333" y="326951"/>
                  <a:pt x="326951" y="346333"/>
                  <a:pt x="303041" y="346333"/>
                </a:cubicBezTo>
                <a:lnTo>
                  <a:pt x="43292" y="346333"/>
                </a:lnTo>
                <a:cubicBezTo>
                  <a:pt x="19382" y="346333"/>
                  <a:pt x="0" y="326951"/>
                  <a:pt x="0" y="303041"/>
                </a:cubicBezTo>
                <a:lnTo>
                  <a:pt x="0" y="43292"/>
                </a:lnTo>
                <a:cubicBezTo>
                  <a:pt x="0" y="19398"/>
                  <a:pt x="19398" y="0"/>
                  <a:pt x="43292" y="0"/>
                </a:cubicBezTo>
                <a:close/>
              </a:path>
            </a:pathLst>
          </a:custGeom>
          <a:solidFill>
            <a:srgbClr val="38B2AC"/>
          </a:solidFill>
        </p:spPr>
      </p:sp>
      <p:sp>
        <p:nvSpPr>
          <p:cNvPr id="21" name="Shape 18"/>
          <p:cNvSpPr/>
          <p:nvPr/>
        </p:nvSpPr>
        <p:spPr>
          <a:xfrm>
            <a:off x="7304648" y="2313935"/>
            <a:ext cx="151521" cy="151521"/>
          </a:xfrm>
          <a:custGeom>
            <a:avLst/>
            <a:gdLst/>
            <a:ahLst/>
            <a:cxnLst/>
            <a:rect l="l" t="t" r="r" b="b"/>
            <a:pathLst>
              <a:path w="151521" h="151521">
                <a:moveTo>
                  <a:pt x="35513" y="16573"/>
                </a:moveTo>
                <a:cubicBezTo>
                  <a:pt x="35513" y="7428"/>
                  <a:pt x="42941" y="0"/>
                  <a:pt x="52085" y="0"/>
                </a:cubicBezTo>
                <a:lnTo>
                  <a:pt x="59188" y="0"/>
                </a:lnTo>
                <a:cubicBezTo>
                  <a:pt x="64426" y="0"/>
                  <a:pt x="68658" y="4232"/>
                  <a:pt x="68658" y="9470"/>
                </a:cubicBezTo>
                <a:lnTo>
                  <a:pt x="68658" y="142051"/>
                </a:lnTo>
                <a:cubicBezTo>
                  <a:pt x="68658" y="147289"/>
                  <a:pt x="64426" y="151521"/>
                  <a:pt x="59188" y="151521"/>
                </a:cubicBezTo>
                <a:lnTo>
                  <a:pt x="49718" y="151521"/>
                </a:lnTo>
                <a:cubicBezTo>
                  <a:pt x="40899" y="151521"/>
                  <a:pt x="33471" y="145483"/>
                  <a:pt x="31370" y="137316"/>
                </a:cubicBezTo>
                <a:cubicBezTo>
                  <a:pt x="31162" y="137316"/>
                  <a:pt x="30985" y="137316"/>
                  <a:pt x="30778" y="137316"/>
                </a:cubicBezTo>
                <a:cubicBezTo>
                  <a:pt x="17697" y="137316"/>
                  <a:pt x="7103" y="126721"/>
                  <a:pt x="7103" y="113640"/>
                </a:cubicBezTo>
                <a:cubicBezTo>
                  <a:pt x="7103" y="108314"/>
                  <a:pt x="8878" y="103401"/>
                  <a:pt x="11838" y="99435"/>
                </a:cubicBezTo>
                <a:cubicBezTo>
                  <a:pt x="6096" y="95115"/>
                  <a:pt x="2368" y="88249"/>
                  <a:pt x="2368" y="80495"/>
                </a:cubicBezTo>
                <a:cubicBezTo>
                  <a:pt x="2368" y="71351"/>
                  <a:pt x="7576" y="63390"/>
                  <a:pt x="15152" y="59454"/>
                </a:cubicBezTo>
                <a:cubicBezTo>
                  <a:pt x="13051" y="55903"/>
                  <a:pt x="11838" y="51760"/>
                  <a:pt x="11838" y="47350"/>
                </a:cubicBezTo>
                <a:cubicBezTo>
                  <a:pt x="11838" y="34270"/>
                  <a:pt x="22432" y="23675"/>
                  <a:pt x="35513" y="23675"/>
                </a:cubicBezTo>
                <a:lnTo>
                  <a:pt x="35513" y="16573"/>
                </a:lnTo>
                <a:close/>
                <a:moveTo>
                  <a:pt x="116008" y="16573"/>
                </a:moveTo>
                <a:lnTo>
                  <a:pt x="116008" y="23675"/>
                </a:lnTo>
                <a:cubicBezTo>
                  <a:pt x="129088" y="23675"/>
                  <a:pt x="139683" y="34270"/>
                  <a:pt x="139683" y="47350"/>
                </a:cubicBezTo>
                <a:cubicBezTo>
                  <a:pt x="139683" y="51789"/>
                  <a:pt x="138470" y="55932"/>
                  <a:pt x="136369" y="59454"/>
                </a:cubicBezTo>
                <a:cubicBezTo>
                  <a:pt x="143974" y="63390"/>
                  <a:pt x="149153" y="71321"/>
                  <a:pt x="149153" y="80495"/>
                </a:cubicBezTo>
                <a:cubicBezTo>
                  <a:pt x="149153" y="88249"/>
                  <a:pt x="145424" y="95115"/>
                  <a:pt x="139683" y="99435"/>
                </a:cubicBezTo>
                <a:cubicBezTo>
                  <a:pt x="142642" y="103401"/>
                  <a:pt x="144418" y="108314"/>
                  <a:pt x="144418" y="113640"/>
                </a:cubicBezTo>
                <a:cubicBezTo>
                  <a:pt x="144418" y="126721"/>
                  <a:pt x="133824" y="137316"/>
                  <a:pt x="120743" y="137316"/>
                </a:cubicBezTo>
                <a:cubicBezTo>
                  <a:pt x="120536" y="137316"/>
                  <a:pt x="120358" y="137316"/>
                  <a:pt x="120151" y="137316"/>
                </a:cubicBezTo>
                <a:cubicBezTo>
                  <a:pt x="118050" y="145483"/>
                  <a:pt x="110622" y="151521"/>
                  <a:pt x="101803" y="151521"/>
                </a:cubicBezTo>
                <a:lnTo>
                  <a:pt x="92333" y="151521"/>
                </a:lnTo>
                <a:cubicBezTo>
                  <a:pt x="87095" y="151521"/>
                  <a:pt x="82863" y="147289"/>
                  <a:pt x="82863" y="142051"/>
                </a:cubicBezTo>
                <a:lnTo>
                  <a:pt x="82863" y="9470"/>
                </a:lnTo>
                <a:cubicBezTo>
                  <a:pt x="82863" y="4232"/>
                  <a:pt x="87095" y="0"/>
                  <a:pt x="92333" y="0"/>
                </a:cubicBezTo>
                <a:lnTo>
                  <a:pt x="99435" y="0"/>
                </a:lnTo>
                <a:cubicBezTo>
                  <a:pt x="108580" y="0"/>
                  <a:pt x="116008" y="7428"/>
                  <a:pt x="116008" y="16573"/>
                </a:cubicBezTo>
                <a:close/>
              </a:path>
            </a:pathLst>
          </a:custGeom>
          <a:solidFill>
            <a:srgbClr val="1A202C"/>
          </a:solidFill>
        </p:spPr>
      </p:sp>
      <p:sp>
        <p:nvSpPr>
          <p:cNvPr id="22" name="Text 19"/>
          <p:cNvSpPr/>
          <p:nvPr/>
        </p:nvSpPr>
        <p:spPr>
          <a:xfrm>
            <a:off x="7637452" y="2238174"/>
            <a:ext cx="2077997" cy="30304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35" b="1" dirty="0">
                <a:solidFill>
                  <a:srgbClr val="38B2A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AI服务层（AIService）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7245122" y="2692736"/>
            <a:ext cx="81172" cy="129875"/>
          </a:xfrm>
          <a:custGeom>
            <a:avLst/>
            <a:gdLst/>
            <a:ahLst/>
            <a:cxnLst/>
            <a:rect l="l" t="t" r="r" b="b"/>
            <a:pathLst>
              <a:path w="81172" h="129875">
                <a:moveTo>
                  <a:pt x="78914" y="59205"/>
                </a:moveTo>
                <a:cubicBezTo>
                  <a:pt x="82085" y="62375"/>
                  <a:pt x="82085" y="67525"/>
                  <a:pt x="78914" y="70696"/>
                </a:cubicBezTo>
                <a:lnTo>
                  <a:pt x="30211" y="119399"/>
                </a:lnTo>
                <a:cubicBezTo>
                  <a:pt x="27040" y="122569"/>
                  <a:pt x="21891" y="122569"/>
                  <a:pt x="18720" y="119399"/>
                </a:cubicBezTo>
                <a:cubicBezTo>
                  <a:pt x="15549" y="116228"/>
                  <a:pt x="15549" y="111078"/>
                  <a:pt x="18720" y="107908"/>
                </a:cubicBezTo>
                <a:lnTo>
                  <a:pt x="61691" y="64937"/>
                </a:lnTo>
                <a:lnTo>
                  <a:pt x="18746" y="21967"/>
                </a:lnTo>
                <a:cubicBezTo>
                  <a:pt x="15575" y="18796"/>
                  <a:pt x="15575" y="13647"/>
                  <a:pt x="18746" y="10476"/>
                </a:cubicBezTo>
                <a:cubicBezTo>
                  <a:pt x="21916" y="7305"/>
                  <a:pt x="27066" y="7305"/>
                  <a:pt x="30236" y="10476"/>
                </a:cubicBezTo>
                <a:lnTo>
                  <a:pt x="78940" y="59179"/>
                </a:lnTo>
                <a:close/>
              </a:path>
            </a:pathLst>
          </a:custGeom>
          <a:solidFill>
            <a:srgbClr val="38B2AC"/>
          </a:solidFill>
        </p:spPr>
      </p:sp>
      <p:sp>
        <p:nvSpPr>
          <p:cNvPr id="24" name="Text 21"/>
          <p:cNvSpPr/>
          <p:nvPr/>
        </p:nvSpPr>
        <p:spPr>
          <a:xfrm>
            <a:off x="7453462" y="2649444"/>
            <a:ext cx="3041236" cy="259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65" b="1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接口调用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7453462" y="2909194"/>
            <a:ext cx="3030413" cy="2164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5" dirty="0">
                <a:solidFill>
                  <a:srgbClr val="71809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封装AI API请求（签名/参数组装/超时重试）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7245122" y="3255527"/>
            <a:ext cx="81172" cy="129875"/>
          </a:xfrm>
          <a:custGeom>
            <a:avLst/>
            <a:gdLst/>
            <a:ahLst/>
            <a:cxnLst/>
            <a:rect l="l" t="t" r="r" b="b"/>
            <a:pathLst>
              <a:path w="81172" h="129875">
                <a:moveTo>
                  <a:pt x="78914" y="59205"/>
                </a:moveTo>
                <a:cubicBezTo>
                  <a:pt x="82085" y="62375"/>
                  <a:pt x="82085" y="67525"/>
                  <a:pt x="78914" y="70696"/>
                </a:cubicBezTo>
                <a:lnTo>
                  <a:pt x="30211" y="119399"/>
                </a:lnTo>
                <a:cubicBezTo>
                  <a:pt x="27040" y="122569"/>
                  <a:pt x="21891" y="122569"/>
                  <a:pt x="18720" y="119399"/>
                </a:cubicBezTo>
                <a:cubicBezTo>
                  <a:pt x="15549" y="116228"/>
                  <a:pt x="15549" y="111078"/>
                  <a:pt x="18720" y="107908"/>
                </a:cubicBezTo>
                <a:lnTo>
                  <a:pt x="61691" y="64937"/>
                </a:lnTo>
                <a:lnTo>
                  <a:pt x="18746" y="21967"/>
                </a:lnTo>
                <a:cubicBezTo>
                  <a:pt x="15575" y="18796"/>
                  <a:pt x="15575" y="13647"/>
                  <a:pt x="18746" y="10476"/>
                </a:cubicBezTo>
                <a:cubicBezTo>
                  <a:pt x="21916" y="7305"/>
                  <a:pt x="27066" y="7305"/>
                  <a:pt x="30236" y="10476"/>
                </a:cubicBezTo>
                <a:lnTo>
                  <a:pt x="78940" y="59179"/>
                </a:lnTo>
                <a:close/>
              </a:path>
            </a:pathLst>
          </a:custGeom>
          <a:solidFill>
            <a:srgbClr val="38B2AC"/>
          </a:solidFill>
        </p:spPr>
      </p:sp>
      <p:sp>
        <p:nvSpPr>
          <p:cNvPr id="27" name="Text 24"/>
          <p:cNvSpPr/>
          <p:nvPr/>
        </p:nvSpPr>
        <p:spPr>
          <a:xfrm>
            <a:off x="7453462" y="3212235"/>
            <a:ext cx="2402684" cy="259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65" b="1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数据适配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7453462" y="3471985"/>
            <a:ext cx="2391862" cy="2164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5" dirty="0">
                <a:solidFill>
                  <a:srgbClr val="71809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将学生/预警数据转为AI可识别格式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7245122" y="3818318"/>
            <a:ext cx="81172" cy="129875"/>
          </a:xfrm>
          <a:custGeom>
            <a:avLst/>
            <a:gdLst/>
            <a:ahLst/>
            <a:cxnLst/>
            <a:rect l="l" t="t" r="r" b="b"/>
            <a:pathLst>
              <a:path w="81172" h="129875">
                <a:moveTo>
                  <a:pt x="78914" y="59205"/>
                </a:moveTo>
                <a:cubicBezTo>
                  <a:pt x="82085" y="62375"/>
                  <a:pt x="82085" y="67525"/>
                  <a:pt x="78914" y="70696"/>
                </a:cubicBezTo>
                <a:lnTo>
                  <a:pt x="30211" y="119399"/>
                </a:lnTo>
                <a:cubicBezTo>
                  <a:pt x="27040" y="122569"/>
                  <a:pt x="21891" y="122569"/>
                  <a:pt x="18720" y="119399"/>
                </a:cubicBezTo>
                <a:cubicBezTo>
                  <a:pt x="15549" y="116228"/>
                  <a:pt x="15549" y="111078"/>
                  <a:pt x="18720" y="107908"/>
                </a:cubicBezTo>
                <a:lnTo>
                  <a:pt x="61691" y="64937"/>
                </a:lnTo>
                <a:lnTo>
                  <a:pt x="18746" y="21967"/>
                </a:lnTo>
                <a:cubicBezTo>
                  <a:pt x="15575" y="18796"/>
                  <a:pt x="15575" y="13647"/>
                  <a:pt x="18746" y="10476"/>
                </a:cubicBezTo>
                <a:cubicBezTo>
                  <a:pt x="21916" y="7305"/>
                  <a:pt x="27066" y="7305"/>
                  <a:pt x="30236" y="10476"/>
                </a:cubicBezTo>
                <a:lnTo>
                  <a:pt x="78940" y="59179"/>
                </a:lnTo>
                <a:close/>
              </a:path>
            </a:pathLst>
          </a:custGeom>
          <a:solidFill>
            <a:srgbClr val="38B2AC"/>
          </a:solidFill>
        </p:spPr>
      </p:sp>
      <p:sp>
        <p:nvSpPr>
          <p:cNvPr id="30" name="Text 27"/>
          <p:cNvSpPr/>
          <p:nvPr/>
        </p:nvSpPr>
        <p:spPr>
          <a:xfrm>
            <a:off x="7453462" y="3775026"/>
            <a:ext cx="2803132" cy="259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65" b="1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结果解析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7453462" y="4034776"/>
            <a:ext cx="2792309" cy="2164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5" dirty="0">
                <a:solidFill>
                  <a:srgbClr val="71809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统一解析AI返回结果，适配业务数据结构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7245122" y="4381109"/>
            <a:ext cx="81172" cy="129875"/>
          </a:xfrm>
          <a:custGeom>
            <a:avLst/>
            <a:gdLst/>
            <a:ahLst/>
            <a:cxnLst/>
            <a:rect l="l" t="t" r="r" b="b"/>
            <a:pathLst>
              <a:path w="81172" h="129875">
                <a:moveTo>
                  <a:pt x="78914" y="59205"/>
                </a:moveTo>
                <a:cubicBezTo>
                  <a:pt x="82085" y="62375"/>
                  <a:pt x="82085" y="67525"/>
                  <a:pt x="78914" y="70696"/>
                </a:cubicBezTo>
                <a:lnTo>
                  <a:pt x="30211" y="119399"/>
                </a:lnTo>
                <a:cubicBezTo>
                  <a:pt x="27040" y="122569"/>
                  <a:pt x="21891" y="122569"/>
                  <a:pt x="18720" y="119399"/>
                </a:cubicBezTo>
                <a:cubicBezTo>
                  <a:pt x="15549" y="116228"/>
                  <a:pt x="15549" y="111078"/>
                  <a:pt x="18720" y="107908"/>
                </a:cubicBezTo>
                <a:lnTo>
                  <a:pt x="61691" y="64937"/>
                </a:lnTo>
                <a:lnTo>
                  <a:pt x="18746" y="21967"/>
                </a:lnTo>
                <a:cubicBezTo>
                  <a:pt x="15575" y="18796"/>
                  <a:pt x="15575" y="13647"/>
                  <a:pt x="18746" y="10476"/>
                </a:cubicBezTo>
                <a:cubicBezTo>
                  <a:pt x="21916" y="7305"/>
                  <a:pt x="27066" y="7305"/>
                  <a:pt x="30236" y="10476"/>
                </a:cubicBezTo>
                <a:lnTo>
                  <a:pt x="78940" y="59179"/>
                </a:lnTo>
                <a:close/>
              </a:path>
            </a:pathLst>
          </a:custGeom>
          <a:solidFill>
            <a:srgbClr val="38B2AC"/>
          </a:solidFill>
        </p:spPr>
      </p:sp>
      <p:sp>
        <p:nvSpPr>
          <p:cNvPr id="33" name="Text 30"/>
          <p:cNvSpPr/>
          <p:nvPr/>
        </p:nvSpPr>
        <p:spPr>
          <a:xfrm>
            <a:off x="7453462" y="4337817"/>
            <a:ext cx="2640788" cy="259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65" b="1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降级策略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7453462" y="4597567"/>
            <a:ext cx="2629965" cy="2164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5" dirty="0">
                <a:solidFill>
                  <a:srgbClr val="71809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AI接口异常时自动降级为V1.0规则模式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7009723" y="4987191"/>
            <a:ext cx="43292" cy="2684080"/>
          </a:xfrm>
          <a:custGeom>
            <a:avLst/>
            <a:gdLst/>
            <a:ahLst/>
            <a:cxnLst/>
            <a:rect l="l" t="t" r="r" b="b"/>
            <a:pathLst>
              <a:path w="43292" h="2684080">
                <a:moveTo>
                  <a:pt x="0" y="0"/>
                </a:moveTo>
                <a:lnTo>
                  <a:pt x="43292" y="0"/>
                </a:lnTo>
                <a:lnTo>
                  <a:pt x="43292" y="2684080"/>
                </a:lnTo>
                <a:lnTo>
                  <a:pt x="0" y="2684080"/>
                </a:lnTo>
                <a:lnTo>
                  <a:pt x="0" y="0"/>
                </a:lnTo>
                <a:close/>
              </a:path>
            </a:pathLst>
          </a:custGeom>
          <a:solidFill>
            <a:srgbClr val="4A5568"/>
          </a:solidFill>
        </p:spPr>
      </p:sp>
      <p:sp>
        <p:nvSpPr>
          <p:cNvPr id="36" name="Shape 33"/>
          <p:cNvSpPr/>
          <p:nvPr/>
        </p:nvSpPr>
        <p:spPr>
          <a:xfrm>
            <a:off x="7204536" y="4987191"/>
            <a:ext cx="346333" cy="346333"/>
          </a:xfrm>
          <a:custGeom>
            <a:avLst/>
            <a:gdLst/>
            <a:ahLst/>
            <a:cxnLst/>
            <a:rect l="l" t="t" r="r" b="b"/>
            <a:pathLst>
              <a:path w="346333" h="346333">
                <a:moveTo>
                  <a:pt x="43292" y="0"/>
                </a:moveTo>
                <a:lnTo>
                  <a:pt x="303041" y="0"/>
                </a:lnTo>
                <a:cubicBezTo>
                  <a:pt x="326951" y="0"/>
                  <a:pt x="346333" y="19382"/>
                  <a:pt x="346333" y="43292"/>
                </a:cubicBezTo>
                <a:lnTo>
                  <a:pt x="346333" y="303041"/>
                </a:lnTo>
                <a:cubicBezTo>
                  <a:pt x="346333" y="326951"/>
                  <a:pt x="326951" y="346333"/>
                  <a:pt x="303041" y="346333"/>
                </a:cubicBezTo>
                <a:lnTo>
                  <a:pt x="43292" y="346333"/>
                </a:lnTo>
                <a:cubicBezTo>
                  <a:pt x="19382" y="346333"/>
                  <a:pt x="0" y="326951"/>
                  <a:pt x="0" y="303041"/>
                </a:cubicBezTo>
                <a:lnTo>
                  <a:pt x="0" y="43292"/>
                </a:lnTo>
                <a:cubicBezTo>
                  <a:pt x="0" y="19398"/>
                  <a:pt x="19398" y="0"/>
                  <a:pt x="43292" y="0"/>
                </a:cubicBezTo>
                <a:close/>
              </a:path>
            </a:pathLst>
          </a:custGeom>
          <a:solidFill>
            <a:srgbClr val="4A5568"/>
          </a:solidFill>
        </p:spPr>
      </p:sp>
      <p:sp>
        <p:nvSpPr>
          <p:cNvPr id="37" name="Shape 34"/>
          <p:cNvSpPr/>
          <p:nvPr/>
        </p:nvSpPr>
        <p:spPr>
          <a:xfrm>
            <a:off x="7285707" y="5084598"/>
            <a:ext cx="189401" cy="151521"/>
          </a:xfrm>
          <a:custGeom>
            <a:avLst/>
            <a:gdLst/>
            <a:ahLst/>
            <a:cxnLst/>
            <a:rect l="l" t="t" r="r" b="b"/>
            <a:pathLst>
              <a:path w="189401" h="151521">
                <a:moveTo>
                  <a:pt x="104170" y="0"/>
                </a:moveTo>
                <a:cubicBezTo>
                  <a:pt x="104170" y="-5238"/>
                  <a:pt x="99939" y="-9470"/>
                  <a:pt x="94700" y="-9470"/>
                </a:cubicBezTo>
                <a:cubicBezTo>
                  <a:pt x="89462" y="-9470"/>
                  <a:pt x="85230" y="-5238"/>
                  <a:pt x="85230" y="0"/>
                </a:cubicBezTo>
                <a:lnTo>
                  <a:pt x="85230" y="18940"/>
                </a:lnTo>
                <a:lnTo>
                  <a:pt x="56820" y="18940"/>
                </a:lnTo>
                <a:cubicBezTo>
                  <a:pt x="41135" y="18940"/>
                  <a:pt x="28410" y="31665"/>
                  <a:pt x="28410" y="47350"/>
                </a:cubicBezTo>
                <a:lnTo>
                  <a:pt x="28410" y="113640"/>
                </a:lnTo>
                <a:cubicBezTo>
                  <a:pt x="28410" y="129325"/>
                  <a:pt x="41135" y="142051"/>
                  <a:pt x="56820" y="142051"/>
                </a:cubicBezTo>
                <a:lnTo>
                  <a:pt x="132581" y="142051"/>
                </a:lnTo>
                <a:cubicBezTo>
                  <a:pt x="148265" y="142051"/>
                  <a:pt x="160991" y="129325"/>
                  <a:pt x="160991" y="113640"/>
                </a:cubicBezTo>
                <a:lnTo>
                  <a:pt x="160991" y="47350"/>
                </a:lnTo>
                <a:cubicBezTo>
                  <a:pt x="160991" y="31665"/>
                  <a:pt x="148265" y="18940"/>
                  <a:pt x="132581" y="18940"/>
                </a:cubicBezTo>
                <a:lnTo>
                  <a:pt x="104170" y="18940"/>
                </a:lnTo>
                <a:lnTo>
                  <a:pt x="104170" y="0"/>
                </a:lnTo>
                <a:close/>
                <a:moveTo>
                  <a:pt x="47350" y="108905"/>
                </a:moveTo>
                <a:cubicBezTo>
                  <a:pt x="47350" y="104969"/>
                  <a:pt x="50517" y="101803"/>
                  <a:pt x="54453" y="101803"/>
                </a:cubicBezTo>
                <a:lnTo>
                  <a:pt x="63923" y="101803"/>
                </a:lnTo>
                <a:cubicBezTo>
                  <a:pt x="67859" y="101803"/>
                  <a:pt x="71025" y="104969"/>
                  <a:pt x="71025" y="108905"/>
                </a:cubicBezTo>
                <a:cubicBezTo>
                  <a:pt x="71025" y="112841"/>
                  <a:pt x="67859" y="116008"/>
                  <a:pt x="63923" y="116008"/>
                </a:cubicBezTo>
                <a:lnTo>
                  <a:pt x="54453" y="116008"/>
                </a:lnTo>
                <a:cubicBezTo>
                  <a:pt x="50517" y="116008"/>
                  <a:pt x="47350" y="112841"/>
                  <a:pt x="47350" y="108905"/>
                </a:cubicBezTo>
                <a:close/>
                <a:moveTo>
                  <a:pt x="82863" y="108905"/>
                </a:moveTo>
                <a:cubicBezTo>
                  <a:pt x="82863" y="104969"/>
                  <a:pt x="86029" y="101803"/>
                  <a:pt x="89965" y="101803"/>
                </a:cubicBezTo>
                <a:lnTo>
                  <a:pt x="99435" y="101803"/>
                </a:lnTo>
                <a:cubicBezTo>
                  <a:pt x="103371" y="101803"/>
                  <a:pt x="106538" y="104969"/>
                  <a:pt x="106538" y="108905"/>
                </a:cubicBezTo>
                <a:cubicBezTo>
                  <a:pt x="106538" y="112841"/>
                  <a:pt x="103371" y="116008"/>
                  <a:pt x="99435" y="116008"/>
                </a:cubicBezTo>
                <a:lnTo>
                  <a:pt x="89965" y="116008"/>
                </a:lnTo>
                <a:cubicBezTo>
                  <a:pt x="86029" y="116008"/>
                  <a:pt x="82863" y="112841"/>
                  <a:pt x="82863" y="108905"/>
                </a:cubicBezTo>
                <a:close/>
                <a:moveTo>
                  <a:pt x="118375" y="108905"/>
                </a:moveTo>
                <a:cubicBezTo>
                  <a:pt x="118375" y="104969"/>
                  <a:pt x="121542" y="101803"/>
                  <a:pt x="125478" y="101803"/>
                </a:cubicBezTo>
                <a:lnTo>
                  <a:pt x="134948" y="101803"/>
                </a:lnTo>
                <a:cubicBezTo>
                  <a:pt x="138884" y="101803"/>
                  <a:pt x="142051" y="104969"/>
                  <a:pt x="142051" y="108905"/>
                </a:cubicBezTo>
                <a:cubicBezTo>
                  <a:pt x="142051" y="112841"/>
                  <a:pt x="138884" y="116008"/>
                  <a:pt x="134948" y="116008"/>
                </a:cubicBezTo>
                <a:lnTo>
                  <a:pt x="125478" y="116008"/>
                </a:lnTo>
                <a:cubicBezTo>
                  <a:pt x="121542" y="116008"/>
                  <a:pt x="118375" y="112841"/>
                  <a:pt x="118375" y="108905"/>
                </a:cubicBezTo>
                <a:close/>
                <a:moveTo>
                  <a:pt x="66290" y="52085"/>
                </a:moveTo>
                <a:cubicBezTo>
                  <a:pt x="74130" y="52085"/>
                  <a:pt x="80495" y="58450"/>
                  <a:pt x="80495" y="66290"/>
                </a:cubicBezTo>
                <a:cubicBezTo>
                  <a:pt x="80495" y="74130"/>
                  <a:pt x="74130" y="80495"/>
                  <a:pt x="66290" y="80495"/>
                </a:cubicBezTo>
                <a:cubicBezTo>
                  <a:pt x="58450" y="80495"/>
                  <a:pt x="52085" y="74130"/>
                  <a:pt x="52085" y="66290"/>
                </a:cubicBezTo>
                <a:cubicBezTo>
                  <a:pt x="52085" y="58450"/>
                  <a:pt x="58450" y="52085"/>
                  <a:pt x="66290" y="52085"/>
                </a:cubicBezTo>
                <a:close/>
                <a:moveTo>
                  <a:pt x="108905" y="66290"/>
                </a:moveTo>
                <a:cubicBezTo>
                  <a:pt x="108905" y="58450"/>
                  <a:pt x="115271" y="52085"/>
                  <a:pt x="123111" y="52085"/>
                </a:cubicBezTo>
                <a:cubicBezTo>
                  <a:pt x="130951" y="52085"/>
                  <a:pt x="137316" y="58450"/>
                  <a:pt x="137316" y="66290"/>
                </a:cubicBezTo>
                <a:cubicBezTo>
                  <a:pt x="137316" y="74130"/>
                  <a:pt x="130951" y="80495"/>
                  <a:pt x="123111" y="80495"/>
                </a:cubicBezTo>
                <a:cubicBezTo>
                  <a:pt x="115271" y="80495"/>
                  <a:pt x="108905" y="74130"/>
                  <a:pt x="108905" y="66290"/>
                </a:cubicBezTo>
                <a:close/>
                <a:moveTo>
                  <a:pt x="18940" y="66290"/>
                </a:moveTo>
                <a:cubicBezTo>
                  <a:pt x="18940" y="61052"/>
                  <a:pt x="14708" y="56820"/>
                  <a:pt x="9470" y="56820"/>
                </a:cubicBezTo>
                <a:cubicBezTo>
                  <a:pt x="4232" y="56820"/>
                  <a:pt x="0" y="61052"/>
                  <a:pt x="0" y="66290"/>
                </a:cubicBezTo>
                <a:lnTo>
                  <a:pt x="0" y="94700"/>
                </a:lnTo>
                <a:cubicBezTo>
                  <a:pt x="0" y="99939"/>
                  <a:pt x="4232" y="104170"/>
                  <a:pt x="9470" y="104170"/>
                </a:cubicBezTo>
                <a:cubicBezTo>
                  <a:pt x="14708" y="104170"/>
                  <a:pt x="18940" y="99939"/>
                  <a:pt x="18940" y="94700"/>
                </a:cubicBezTo>
                <a:lnTo>
                  <a:pt x="18940" y="66290"/>
                </a:lnTo>
                <a:close/>
                <a:moveTo>
                  <a:pt x="179931" y="56820"/>
                </a:moveTo>
                <a:cubicBezTo>
                  <a:pt x="174693" y="56820"/>
                  <a:pt x="170461" y="61052"/>
                  <a:pt x="170461" y="66290"/>
                </a:cubicBezTo>
                <a:lnTo>
                  <a:pt x="170461" y="94700"/>
                </a:lnTo>
                <a:cubicBezTo>
                  <a:pt x="170461" y="99939"/>
                  <a:pt x="174693" y="104170"/>
                  <a:pt x="179931" y="104170"/>
                </a:cubicBezTo>
                <a:cubicBezTo>
                  <a:pt x="185169" y="104170"/>
                  <a:pt x="189401" y="99939"/>
                  <a:pt x="189401" y="94700"/>
                </a:cubicBezTo>
                <a:lnTo>
                  <a:pt x="189401" y="66290"/>
                </a:lnTo>
                <a:cubicBezTo>
                  <a:pt x="189401" y="61052"/>
                  <a:pt x="185169" y="56820"/>
                  <a:pt x="179931" y="56820"/>
                </a:cubicBezTo>
                <a:close/>
              </a:path>
            </a:pathLst>
          </a:custGeom>
          <a:solidFill>
            <a:srgbClr val="E2E8F0"/>
          </a:solidFill>
        </p:spPr>
      </p:sp>
      <p:sp>
        <p:nvSpPr>
          <p:cNvPr id="38" name="Text 35"/>
          <p:cNvSpPr/>
          <p:nvPr/>
        </p:nvSpPr>
        <p:spPr>
          <a:xfrm>
            <a:off x="7637452" y="5008837"/>
            <a:ext cx="2694903" cy="30304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35" b="1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新增AI控制器（AIController）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7204536" y="5420108"/>
            <a:ext cx="8441864" cy="692666"/>
          </a:xfrm>
          <a:custGeom>
            <a:avLst/>
            <a:gdLst/>
            <a:ahLst/>
            <a:cxnLst/>
            <a:rect l="l" t="t" r="r" b="b"/>
            <a:pathLst>
              <a:path w="8441864" h="692666">
                <a:moveTo>
                  <a:pt x="43292" y="0"/>
                </a:moveTo>
                <a:lnTo>
                  <a:pt x="8398573" y="0"/>
                </a:lnTo>
                <a:cubicBezTo>
                  <a:pt x="8422482" y="0"/>
                  <a:pt x="8441864" y="19382"/>
                  <a:pt x="8441864" y="43292"/>
                </a:cubicBezTo>
                <a:lnTo>
                  <a:pt x="8441864" y="649374"/>
                </a:lnTo>
                <a:cubicBezTo>
                  <a:pt x="8441864" y="673283"/>
                  <a:pt x="8422482" y="692666"/>
                  <a:pt x="8398573" y="692666"/>
                </a:cubicBezTo>
                <a:lnTo>
                  <a:pt x="43292" y="692666"/>
                </a:lnTo>
                <a:cubicBezTo>
                  <a:pt x="19382" y="692666"/>
                  <a:pt x="0" y="673283"/>
                  <a:pt x="0" y="649374"/>
                </a:cubicBezTo>
                <a:lnTo>
                  <a:pt x="0" y="43292"/>
                </a:lnTo>
                <a:cubicBezTo>
                  <a:pt x="0" y="19398"/>
                  <a:pt x="19398" y="0"/>
                  <a:pt x="43292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</p:spPr>
      </p:sp>
      <p:sp>
        <p:nvSpPr>
          <p:cNvPr id="40" name="Text 37"/>
          <p:cNvSpPr/>
          <p:nvPr/>
        </p:nvSpPr>
        <p:spPr>
          <a:xfrm>
            <a:off x="7291119" y="5506691"/>
            <a:ext cx="8355281" cy="259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65" b="1" dirty="0">
                <a:solidFill>
                  <a:srgbClr val="38B2A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/ai/risk/analyse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7291119" y="5809732"/>
            <a:ext cx="8344458" cy="2164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5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风险等级智能判定</a:t>
            </a:r>
            <a:endParaRPr lang="en-US" sz="1600" dirty="0"/>
          </a:p>
        </p:txBody>
      </p:sp>
      <p:sp>
        <p:nvSpPr>
          <p:cNvPr id="42" name="Shape 39"/>
          <p:cNvSpPr/>
          <p:nvPr/>
        </p:nvSpPr>
        <p:spPr>
          <a:xfrm>
            <a:off x="7204536" y="6199357"/>
            <a:ext cx="8441864" cy="692666"/>
          </a:xfrm>
          <a:custGeom>
            <a:avLst/>
            <a:gdLst/>
            <a:ahLst/>
            <a:cxnLst/>
            <a:rect l="l" t="t" r="r" b="b"/>
            <a:pathLst>
              <a:path w="8441864" h="692666">
                <a:moveTo>
                  <a:pt x="43292" y="0"/>
                </a:moveTo>
                <a:lnTo>
                  <a:pt x="8398573" y="0"/>
                </a:lnTo>
                <a:cubicBezTo>
                  <a:pt x="8422482" y="0"/>
                  <a:pt x="8441864" y="19382"/>
                  <a:pt x="8441864" y="43292"/>
                </a:cubicBezTo>
                <a:lnTo>
                  <a:pt x="8441864" y="649374"/>
                </a:lnTo>
                <a:cubicBezTo>
                  <a:pt x="8441864" y="673283"/>
                  <a:pt x="8422482" y="692666"/>
                  <a:pt x="8398573" y="692666"/>
                </a:cubicBezTo>
                <a:lnTo>
                  <a:pt x="43292" y="692666"/>
                </a:lnTo>
                <a:cubicBezTo>
                  <a:pt x="19382" y="692666"/>
                  <a:pt x="0" y="673283"/>
                  <a:pt x="0" y="649374"/>
                </a:cubicBezTo>
                <a:lnTo>
                  <a:pt x="0" y="43292"/>
                </a:lnTo>
                <a:cubicBezTo>
                  <a:pt x="0" y="19398"/>
                  <a:pt x="19398" y="0"/>
                  <a:pt x="43292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</p:spPr>
      </p:sp>
      <p:sp>
        <p:nvSpPr>
          <p:cNvPr id="43" name="Text 40"/>
          <p:cNvSpPr/>
          <p:nvPr/>
        </p:nvSpPr>
        <p:spPr>
          <a:xfrm>
            <a:off x="7291119" y="6285940"/>
            <a:ext cx="8355281" cy="259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65" b="1" dirty="0">
                <a:solidFill>
                  <a:srgbClr val="38B2A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/ai/text/generate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7291119" y="6588981"/>
            <a:ext cx="8344458" cy="2164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5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预警文案自动生成</a:t>
            </a:r>
            <a:endParaRPr lang="en-US" sz="1600" dirty="0"/>
          </a:p>
        </p:txBody>
      </p:sp>
      <p:sp>
        <p:nvSpPr>
          <p:cNvPr id="45" name="Shape 42"/>
          <p:cNvSpPr/>
          <p:nvPr/>
        </p:nvSpPr>
        <p:spPr>
          <a:xfrm>
            <a:off x="7204536" y="6978606"/>
            <a:ext cx="8441864" cy="692666"/>
          </a:xfrm>
          <a:custGeom>
            <a:avLst/>
            <a:gdLst/>
            <a:ahLst/>
            <a:cxnLst/>
            <a:rect l="l" t="t" r="r" b="b"/>
            <a:pathLst>
              <a:path w="8441864" h="692666">
                <a:moveTo>
                  <a:pt x="43292" y="0"/>
                </a:moveTo>
                <a:lnTo>
                  <a:pt x="8398573" y="0"/>
                </a:lnTo>
                <a:cubicBezTo>
                  <a:pt x="8422482" y="0"/>
                  <a:pt x="8441864" y="19382"/>
                  <a:pt x="8441864" y="43292"/>
                </a:cubicBezTo>
                <a:lnTo>
                  <a:pt x="8441864" y="649374"/>
                </a:lnTo>
                <a:cubicBezTo>
                  <a:pt x="8441864" y="673283"/>
                  <a:pt x="8422482" y="692666"/>
                  <a:pt x="8398573" y="692666"/>
                </a:cubicBezTo>
                <a:lnTo>
                  <a:pt x="43292" y="692666"/>
                </a:lnTo>
                <a:cubicBezTo>
                  <a:pt x="19382" y="692666"/>
                  <a:pt x="0" y="673283"/>
                  <a:pt x="0" y="649374"/>
                </a:cubicBezTo>
                <a:lnTo>
                  <a:pt x="0" y="43292"/>
                </a:lnTo>
                <a:cubicBezTo>
                  <a:pt x="0" y="19398"/>
                  <a:pt x="19398" y="0"/>
                  <a:pt x="43292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</p:spPr>
      </p:sp>
      <p:sp>
        <p:nvSpPr>
          <p:cNvPr id="46" name="Text 43"/>
          <p:cNvSpPr/>
          <p:nvPr/>
        </p:nvSpPr>
        <p:spPr>
          <a:xfrm>
            <a:off x="7291119" y="7065189"/>
            <a:ext cx="8355281" cy="259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65" b="1" dirty="0">
                <a:solidFill>
                  <a:srgbClr val="38B2A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/ai/data/predict</a:t>
            </a:r>
            <a:endParaRPr lang="en-US" sz="1600" dirty="0"/>
          </a:p>
        </p:txBody>
      </p:sp>
      <p:sp>
        <p:nvSpPr>
          <p:cNvPr id="47" name="Text 44"/>
          <p:cNvSpPr/>
          <p:nvPr/>
        </p:nvSpPr>
        <p:spPr>
          <a:xfrm>
            <a:off x="7291119" y="7368230"/>
            <a:ext cx="8344458" cy="2164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5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预警趋势AI预测</a:t>
            </a:r>
            <a:endParaRPr lang="en-US" sz="1600" dirty="0"/>
          </a:p>
        </p:txBody>
      </p:sp>
      <p:sp>
        <p:nvSpPr>
          <p:cNvPr id="48" name="Shape 45"/>
          <p:cNvSpPr/>
          <p:nvPr/>
        </p:nvSpPr>
        <p:spPr>
          <a:xfrm>
            <a:off x="6992407" y="7848767"/>
            <a:ext cx="8645335" cy="863668"/>
          </a:xfrm>
          <a:custGeom>
            <a:avLst/>
            <a:gdLst/>
            <a:ahLst/>
            <a:cxnLst/>
            <a:rect l="l" t="t" r="r" b="b"/>
            <a:pathLst>
              <a:path w="8645335" h="863668">
                <a:moveTo>
                  <a:pt x="43296" y="0"/>
                </a:moveTo>
                <a:lnTo>
                  <a:pt x="8602039" y="0"/>
                </a:lnTo>
                <a:cubicBezTo>
                  <a:pt x="8625951" y="0"/>
                  <a:pt x="8645335" y="19384"/>
                  <a:pt x="8645335" y="43296"/>
                </a:cubicBezTo>
                <a:lnTo>
                  <a:pt x="8645335" y="820372"/>
                </a:lnTo>
                <a:cubicBezTo>
                  <a:pt x="8645335" y="844284"/>
                  <a:pt x="8625951" y="863668"/>
                  <a:pt x="8602039" y="863668"/>
                </a:cubicBezTo>
                <a:lnTo>
                  <a:pt x="43296" y="863668"/>
                </a:lnTo>
                <a:cubicBezTo>
                  <a:pt x="19384" y="863668"/>
                  <a:pt x="0" y="844284"/>
                  <a:pt x="0" y="820372"/>
                </a:cubicBezTo>
                <a:lnTo>
                  <a:pt x="0" y="43296"/>
                </a:lnTo>
                <a:cubicBezTo>
                  <a:pt x="0" y="19400"/>
                  <a:pt x="19400" y="0"/>
                  <a:pt x="43296" y="0"/>
                </a:cubicBezTo>
                <a:close/>
              </a:path>
            </a:pathLst>
          </a:custGeom>
          <a:solidFill>
            <a:srgbClr val="38B2AC">
              <a:alpha val="10196"/>
            </a:srgbClr>
          </a:solidFill>
          <a:ln w="10160">
            <a:solidFill>
              <a:srgbClr val="38B2AC">
                <a:alpha val="30196"/>
              </a:srgbClr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7126611" y="7982979"/>
            <a:ext cx="8463510" cy="259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65" b="1" dirty="0">
                <a:solidFill>
                  <a:srgbClr val="38B2A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架构优势</a:t>
            </a:r>
            <a:endParaRPr lang="en-US" sz="1600" dirty="0"/>
          </a:p>
        </p:txBody>
      </p:sp>
      <p:sp>
        <p:nvSpPr>
          <p:cNvPr id="50" name="Text 47"/>
          <p:cNvSpPr/>
          <p:nvPr/>
        </p:nvSpPr>
        <p:spPr>
          <a:xfrm>
            <a:off x="7126611" y="8329312"/>
            <a:ext cx="8452687" cy="24892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95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AI模块作为独立增强层，与V1.0核心逻辑解耦，支持通过配置开关启用/关闭AI功能，保障系统稳定性和可扩展性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3333" y="423333"/>
            <a:ext cx="1524000" cy="338667"/>
          </a:xfrm>
          <a:custGeom>
            <a:avLst/>
            <a:gdLst/>
            <a:ahLst/>
            <a:cxnLst/>
            <a:rect l="l" t="t" r="r" b="b"/>
            <a:pathLst>
              <a:path w="1524000" h="338667">
                <a:moveTo>
                  <a:pt x="42333" y="0"/>
                </a:moveTo>
                <a:lnTo>
                  <a:pt x="1481667" y="0"/>
                </a:lnTo>
                <a:cubicBezTo>
                  <a:pt x="1505047" y="0"/>
                  <a:pt x="1524000" y="18953"/>
                  <a:pt x="1524000" y="42333"/>
                </a:cubicBezTo>
                <a:lnTo>
                  <a:pt x="1524000" y="296333"/>
                </a:lnTo>
                <a:cubicBezTo>
                  <a:pt x="1524000" y="319713"/>
                  <a:pt x="1505047" y="338667"/>
                  <a:pt x="1481667" y="338667"/>
                </a:cubicBezTo>
                <a:lnTo>
                  <a:pt x="42333" y="338667"/>
                </a:lnTo>
                <a:cubicBezTo>
                  <a:pt x="18953" y="338667"/>
                  <a:pt x="0" y="319713"/>
                  <a:pt x="0" y="2963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550333" y="499525"/>
            <a:ext cx="1343290" cy="1947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5" b="1" kern="0" spc="29" dirty="0">
                <a:solidFill>
                  <a:srgbClr val="38B2A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V2.0 WORKFLOW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23333" y="846667"/>
            <a:ext cx="15599833" cy="423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000" b="1" dirty="0">
                <a:solidFill>
                  <a:srgbClr val="E2E8F0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V2.0 AI增强完整业务流程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23333" y="1354667"/>
            <a:ext cx="846667" cy="42333"/>
          </a:xfrm>
          <a:custGeom>
            <a:avLst/>
            <a:gdLst/>
            <a:ahLst/>
            <a:cxnLst/>
            <a:rect l="l" t="t" r="r" b="b"/>
            <a:pathLst>
              <a:path w="846667" h="42333">
                <a:moveTo>
                  <a:pt x="0" y="0"/>
                </a:moveTo>
                <a:lnTo>
                  <a:pt x="846667" y="0"/>
                </a:lnTo>
                <a:lnTo>
                  <a:pt x="846667" y="42333"/>
                </a:lnTo>
                <a:lnTo>
                  <a:pt x="0" y="42333"/>
                </a:lnTo>
                <a:lnTo>
                  <a:pt x="0" y="0"/>
                </a:lnTo>
                <a:close/>
              </a:path>
            </a:pathLst>
          </a:custGeom>
          <a:solidFill>
            <a:srgbClr val="38B2AC"/>
          </a:solidFill>
        </p:spPr>
      </p:sp>
      <p:sp>
        <p:nvSpPr>
          <p:cNvPr id="6" name="Shape 4"/>
          <p:cNvSpPr/>
          <p:nvPr/>
        </p:nvSpPr>
        <p:spPr>
          <a:xfrm>
            <a:off x="423333" y="2819394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38B2AC"/>
          </a:solidFill>
        </p:spPr>
      </p:sp>
      <p:sp>
        <p:nvSpPr>
          <p:cNvPr id="7" name="Text 5"/>
          <p:cNvSpPr/>
          <p:nvPr/>
        </p:nvSpPr>
        <p:spPr>
          <a:xfrm>
            <a:off x="381000" y="2819394"/>
            <a:ext cx="592667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5" b="1" dirty="0">
                <a:solidFill>
                  <a:srgbClr val="1A202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104900" y="2603496"/>
            <a:ext cx="14719300" cy="939800"/>
          </a:xfrm>
          <a:custGeom>
            <a:avLst/>
            <a:gdLst/>
            <a:ahLst/>
            <a:cxnLst/>
            <a:rect l="l" t="t" r="r" b="b"/>
            <a:pathLst>
              <a:path w="14719300" h="939800">
                <a:moveTo>
                  <a:pt x="42338" y="0"/>
                </a:moveTo>
                <a:lnTo>
                  <a:pt x="14676962" y="0"/>
                </a:lnTo>
                <a:cubicBezTo>
                  <a:pt x="14700345" y="0"/>
                  <a:pt x="14719300" y="18955"/>
                  <a:pt x="14719300" y="42338"/>
                </a:cubicBezTo>
                <a:lnTo>
                  <a:pt x="14719300" y="897462"/>
                </a:lnTo>
                <a:cubicBezTo>
                  <a:pt x="14719300" y="920845"/>
                  <a:pt x="14700345" y="939800"/>
                  <a:pt x="14676962" y="939800"/>
                </a:cubicBezTo>
                <a:lnTo>
                  <a:pt x="42338" y="939800"/>
                </a:lnTo>
                <a:cubicBezTo>
                  <a:pt x="18955" y="939800"/>
                  <a:pt x="0" y="920845"/>
                  <a:pt x="0" y="897462"/>
                </a:cubicBezTo>
                <a:lnTo>
                  <a:pt x="0" y="42338"/>
                </a:lnTo>
                <a:cubicBezTo>
                  <a:pt x="0" y="18971"/>
                  <a:pt x="18971" y="0"/>
                  <a:pt x="42338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  <a:ln w="10160">
            <a:solidFill>
              <a:srgbClr val="4A5568">
                <a:alpha val="30196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78467" y="2777060"/>
            <a:ext cx="14467417" cy="296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教师在界面录入成绩/考勤数据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78467" y="3115727"/>
            <a:ext cx="14456833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71809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教师通过系统界面录入学生的课程成绩和考勤记录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23333" y="3937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38B2AC"/>
          </a:solidFill>
        </p:spPr>
      </p:sp>
      <p:sp>
        <p:nvSpPr>
          <p:cNvPr id="12" name="Text 10"/>
          <p:cNvSpPr/>
          <p:nvPr/>
        </p:nvSpPr>
        <p:spPr>
          <a:xfrm>
            <a:off x="381000" y="3937000"/>
            <a:ext cx="592667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5" b="1" dirty="0">
                <a:solidFill>
                  <a:srgbClr val="1A202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104900" y="3721092"/>
            <a:ext cx="14719300" cy="939800"/>
          </a:xfrm>
          <a:custGeom>
            <a:avLst/>
            <a:gdLst/>
            <a:ahLst/>
            <a:cxnLst/>
            <a:rect l="l" t="t" r="r" b="b"/>
            <a:pathLst>
              <a:path w="14719300" h="939800">
                <a:moveTo>
                  <a:pt x="42338" y="0"/>
                </a:moveTo>
                <a:lnTo>
                  <a:pt x="14676962" y="0"/>
                </a:lnTo>
                <a:cubicBezTo>
                  <a:pt x="14700345" y="0"/>
                  <a:pt x="14719300" y="18955"/>
                  <a:pt x="14719300" y="42338"/>
                </a:cubicBezTo>
                <a:lnTo>
                  <a:pt x="14719300" y="897462"/>
                </a:lnTo>
                <a:cubicBezTo>
                  <a:pt x="14719300" y="920845"/>
                  <a:pt x="14700345" y="939800"/>
                  <a:pt x="14676962" y="939800"/>
                </a:cubicBezTo>
                <a:lnTo>
                  <a:pt x="42338" y="939800"/>
                </a:lnTo>
                <a:cubicBezTo>
                  <a:pt x="18955" y="939800"/>
                  <a:pt x="0" y="920845"/>
                  <a:pt x="0" y="897462"/>
                </a:cubicBezTo>
                <a:lnTo>
                  <a:pt x="0" y="42338"/>
                </a:lnTo>
                <a:cubicBezTo>
                  <a:pt x="0" y="18971"/>
                  <a:pt x="18971" y="0"/>
                  <a:pt x="42338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  <a:ln w="10160">
            <a:solidFill>
              <a:srgbClr val="4A5568">
                <a:alpha val="30196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78467" y="3894667"/>
            <a:ext cx="14467417" cy="296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管理员同步数据+配置基础规则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78467" y="4233333"/>
            <a:ext cx="14456833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71809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从教务系统同步数据，配置预警触发的基础规则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23333" y="5054596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38B2AC"/>
          </a:solidFill>
        </p:spPr>
      </p:sp>
      <p:sp>
        <p:nvSpPr>
          <p:cNvPr id="17" name="Text 15"/>
          <p:cNvSpPr/>
          <p:nvPr/>
        </p:nvSpPr>
        <p:spPr>
          <a:xfrm>
            <a:off x="381000" y="5054596"/>
            <a:ext cx="592667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5" b="1" dirty="0">
                <a:solidFill>
                  <a:srgbClr val="1A202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104900" y="4838698"/>
            <a:ext cx="14719300" cy="939800"/>
          </a:xfrm>
          <a:custGeom>
            <a:avLst/>
            <a:gdLst/>
            <a:ahLst/>
            <a:cxnLst/>
            <a:rect l="l" t="t" r="r" b="b"/>
            <a:pathLst>
              <a:path w="14719300" h="939800">
                <a:moveTo>
                  <a:pt x="42338" y="0"/>
                </a:moveTo>
                <a:lnTo>
                  <a:pt x="14676962" y="0"/>
                </a:lnTo>
                <a:cubicBezTo>
                  <a:pt x="14700345" y="0"/>
                  <a:pt x="14719300" y="18955"/>
                  <a:pt x="14719300" y="42338"/>
                </a:cubicBezTo>
                <a:lnTo>
                  <a:pt x="14719300" y="897462"/>
                </a:lnTo>
                <a:cubicBezTo>
                  <a:pt x="14719300" y="920845"/>
                  <a:pt x="14700345" y="939800"/>
                  <a:pt x="14676962" y="939800"/>
                </a:cubicBezTo>
                <a:lnTo>
                  <a:pt x="42338" y="939800"/>
                </a:lnTo>
                <a:cubicBezTo>
                  <a:pt x="18955" y="939800"/>
                  <a:pt x="0" y="920845"/>
                  <a:pt x="0" y="897462"/>
                </a:cubicBezTo>
                <a:lnTo>
                  <a:pt x="0" y="42338"/>
                </a:lnTo>
                <a:cubicBezTo>
                  <a:pt x="0" y="18971"/>
                  <a:pt x="18971" y="0"/>
                  <a:pt x="42338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  <a:ln w="10160">
            <a:solidFill>
              <a:srgbClr val="4A5568">
                <a:alpha val="30196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78467" y="5012263"/>
            <a:ext cx="14467417" cy="296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系统整合学生全维度数据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78467" y="5350929"/>
            <a:ext cx="14456833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71809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整合学生的成绩、考勤、历史预警等多维度数据，准备AI分析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23333" y="6172192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38B2AC"/>
          </a:solidFill>
        </p:spPr>
      </p:sp>
      <p:sp>
        <p:nvSpPr>
          <p:cNvPr id="22" name="Text 20"/>
          <p:cNvSpPr/>
          <p:nvPr/>
        </p:nvSpPr>
        <p:spPr>
          <a:xfrm>
            <a:off x="381000" y="6172192"/>
            <a:ext cx="592667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5" b="1" dirty="0">
                <a:solidFill>
                  <a:srgbClr val="1A202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104900" y="5956294"/>
            <a:ext cx="14719300" cy="939800"/>
          </a:xfrm>
          <a:custGeom>
            <a:avLst/>
            <a:gdLst/>
            <a:ahLst/>
            <a:cxnLst/>
            <a:rect l="l" t="t" r="r" b="b"/>
            <a:pathLst>
              <a:path w="14719300" h="939800">
                <a:moveTo>
                  <a:pt x="42338" y="0"/>
                </a:moveTo>
                <a:lnTo>
                  <a:pt x="14676962" y="0"/>
                </a:lnTo>
                <a:cubicBezTo>
                  <a:pt x="14700345" y="0"/>
                  <a:pt x="14719300" y="18955"/>
                  <a:pt x="14719300" y="42338"/>
                </a:cubicBezTo>
                <a:lnTo>
                  <a:pt x="14719300" y="897462"/>
                </a:lnTo>
                <a:cubicBezTo>
                  <a:pt x="14719300" y="920845"/>
                  <a:pt x="14700345" y="939800"/>
                  <a:pt x="14676962" y="939800"/>
                </a:cubicBezTo>
                <a:lnTo>
                  <a:pt x="42338" y="939800"/>
                </a:lnTo>
                <a:cubicBezTo>
                  <a:pt x="18955" y="939800"/>
                  <a:pt x="0" y="920845"/>
                  <a:pt x="0" y="897462"/>
                </a:cubicBezTo>
                <a:lnTo>
                  <a:pt x="0" y="42338"/>
                </a:lnTo>
                <a:cubicBezTo>
                  <a:pt x="0" y="18971"/>
                  <a:pt x="18971" y="0"/>
                  <a:pt x="42338" y="0"/>
                </a:cubicBezTo>
                <a:close/>
              </a:path>
            </a:pathLst>
          </a:custGeom>
          <a:solidFill>
            <a:srgbClr val="38B2AC">
              <a:alpha val="10196"/>
            </a:srgbClr>
          </a:solidFill>
          <a:ln w="10160">
            <a:solidFill>
              <a:srgbClr val="38B2AC">
                <a:alpha val="30196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78467" y="6129858"/>
            <a:ext cx="14467417" cy="296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38B2A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V2.0调用AI接口分析风险等级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278467" y="6468525"/>
            <a:ext cx="14456833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AI基于学生全维度数据，智能分析并动态判定风险等级（高/中/低）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23333" y="7289798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38B2AC"/>
          </a:solidFill>
        </p:spPr>
      </p:sp>
      <p:sp>
        <p:nvSpPr>
          <p:cNvPr id="27" name="Text 25"/>
          <p:cNvSpPr/>
          <p:nvPr/>
        </p:nvSpPr>
        <p:spPr>
          <a:xfrm>
            <a:off x="381000" y="7289798"/>
            <a:ext cx="592667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5" b="1" dirty="0">
                <a:solidFill>
                  <a:srgbClr val="1A202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104900" y="7073900"/>
            <a:ext cx="14719300" cy="939800"/>
          </a:xfrm>
          <a:custGeom>
            <a:avLst/>
            <a:gdLst/>
            <a:ahLst/>
            <a:cxnLst/>
            <a:rect l="l" t="t" r="r" b="b"/>
            <a:pathLst>
              <a:path w="14719300" h="939800">
                <a:moveTo>
                  <a:pt x="42338" y="0"/>
                </a:moveTo>
                <a:lnTo>
                  <a:pt x="14676962" y="0"/>
                </a:lnTo>
                <a:cubicBezTo>
                  <a:pt x="14700345" y="0"/>
                  <a:pt x="14719300" y="18955"/>
                  <a:pt x="14719300" y="42338"/>
                </a:cubicBezTo>
                <a:lnTo>
                  <a:pt x="14719300" y="897462"/>
                </a:lnTo>
                <a:cubicBezTo>
                  <a:pt x="14719300" y="920845"/>
                  <a:pt x="14700345" y="939800"/>
                  <a:pt x="14676962" y="939800"/>
                </a:cubicBezTo>
                <a:lnTo>
                  <a:pt x="42338" y="939800"/>
                </a:lnTo>
                <a:cubicBezTo>
                  <a:pt x="18955" y="939800"/>
                  <a:pt x="0" y="920845"/>
                  <a:pt x="0" y="897462"/>
                </a:cubicBezTo>
                <a:lnTo>
                  <a:pt x="0" y="42338"/>
                </a:lnTo>
                <a:cubicBezTo>
                  <a:pt x="0" y="18971"/>
                  <a:pt x="18971" y="0"/>
                  <a:pt x="42338" y="0"/>
                </a:cubicBezTo>
                <a:close/>
              </a:path>
            </a:pathLst>
          </a:custGeom>
          <a:solidFill>
            <a:srgbClr val="38B2AC">
              <a:alpha val="10196"/>
            </a:srgbClr>
          </a:solidFill>
          <a:ln w="10160">
            <a:solidFill>
              <a:srgbClr val="38B2AC">
                <a:alpha val="30196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278467" y="7247465"/>
            <a:ext cx="14467417" cy="296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38B2A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AI生成个性化预警文案（展示于专属界面）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278467" y="7586131"/>
            <a:ext cx="14456833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根据学生情况和风险等级，AI自动生成个性化预警文案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1104900" y="8191496"/>
            <a:ext cx="7268633" cy="939800"/>
          </a:xfrm>
          <a:custGeom>
            <a:avLst/>
            <a:gdLst/>
            <a:ahLst/>
            <a:cxnLst/>
            <a:rect l="l" t="t" r="r" b="b"/>
            <a:pathLst>
              <a:path w="7268633" h="939800">
                <a:moveTo>
                  <a:pt x="42338" y="0"/>
                </a:moveTo>
                <a:lnTo>
                  <a:pt x="7226295" y="0"/>
                </a:lnTo>
                <a:cubicBezTo>
                  <a:pt x="7249678" y="0"/>
                  <a:pt x="7268633" y="18955"/>
                  <a:pt x="7268633" y="42338"/>
                </a:cubicBezTo>
                <a:lnTo>
                  <a:pt x="7268633" y="897462"/>
                </a:lnTo>
                <a:cubicBezTo>
                  <a:pt x="7268633" y="920845"/>
                  <a:pt x="7249678" y="939800"/>
                  <a:pt x="7226295" y="939800"/>
                </a:cubicBezTo>
                <a:lnTo>
                  <a:pt x="42338" y="939800"/>
                </a:lnTo>
                <a:cubicBezTo>
                  <a:pt x="18955" y="939800"/>
                  <a:pt x="0" y="920845"/>
                  <a:pt x="0" y="897462"/>
                </a:cubicBezTo>
                <a:lnTo>
                  <a:pt x="0" y="42338"/>
                </a:lnTo>
                <a:cubicBezTo>
                  <a:pt x="0" y="18971"/>
                  <a:pt x="18971" y="0"/>
                  <a:pt x="42338" y="0"/>
                </a:cubicBezTo>
                <a:close/>
              </a:path>
            </a:pathLst>
          </a:custGeom>
          <a:solidFill>
            <a:srgbClr val="38B2AC">
              <a:alpha val="10196"/>
            </a:srgbClr>
          </a:solidFill>
          <a:ln w="10160">
            <a:solidFill>
              <a:srgbClr val="38B2AC">
                <a:alpha val="30196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316831" y="8407394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61776" y="26082"/>
                </a:moveTo>
                <a:cubicBezTo>
                  <a:pt x="167097" y="29952"/>
                  <a:pt x="168287" y="37393"/>
                  <a:pt x="164418" y="42714"/>
                </a:cubicBezTo>
                <a:lnTo>
                  <a:pt x="69168" y="173682"/>
                </a:lnTo>
                <a:cubicBezTo>
                  <a:pt x="67121" y="176510"/>
                  <a:pt x="63959" y="178259"/>
                  <a:pt x="60461" y="178557"/>
                </a:cubicBezTo>
                <a:cubicBezTo>
                  <a:pt x="56964" y="178854"/>
                  <a:pt x="53578" y="177552"/>
                  <a:pt x="51122" y="175096"/>
                </a:cubicBezTo>
                <a:lnTo>
                  <a:pt x="3497" y="127471"/>
                </a:lnTo>
                <a:cubicBezTo>
                  <a:pt x="-1153" y="122820"/>
                  <a:pt x="-1153" y="115267"/>
                  <a:pt x="3497" y="110617"/>
                </a:cubicBezTo>
                <a:cubicBezTo>
                  <a:pt x="8148" y="105966"/>
                  <a:pt x="15701" y="105966"/>
                  <a:pt x="20352" y="110617"/>
                </a:cubicBezTo>
                <a:lnTo>
                  <a:pt x="58117" y="148382"/>
                </a:lnTo>
                <a:lnTo>
                  <a:pt x="145182" y="28687"/>
                </a:lnTo>
                <a:cubicBezTo>
                  <a:pt x="149051" y="23366"/>
                  <a:pt x="156493" y="22175"/>
                  <a:pt x="161813" y="26045"/>
                </a:cubicBezTo>
                <a:close/>
              </a:path>
            </a:pathLst>
          </a:custGeom>
          <a:solidFill>
            <a:srgbClr val="38B2AC"/>
          </a:solidFill>
        </p:spPr>
      </p:sp>
      <p:sp>
        <p:nvSpPr>
          <p:cNvPr id="33" name="Text 31"/>
          <p:cNvSpPr/>
          <p:nvPr/>
        </p:nvSpPr>
        <p:spPr>
          <a:xfrm>
            <a:off x="1592439" y="8365060"/>
            <a:ext cx="6702778" cy="296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38B2A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辅导员在界面确认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278467" y="8703727"/>
            <a:ext cx="7006167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直接推送预警至学生端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555567" y="8191496"/>
            <a:ext cx="7268633" cy="939800"/>
          </a:xfrm>
          <a:custGeom>
            <a:avLst/>
            <a:gdLst/>
            <a:ahLst/>
            <a:cxnLst/>
            <a:rect l="l" t="t" r="r" b="b"/>
            <a:pathLst>
              <a:path w="7268633" h="939800">
                <a:moveTo>
                  <a:pt x="42338" y="0"/>
                </a:moveTo>
                <a:lnTo>
                  <a:pt x="7226295" y="0"/>
                </a:lnTo>
                <a:cubicBezTo>
                  <a:pt x="7249678" y="0"/>
                  <a:pt x="7268633" y="18955"/>
                  <a:pt x="7268633" y="42338"/>
                </a:cubicBezTo>
                <a:lnTo>
                  <a:pt x="7268633" y="897462"/>
                </a:lnTo>
                <a:cubicBezTo>
                  <a:pt x="7268633" y="920845"/>
                  <a:pt x="7249678" y="939800"/>
                  <a:pt x="7226295" y="939800"/>
                </a:cubicBezTo>
                <a:lnTo>
                  <a:pt x="42338" y="939800"/>
                </a:lnTo>
                <a:cubicBezTo>
                  <a:pt x="18955" y="939800"/>
                  <a:pt x="0" y="920845"/>
                  <a:pt x="0" y="897462"/>
                </a:cubicBezTo>
                <a:lnTo>
                  <a:pt x="0" y="42338"/>
                </a:lnTo>
                <a:cubicBezTo>
                  <a:pt x="0" y="18971"/>
                  <a:pt x="18971" y="0"/>
                  <a:pt x="42338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  <a:ln w="10160">
            <a:solidFill>
              <a:srgbClr val="4A5568">
                <a:alpha val="30196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755592" y="8407394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75468" y="8074"/>
                </a:moveTo>
                <a:cubicBezTo>
                  <a:pt x="167320" y="-74"/>
                  <a:pt x="154149" y="-74"/>
                  <a:pt x="146000" y="8074"/>
                </a:cubicBezTo>
                <a:lnTo>
                  <a:pt x="136922" y="17152"/>
                </a:lnTo>
                <a:lnTo>
                  <a:pt x="173348" y="53578"/>
                </a:lnTo>
                <a:lnTo>
                  <a:pt x="182426" y="44500"/>
                </a:lnTo>
                <a:cubicBezTo>
                  <a:pt x="190574" y="36351"/>
                  <a:pt x="190574" y="23180"/>
                  <a:pt x="182426" y="15032"/>
                </a:cubicBezTo>
                <a:lnTo>
                  <a:pt x="175468" y="8074"/>
                </a:lnTo>
                <a:close/>
                <a:moveTo>
                  <a:pt x="64145" y="89929"/>
                </a:moveTo>
                <a:cubicBezTo>
                  <a:pt x="61875" y="92199"/>
                  <a:pt x="60127" y="94990"/>
                  <a:pt x="59122" y="98078"/>
                </a:cubicBezTo>
                <a:lnTo>
                  <a:pt x="48109" y="131118"/>
                </a:lnTo>
                <a:cubicBezTo>
                  <a:pt x="47030" y="134317"/>
                  <a:pt x="47885" y="137852"/>
                  <a:pt x="50267" y="140271"/>
                </a:cubicBezTo>
                <a:cubicBezTo>
                  <a:pt x="52648" y="142689"/>
                  <a:pt x="56183" y="143508"/>
                  <a:pt x="59420" y="142429"/>
                </a:cubicBezTo>
                <a:lnTo>
                  <a:pt x="92459" y="131415"/>
                </a:lnTo>
                <a:cubicBezTo>
                  <a:pt x="95510" y="130411"/>
                  <a:pt x="98301" y="128662"/>
                  <a:pt x="100608" y="126392"/>
                </a:cubicBezTo>
                <a:lnTo>
                  <a:pt x="160734" y="66191"/>
                </a:lnTo>
                <a:lnTo>
                  <a:pt x="124309" y="29766"/>
                </a:lnTo>
                <a:lnTo>
                  <a:pt x="64145" y="89929"/>
                </a:lnTo>
                <a:close/>
                <a:moveTo>
                  <a:pt x="35719" y="23812"/>
                </a:moveTo>
                <a:cubicBezTo>
                  <a:pt x="15999" y="23812"/>
                  <a:pt x="0" y="39812"/>
                  <a:pt x="0" y="59531"/>
                </a:cubicBezTo>
                <a:lnTo>
                  <a:pt x="0" y="154781"/>
                </a:lnTo>
                <a:cubicBezTo>
                  <a:pt x="0" y="174501"/>
                  <a:pt x="15999" y="190500"/>
                  <a:pt x="35719" y="190500"/>
                </a:cubicBezTo>
                <a:lnTo>
                  <a:pt x="130969" y="190500"/>
                </a:lnTo>
                <a:cubicBezTo>
                  <a:pt x="150688" y="190500"/>
                  <a:pt x="166688" y="174501"/>
                  <a:pt x="166688" y="154781"/>
                </a:cubicBezTo>
                <a:lnTo>
                  <a:pt x="166688" y="119063"/>
                </a:lnTo>
                <a:cubicBezTo>
                  <a:pt x="166688" y="112477"/>
                  <a:pt x="161367" y="107156"/>
                  <a:pt x="154781" y="107156"/>
                </a:cubicBezTo>
                <a:cubicBezTo>
                  <a:pt x="148196" y="107156"/>
                  <a:pt x="142875" y="112477"/>
                  <a:pt x="142875" y="119063"/>
                </a:cubicBezTo>
                <a:lnTo>
                  <a:pt x="142875" y="154781"/>
                </a:lnTo>
                <a:cubicBezTo>
                  <a:pt x="142875" y="161367"/>
                  <a:pt x="137554" y="166688"/>
                  <a:pt x="130969" y="166688"/>
                </a:cubicBezTo>
                <a:lnTo>
                  <a:pt x="35719" y="166688"/>
                </a:lnTo>
                <a:cubicBezTo>
                  <a:pt x="29133" y="166688"/>
                  <a:pt x="23812" y="161367"/>
                  <a:pt x="23812" y="154781"/>
                </a:cubicBezTo>
                <a:lnTo>
                  <a:pt x="23812" y="59531"/>
                </a:lnTo>
                <a:cubicBezTo>
                  <a:pt x="23812" y="52946"/>
                  <a:pt x="29133" y="47625"/>
                  <a:pt x="35719" y="47625"/>
                </a:cubicBezTo>
                <a:lnTo>
                  <a:pt x="71438" y="47625"/>
                </a:lnTo>
                <a:cubicBezTo>
                  <a:pt x="78023" y="47625"/>
                  <a:pt x="83344" y="42304"/>
                  <a:pt x="83344" y="35719"/>
                </a:cubicBezTo>
                <a:cubicBezTo>
                  <a:pt x="83344" y="29133"/>
                  <a:pt x="78023" y="23812"/>
                  <a:pt x="71438" y="23812"/>
                </a:cubicBezTo>
                <a:lnTo>
                  <a:pt x="35719" y="23812"/>
                </a:lnTo>
                <a:close/>
              </a:path>
            </a:pathLst>
          </a:custGeom>
          <a:solidFill>
            <a:srgbClr val="E2E8F0"/>
          </a:solidFill>
        </p:spPr>
      </p:sp>
      <p:sp>
        <p:nvSpPr>
          <p:cNvPr id="37" name="Text 35"/>
          <p:cNvSpPr/>
          <p:nvPr/>
        </p:nvSpPr>
        <p:spPr>
          <a:xfrm>
            <a:off x="9043105" y="8365060"/>
            <a:ext cx="6702778" cy="296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辅导员在界面微调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729133" y="8703727"/>
            <a:ext cx="7006167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修改文案后推送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23333" y="9525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38B2AC"/>
          </a:solidFill>
        </p:spPr>
      </p:sp>
      <p:sp>
        <p:nvSpPr>
          <p:cNvPr id="40" name="Text 38"/>
          <p:cNvSpPr/>
          <p:nvPr/>
        </p:nvSpPr>
        <p:spPr>
          <a:xfrm>
            <a:off x="381000" y="9525000"/>
            <a:ext cx="592667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5" b="1" dirty="0">
                <a:solidFill>
                  <a:srgbClr val="1A202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6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1104900" y="9309092"/>
            <a:ext cx="14719300" cy="939800"/>
          </a:xfrm>
          <a:custGeom>
            <a:avLst/>
            <a:gdLst/>
            <a:ahLst/>
            <a:cxnLst/>
            <a:rect l="l" t="t" r="r" b="b"/>
            <a:pathLst>
              <a:path w="14719300" h="939800">
                <a:moveTo>
                  <a:pt x="42338" y="0"/>
                </a:moveTo>
                <a:lnTo>
                  <a:pt x="14676962" y="0"/>
                </a:lnTo>
                <a:cubicBezTo>
                  <a:pt x="14700345" y="0"/>
                  <a:pt x="14719300" y="18955"/>
                  <a:pt x="14719300" y="42338"/>
                </a:cubicBezTo>
                <a:lnTo>
                  <a:pt x="14719300" y="897462"/>
                </a:lnTo>
                <a:cubicBezTo>
                  <a:pt x="14719300" y="920845"/>
                  <a:pt x="14700345" y="939800"/>
                  <a:pt x="14676962" y="939800"/>
                </a:cubicBezTo>
                <a:lnTo>
                  <a:pt x="42338" y="939800"/>
                </a:lnTo>
                <a:cubicBezTo>
                  <a:pt x="18955" y="939800"/>
                  <a:pt x="0" y="920845"/>
                  <a:pt x="0" y="897462"/>
                </a:cubicBezTo>
                <a:lnTo>
                  <a:pt x="0" y="42338"/>
                </a:lnTo>
                <a:cubicBezTo>
                  <a:pt x="0" y="18971"/>
                  <a:pt x="18971" y="0"/>
                  <a:pt x="42338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  <a:ln w="10160">
            <a:solidFill>
              <a:srgbClr val="4A5568">
                <a:alpha val="30196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278467" y="9482667"/>
            <a:ext cx="14467417" cy="296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学生在界面提交整改计划书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278467" y="9821333"/>
            <a:ext cx="14456833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71809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学生接收预警后，在系统界面提交学业整改计划书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423333" y="10642596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38B2AC"/>
          </a:solidFill>
        </p:spPr>
      </p:sp>
      <p:sp>
        <p:nvSpPr>
          <p:cNvPr id="45" name="Text 43"/>
          <p:cNvSpPr/>
          <p:nvPr/>
        </p:nvSpPr>
        <p:spPr>
          <a:xfrm>
            <a:off x="381000" y="10642596"/>
            <a:ext cx="592667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5" b="1" dirty="0">
                <a:solidFill>
                  <a:srgbClr val="1A202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7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1104900" y="10426698"/>
            <a:ext cx="14719300" cy="939800"/>
          </a:xfrm>
          <a:custGeom>
            <a:avLst/>
            <a:gdLst/>
            <a:ahLst/>
            <a:cxnLst/>
            <a:rect l="l" t="t" r="r" b="b"/>
            <a:pathLst>
              <a:path w="14719300" h="939800">
                <a:moveTo>
                  <a:pt x="42338" y="0"/>
                </a:moveTo>
                <a:lnTo>
                  <a:pt x="14676962" y="0"/>
                </a:lnTo>
                <a:cubicBezTo>
                  <a:pt x="14700345" y="0"/>
                  <a:pt x="14719300" y="18955"/>
                  <a:pt x="14719300" y="42338"/>
                </a:cubicBezTo>
                <a:lnTo>
                  <a:pt x="14719300" y="897462"/>
                </a:lnTo>
                <a:cubicBezTo>
                  <a:pt x="14719300" y="920845"/>
                  <a:pt x="14700345" y="939800"/>
                  <a:pt x="14676962" y="939800"/>
                </a:cubicBezTo>
                <a:lnTo>
                  <a:pt x="42338" y="939800"/>
                </a:lnTo>
                <a:cubicBezTo>
                  <a:pt x="18955" y="939800"/>
                  <a:pt x="0" y="920845"/>
                  <a:pt x="0" y="897462"/>
                </a:cubicBezTo>
                <a:lnTo>
                  <a:pt x="0" y="42338"/>
                </a:lnTo>
                <a:cubicBezTo>
                  <a:pt x="0" y="18971"/>
                  <a:pt x="18971" y="0"/>
                  <a:pt x="42338" y="0"/>
                </a:cubicBezTo>
                <a:close/>
              </a:path>
            </a:pathLst>
          </a:custGeom>
          <a:solidFill>
            <a:srgbClr val="38B2AC">
              <a:alpha val="10196"/>
            </a:srgbClr>
          </a:solidFill>
          <a:ln w="10160">
            <a:solidFill>
              <a:srgbClr val="38B2AC">
                <a:alpha val="30196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278467" y="10600263"/>
            <a:ext cx="14467417" cy="296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38B2A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AI评估整改计划合理性（展示于主任端界面）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1278467" y="10938929"/>
            <a:ext cx="14456833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AI分析学生整改计划的合理性和可行性，提供评估建议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423333" y="11760192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38B2AC"/>
          </a:solidFill>
        </p:spPr>
      </p:sp>
      <p:sp>
        <p:nvSpPr>
          <p:cNvPr id="50" name="Text 48"/>
          <p:cNvSpPr/>
          <p:nvPr/>
        </p:nvSpPr>
        <p:spPr>
          <a:xfrm>
            <a:off x="381000" y="11760192"/>
            <a:ext cx="592667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5" b="1" dirty="0">
                <a:solidFill>
                  <a:srgbClr val="1A202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8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1104900" y="11544294"/>
            <a:ext cx="14719300" cy="939800"/>
          </a:xfrm>
          <a:custGeom>
            <a:avLst/>
            <a:gdLst/>
            <a:ahLst/>
            <a:cxnLst/>
            <a:rect l="l" t="t" r="r" b="b"/>
            <a:pathLst>
              <a:path w="14719300" h="939800">
                <a:moveTo>
                  <a:pt x="42338" y="0"/>
                </a:moveTo>
                <a:lnTo>
                  <a:pt x="14676962" y="0"/>
                </a:lnTo>
                <a:cubicBezTo>
                  <a:pt x="14700345" y="0"/>
                  <a:pt x="14719300" y="18955"/>
                  <a:pt x="14719300" y="42338"/>
                </a:cubicBezTo>
                <a:lnTo>
                  <a:pt x="14719300" y="897462"/>
                </a:lnTo>
                <a:cubicBezTo>
                  <a:pt x="14719300" y="920845"/>
                  <a:pt x="14700345" y="939800"/>
                  <a:pt x="14676962" y="939800"/>
                </a:cubicBezTo>
                <a:lnTo>
                  <a:pt x="42338" y="939800"/>
                </a:lnTo>
                <a:cubicBezTo>
                  <a:pt x="18955" y="939800"/>
                  <a:pt x="0" y="920845"/>
                  <a:pt x="0" y="897462"/>
                </a:cubicBezTo>
                <a:lnTo>
                  <a:pt x="0" y="42338"/>
                </a:lnTo>
                <a:cubicBezTo>
                  <a:pt x="0" y="18971"/>
                  <a:pt x="18971" y="0"/>
                  <a:pt x="42338" y="0"/>
                </a:cubicBezTo>
                <a:close/>
              </a:path>
            </a:pathLst>
          </a:custGeom>
          <a:solidFill>
            <a:srgbClr val="38B2AC">
              <a:alpha val="10196"/>
            </a:srgbClr>
          </a:solidFill>
          <a:ln w="10160">
            <a:solidFill>
              <a:srgbClr val="38B2AC">
                <a:alpha val="30196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278467" y="11717858"/>
            <a:ext cx="14467417" cy="296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38B2A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教务处主任在界面查看AI辅助的干预效果分析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1278467" y="12056525"/>
            <a:ext cx="14456833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通过AI分析结果，评估干预措施效果，优化管理策略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427567" y="13694829"/>
            <a:ext cx="7607300" cy="812800"/>
          </a:xfrm>
          <a:custGeom>
            <a:avLst/>
            <a:gdLst/>
            <a:ahLst/>
            <a:cxnLst/>
            <a:rect l="l" t="t" r="r" b="b"/>
            <a:pathLst>
              <a:path w="7607300" h="812800">
                <a:moveTo>
                  <a:pt x="84669" y="0"/>
                </a:moveTo>
                <a:lnTo>
                  <a:pt x="7522631" y="0"/>
                </a:lnTo>
                <a:cubicBezTo>
                  <a:pt x="7569392" y="0"/>
                  <a:pt x="7607300" y="37908"/>
                  <a:pt x="7607300" y="84669"/>
                </a:cubicBezTo>
                <a:lnTo>
                  <a:pt x="7607300" y="728131"/>
                </a:lnTo>
                <a:cubicBezTo>
                  <a:pt x="7607300" y="774892"/>
                  <a:pt x="7569392" y="812800"/>
                  <a:pt x="7522631" y="812800"/>
                </a:cubicBezTo>
                <a:lnTo>
                  <a:pt x="84669" y="812800"/>
                </a:lnTo>
                <a:cubicBezTo>
                  <a:pt x="37908" y="812800"/>
                  <a:pt x="0" y="774892"/>
                  <a:pt x="0" y="728131"/>
                </a:cubicBezTo>
                <a:lnTo>
                  <a:pt x="0" y="84669"/>
                </a:lnTo>
                <a:cubicBezTo>
                  <a:pt x="0" y="37908"/>
                  <a:pt x="37908" y="0"/>
                  <a:pt x="84669" y="0"/>
                </a:cubicBezTo>
                <a:close/>
              </a:path>
            </a:pathLst>
          </a:custGeom>
          <a:solidFill>
            <a:srgbClr val="38B2AC">
              <a:alpha val="10196"/>
            </a:srgbClr>
          </a:solidFill>
          <a:ln w="10160">
            <a:solidFill>
              <a:srgbClr val="38B2AC">
                <a:alpha val="30196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79967" y="13859929"/>
            <a:ext cx="169333" cy="169333"/>
          </a:xfrm>
          <a:custGeom>
            <a:avLst/>
            <a:gdLst/>
            <a:ahLst/>
            <a:cxnLst/>
            <a:rect l="l" t="t" r="r" b="b"/>
            <a:pathLst>
              <a:path w="169333" h="169333">
                <a:moveTo>
                  <a:pt x="84667" y="169333"/>
                </a:moveTo>
                <a:cubicBezTo>
                  <a:pt x="131395" y="169333"/>
                  <a:pt x="169333" y="131395"/>
                  <a:pt x="169333" y="84667"/>
                </a:cubicBezTo>
                <a:cubicBezTo>
                  <a:pt x="169333" y="37938"/>
                  <a:pt x="131395" y="0"/>
                  <a:pt x="84667" y="0"/>
                </a:cubicBezTo>
                <a:cubicBezTo>
                  <a:pt x="37938" y="0"/>
                  <a:pt x="0" y="37938"/>
                  <a:pt x="0" y="84667"/>
                </a:cubicBezTo>
                <a:cubicBezTo>
                  <a:pt x="0" y="131395"/>
                  <a:pt x="37938" y="169333"/>
                  <a:pt x="84667" y="169333"/>
                </a:cubicBezTo>
                <a:close/>
                <a:moveTo>
                  <a:pt x="74083" y="52917"/>
                </a:moveTo>
                <a:cubicBezTo>
                  <a:pt x="74083" y="47076"/>
                  <a:pt x="78826" y="42333"/>
                  <a:pt x="84667" y="42333"/>
                </a:cubicBezTo>
                <a:cubicBezTo>
                  <a:pt x="90508" y="42333"/>
                  <a:pt x="95250" y="47076"/>
                  <a:pt x="95250" y="52917"/>
                </a:cubicBezTo>
                <a:cubicBezTo>
                  <a:pt x="95250" y="58758"/>
                  <a:pt x="90508" y="63500"/>
                  <a:pt x="84667" y="63500"/>
                </a:cubicBezTo>
                <a:cubicBezTo>
                  <a:pt x="78826" y="63500"/>
                  <a:pt x="74083" y="58758"/>
                  <a:pt x="74083" y="52917"/>
                </a:cubicBezTo>
                <a:close/>
                <a:moveTo>
                  <a:pt x="71438" y="74083"/>
                </a:moveTo>
                <a:lnTo>
                  <a:pt x="87313" y="74083"/>
                </a:lnTo>
                <a:cubicBezTo>
                  <a:pt x="91711" y="74083"/>
                  <a:pt x="95250" y="77622"/>
                  <a:pt x="95250" y="82021"/>
                </a:cubicBezTo>
                <a:lnTo>
                  <a:pt x="95250" y="111125"/>
                </a:lnTo>
                <a:lnTo>
                  <a:pt x="97896" y="111125"/>
                </a:lnTo>
                <a:cubicBezTo>
                  <a:pt x="102295" y="111125"/>
                  <a:pt x="105833" y="114664"/>
                  <a:pt x="105833" y="119063"/>
                </a:cubicBezTo>
                <a:cubicBezTo>
                  <a:pt x="105833" y="123461"/>
                  <a:pt x="102295" y="127000"/>
                  <a:pt x="97896" y="127000"/>
                </a:cubicBezTo>
                <a:lnTo>
                  <a:pt x="71438" y="127000"/>
                </a:lnTo>
                <a:cubicBezTo>
                  <a:pt x="67039" y="127000"/>
                  <a:pt x="63500" y="123461"/>
                  <a:pt x="63500" y="119063"/>
                </a:cubicBezTo>
                <a:cubicBezTo>
                  <a:pt x="63500" y="114664"/>
                  <a:pt x="67039" y="111125"/>
                  <a:pt x="71438" y="111125"/>
                </a:cubicBezTo>
                <a:lnTo>
                  <a:pt x="79375" y="111125"/>
                </a:lnTo>
                <a:lnTo>
                  <a:pt x="79375" y="89958"/>
                </a:lnTo>
                <a:lnTo>
                  <a:pt x="71438" y="89958"/>
                </a:lnTo>
                <a:cubicBezTo>
                  <a:pt x="67039" y="89958"/>
                  <a:pt x="63500" y="86420"/>
                  <a:pt x="63500" y="82021"/>
                </a:cubicBezTo>
                <a:cubicBezTo>
                  <a:pt x="63500" y="77622"/>
                  <a:pt x="67039" y="74083"/>
                  <a:pt x="71438" y="74083"/>
                </a:cubicBezTo>
                <a:close/>
              </a:path>
            </a:pathLst>
          </a:custGeom>
          <a:solidFill>
            <a:srgbClr val="38B2AC"/>
          </a:solidFill>
        </p:spPr>
      </p:sp>
      <p:sp>
        <p:nvSpPr>
          <p:cNvPr id="56" name="Text 54"/>
          <p:cNvSpPr/>
          <p:nvPr/>
        </p:nvSpPr>
        <p:spPr>
          <a:xfrm>
            <a:off x="841022" y="13826060"/>
            <a:ext cx="7147278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38B2A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关键说明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558800" y="14164727"/>
            <a:ext cx="7418917" cy="2116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5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AI模块为"增强层"，不影响V1.0原有界面流程，支持一键关闭AI功能降级为基础版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8216900" y="13694829"/>
            <a:ext cx="7607300" cy="812800"/>
          </a:xfrm>
          <a:custGeom>
            <a:avLst/>
            <a:gdLst/>
            <a:ahLst/>
            <a:cxnLst/>
            <a:rect l="l" t="t" r="r" b="b"/>
            <a:pathLst>
              <a:path w="7607300" h="812800">
                <a:moveTo>
                  <a:pt x="84669" y="0"/>
                </a:moveTo>
                <a:lnTo>
                  <a:pt x="7522631" y="0"/>
                </a:lnTo>
                <a:cubicBezTo>
                  <a:pt x="7569392" y="0"/>
                  <a:pt x="7607300" y="37908"/>
                  <a:pt x="7607300" y="84669"/>
                </a:cubicBezTo>
                <a:lnTo>
                  <a:pt x="7607300" y="728131"/>
                </a:lnTo>
                <a:cubicBezTo>
                  <a:pt x="7607300" y="774892"/>
                  <a:pt x="7569392" y="812800"/>
                  <a:pt x="7522631" y="812800"/>
                </a:cubicBezTo>
                <a:lnTo>
                  <a:pt x="84669" y="812800"/>
                </a:lnTo>
                <a:cubicBezTo>
                  <a:pt x="37908" y="812800"/>
                  <a:pt x="0" y="774892"/>
                  <a:pt x="0" y="728131"/>
                </a:cubicBezTo>
                <a:lnTo>
                  <a:pt x="0" y="84669"/>
                </a:lnTo>
                <a:cubicBezTo>
                  <a:pt x="0" y="37908"/>
                  <a:pt x="37908" y="0"/>
                  <a:pt x="84669" y="0"/>
                </a:cubicBezTo>
                <a:close/>
              </a:path>
            </a:pathLst>
          </a:custGeom>
          <a:solidFill>
            <a:srgbClr val="38B2AC">
              <a:alpha val="10196"/>
            </a:srgbClr>
          </a:solidFill>
          <a:ln w="10160">
            <a:solidFill>
              <a:srgbClr val="38B2AC">
                <a:alpha val="30196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369300" y="13859929"/>
            <a:ext cx="169333" cy="169333"/>
          </a:xfrm>
          <a:custGeom>
            <a:avLst/>
            <a:gdLst/>
            <a:ahLst/>
            <a:cxnLst/>
            <a:rect l="l" t="t" r="r" b="b"/>
            <a:pathLst>
              <a:path w="169333" h="169333">
                <a:moveTo>
                  <a:pt x="84667" y="0"/>
                </a:moveTo>
                <a:cubicBezTo>
                  <a:pt x="86188" y="0"/>
                  <a:pt x="87709" y="331"/>
                  <a:pt x="89098" y="959"/>
                </a:cubicBezTo>
                <a:lnTo>
                  <a:pt x="151408" y="27384"/>
                </a:lnTo>
                <a:cubicBezTo>
                  <a:pt x="158684" y="30460"/>
                  <a:pt x="164108" y="37637"/>
                  <a:pt x="164075" y="46302"/>
                </a:cubicBezTo>
                <a:cubicBezTo>
                  <a:pt x="163909" y="79110"/>
                  <a:pt x="150416" y="139138"/>
                  <a:pt x="93431" y="166423"/>
                </a:cubicBezTo>
                <a:cubicBezTo>
                  <a:pt x="87908" y="169069"/>
                  <a:pt x="81492" y="169069"/>
                  <a:pt x="75968" y="166423"/>
                </a:cubicBezTo>
                <a:cubicBezTo>
                  <a:pt x="18951" y="139138"/>
                  <a:pt x="5490" y="79110"/>
                  <a:pt x="5325" y="46302"/>
                </a:cubicBezTo>
                <a:cubicBezTo>
                  <a:pt x="5292" y="37637"/>
                  <a:pt x="10716" y="30460"/>
                  <a:pt x="17992" y="27384"/>
                </a:cubicBezTo>
                <a:lnTo>
                  <a:pt x="80268" y="959"/>
                </a:lnTo>
                <a:cubicBezTo>
                  <a:pt x="81657" y="331"/>
                  <a:pt x="83145" y="0"/>
                  <a:pt x="84667" y="0"/>
                </a:cubicBezTo>
                <a:close/>
                <a:moveTo>
                  <a:pt x="84667" y="22093"/>
                </a:moveTo>
                <a:lnTo>
                  <a:pt x="84667" y="147141"/>
                </a:lnTo>
                <a:cubicBezTo>
                  <a:pt x="130307" y="125049"/>
                  <a:pt x="142577" y="76101"/>
                  <a:pt x="142875" y="46798"/>
                </a:cubicBezTo>
                <a:lnTo>
                  <a:pt x="84667" y="22126"/>
                </a:lnTo>
                <a:lnTo>
                  <a:pt x="84667" y="22126"/>
                </a:lnTo>
                <a:close/>
              </a:path>
            </a:pathLst>
          </a:custGeom>
          <a:solidFill>
            <a:srgbClr val="38B2AC"/>
          </a:solidFill>
        </p:spPr>
      </p:sp>
      <p:sp>
        <p:nvSpPr>
          <p:cNvPr id="60" name="Text 58"/>
          <p:cNvSpPr/>
          <p:nvPr/>
        </p:nvSpPr>
        <p:spPr>
          <a:xfrm>
            <a:off x="8630355" y="13826060"/>
            <a:ext cx="7147278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38B2A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保障机制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8348133" y="14164727"/>
            <a:ext cx="7418917" cy="2116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5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所有AI接口调用均增加超时重试、异常降级机制，保障各角色界面正常使用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000" y="508000"/>
            <a:ext cx="3441700" cy="406400"/>
          </a:xfrm>
          <a:custGeom>
            <a:avLst/>
            <a:gdLst/>
            <a:ahLst/>
            <a:cxnLst/>
            <a:rect l="l" t="t" r="r" b="b"/>
            <a:pathLst>
              <a:path w="3441700" h="406400">
                <a:moveTo>
                  <a:pt x="50800" y="0"/>
                </a:moveTo>
                <a:lnTo>
                  <a:pt x="3390900" y="0"/>
                </a:lnTo>
                <a:cubicBezTo>
                  <a:pt x="3418937" y="0"/>
                  <a:pt x="3441700" y="22763"/>
                  <a:pt x="3441700" y="50800"/>
                </a:cubicBezTo>
                <a:lnTo>
                  <a:pt x="3441700" y="355600"/>
                </a:lnTo>
                <a:cubicBezTo>
                  <a:pt x="3441700" y="383637"/>
                  <a:pt x="3418937" y="406400"/>
                  <a:pt x="3390900" y="406400"/>
                </a:cubicBezTo>
                <a:lnTo>
                  <a:pt x="50800" y="406400"/>
                </a:lnTo>
                <a:cubicBezTo>
                  <a:pt x="22763" y="406400"/>
                  <a:pt x="0" y="383637"/>
                  <a:pt x="0" y="355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660400" y="599442"/>
            <a:ext cx="3223895" cy="233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kern="0" spc="35" dirty="0">
                <a:solidFill>
                  <a:srgbClr val="38B2A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V2.0 VERIFICATION &amp; COMPARISON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8000" y="1016000"/>
            <a:ext cx="154686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2E8F0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V2.0功能验证与版本对比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8000" y="1625600"/>
            <a:ext cx="1016000" cy="50800"/>
          </a:xfrm>
          <a:custGeom>
            <a:avLst/>
            <a:gdLst/>
            <a:ahLst/>
            <a:cxnLst/>
            <a:rect l="l" t="t" r="r" b="b"/>
            <a:pathLst>
              <a:path w="1016000" h="50800">
                <a:moveTo>
                  <a:pt x="0" y="0"/>
                </a:moveTo>
                <a:lnTo>
                  <a:pt x="1016000" y="0"/>
                </a:lnTo>
                <a:lnTo>
                  <a:pt x="10160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38B2AC"/>
          </a:solidFill>
        </p:spPr>
      </p:sp>
      <p:sp>
        <p:nvSpPr>
          <p:cNvPr id="6" name="Shape 4"/>
          <p:cNvSpPr/>
          <p:nvPr/>
        </p:nvSpPr>
        <p:spPr>
          <a:xfrm>
            <a:off x="513080" y="1833880"/>
            <a:ext cx="6080760" cy="4582160"/>
          </a:xfrm>
          <a:custGeom>
            <a:avLst/>
            <a:gdLst/>
            <a:ahLst/>
            <a:cxnLst/>
            <a:rect l="l" t="t" r="r" b="b"/>
            <a:pathLst>
              <a:path w="6080760" h="4582160">
                <a:moveTo>
                  <a:pt x="101586" y="0"/>
                </a:moveTo>
                <a:lnTo>
                  <a:pt x="5979174" y="0"/>
                </a:lnTo>
                <a:cubicBezTo>
                  <a:pt x="6035278" y="0"/>
                  <a:pt x="6080760" y="45482"/>
                  <a:pt x="6080760" y="101586"/>
                </a:cubicBezTo>
                <a:lnTo>
                  <a:pt x="6080760" y="4480574"/>
                </a:lnTo>
                <a:cubicBezTo>
                  <a:pt x="6080760" y="4536678"/>
                  <a:pt x="6035278" y="4582160"/>
                  <a:pt x="5979174" y="4582160"/>
                </a:cubicBezTo>
                <a:lnTo>
                  <a:pt x="101586" y="4582160"/>
                </a:lnTo>
                <a:cubicBezTo>
                  <a:pt x="45482" y="4582160"/>
                  <a:pt x="0" y="4536678"/>
                  <a:pt x="0" y="4480574"/>
                </a:cubicBezTo>
                <a:lnTo>
                  <a:pt x="0" y="101586"/>
                </a:lnTo>
                <a:cubicBezTo>
                  <a:pt x="0" y="45482"/>
                  <a:pt x="45482" y="0"/>
                  <a:pt x="101586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10160">
            <a:solidFill>
              <a:srgbClr val="38B2AC">
                <a:alpha val="30196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21360" y="2042170"/>
            <a:ext cx="57912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38B2A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V2.0测试验证结果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46760" y="2550170"/>
            <a:ext cx="50800" cy="609600"/>
          </a:xfrm>
          <a:custGeom>
            <a:avLst/>
            <a:gdLst/>
            <a:ahLst/>
            <a:cxnLst/>
            <a:rect l="l" t="t" r="r" b="b"/>
            <a:pathLst>
              <a:path w="50800" h="609600">
                <a:moveTo>
                  <a:pt x="0" y="0"/>
                </a:moveTo>
                <a:lnTo>
                  <a:pt x="50800" y="0"/>
                </a:lnTo>
                <a:lnTo>
                  <a:pt x="508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38B2AC"/>
          </a:solidFill>
        </p:spPr>
      </p:sp>
      <p:sp>
        <p:nvSpPr>
          <p:cNvPr id="9" name="Text 7"/>
          <p:cNvSpPr/>
          <p:nvPr/>
        </p:nvSpPr>
        <p:spPr>
          <a:xfrm>
            <a:off x="924560" y="2550170"/>
            <a:ext cx="13081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V1.0功能兼容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882640" y="2550170"/>
            <a:ext cx="508000" cy="304800"/>
          </a:xfrm>
          <a:custGeom>
            <a:avLst/>
            <a:gdLst/>
            <a:ahLst/>
            <a:cxnLst/>
            <a:rect l="l" t="t" r="r" b="b"/>
            <a:pathLst>
              <a:path w="508000" h="304800">
                <a:moveTo>
                  <a:pt x="50801" y="0"/>
                </a:moveTo>
                <a:lnTo>
                  <a:pt x="457199" y="0"/>
                </a:lnTo>
                <a:cubicBezTo>
                  <a:pt x="485256" y="0"/>
                  <a:pt x="508000" y="22744"/>
                  <a:pt x="508000" y="50801"/>
                </a:cubicBezTo>
                <a:lnTo>
                  <a:pt x="508000" y="253999"/>
                </a:lnTo>
                <a:cubicBezTo>
                  <a:pt x="508000" y="282056"/>
                  <a:pt x="485256" y="304800"/>
                  <a:pt x="4571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38B2AC"/>
          </a:solidFill>
        </p:spPr>
      </p:sp>
      <p:sp>
        <p:nvSpPr>
          <p:cNvPr id="11" name="Text 9"/>
          <p:cNvSpPr/>
          <p:nvPr/>
        </p:nvSpPr>
        <p:spPr>
          <a:xfrm>
            <a:off x="5882640" y="2550170"/>
            <a:ext cx="584200" cy="304800"/>
          </a:xfrm>
          <a:prstGeom prst="rect">
            <a:avLst/>
          </a:prstGeom>
          <a:noFill/>
        </p:spPr>
        <p:txBody>
          <a:bodyPr wrap="square" lIns="101600" tIns="50800" rIns="101600" bIns="5080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1A202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通过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24560" y="2905770"/>
            <a:ext cx="55499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71809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原有多角色界面功能无异常，数据同步正常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46760" y="3312170"/>
            <a:ext cx="50800" cy="609600"/>
          </a:xfrm>
          <a:custGeom>
            <a:avLst/>
            <a:gdLst/>
            <a:ahLst/>
            <a:cxnLst/>
            <a:rect l="l" t="t" r="r" b="b"/>
            <a:pathLst>
              <a:path w="50800" h="609600">
                <a:moveTo>
                  <a:pt x="0" y="0"/>
                </a:moveTo>
                <a:lnTo>
                  <a:pt x="50800" y="0"/>
                </a:lnTo>
                <a:lnTo>
                  <a:pt x="508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38B2AC"/>
          </a:solidFill>
        </p:spPr>
      </p:sp>
      <p:sp>
        <p:nvSpPr>
          <p:cNvPr id="14" name="Text 12"/>
          <p:cNvSpPr/>
          <p:nvPr/>
        </p:nvSpPr>
        <p:spPr>
          <a:xfrm>
            <a:off x="924560" y="3312170"/>
            <a:ext cx="21082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AI风险等级判定准确率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886133" y="3312170"/>
            <a:ext cx="508000" cy="304800"/>
          </a:xfrm>
          <a:custGeom>
            <a:avLst/>
            <a:gdLst/>
            <a:ahLst/>
            <a:cxnLst/>
            <a:rect l="l" t="t" r="r" b="b"/>
            <a:pathLst>
              <a:path w="508000" h="304800">
                <a:moveTo>
                  <a:pt x="50801" y="0"/>
                </a:moveTo>
                <a:lnTo>
                  <a:pt x="457199" y="0"/>
                </a:lnTo>
                <a:cubicBezTo>
                  <a:pt x="485256" y="0"/>
                  <a:pt x="508000" y="22744"/>
                  <a:pt x="508000" y="50801"/>
                </a:cubicBezTo>
                <a:lnTo>
                  <a:pt x="508000" y="253999"/>
                </a:lnTo>
                <a:cubicBezTo>
                  <a:pt x="508000" y="282056"/>
                  <a:pt x="485256" y="304800"/>
                  <a:pt x="4571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38B2AC"/>
          </a:solidFill>
        </p:spPr>
      </p:sp>
      <p:sp>
        <p:nvSpPr>
          <p:cNvPr id="16" name="Text 14"/>
          <p:cNvSpPr/>
          <p:nvPr/>
        </p:nvSpPr>
        <p:spPr>
          <a:xfrm>
            <a:off x="5886133" y="3312170"/>
            <a:ext cx="584200" cy="304800"/>
          </a:xfrm>
          <a:prstGeom prst="rect">
            <a:avLst/>
          </a:prstGeom>
          <a:noFill/>
        </p:spPr>
        <p:txBody>
          <a:bodyPr wrap="square" lIns="101600" tIns="50800" rIns="101600" bIns="5080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1A202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92%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24560" y="3667770"/>
            <a:ext cx="55499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71809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对比人工专家判定结果，在辅导员端界面展示差异率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46760" y="4074170"/>
            <a:ext cx="50800" cy="609600"/>
          </a:xfrm>
          <a:custGeom>
            <a:avLst/>
            <a:gdLst/>
            <a:ahLst/>
            <a:cxnLst/>
            <a:rect l="l" t="t" r="r" b="b"/>
            <a:pathLst>
              <a:path w="50800" h="609600">
                <a:moveTo>
                  <a:pt x="0" y="0"/>
                </a:moveTo>
                <a:lnTo>
                  <a:pt x="50800" y="0"/>
                </a:lnTo>
                <a:lnTo>
                  <a:pt x="508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38B2AC"/>
          </a:solidFill>
        </p:spPr>
      </p:sp>
      <p:sp>
        <p:nvSpPr>
          <p:cNvPr id="19" name="Text 17"/>
          <p:cNvSpPr/>
          <p:nvPr/>
        </p:nvSpPr>
        <p:spPr>
          <a:xfrm>
            <a:off x="924560" y="4074170"/>
            <a:ext cx="21082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AI预警文案生成满意度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876131" y="4074170"/>
            <a:ext cx="520700" cy="304800"/>
          </a:xfrm>
          <a:custGeom>
            <a:avLst/>
            <a:gdLst/>
            <a:ahLst/>
            <a:cxnLst/>
            <a:rect l="l" t="t" r="r" b="b"/>
            <a:pathLst>
              <a:path w="520700" h="304800">
                <a:moveTo>
                  <a:pt x="50801" y="0"/>
                </a:moveTo>
                <a:lnTo>
                  <a:pt x="469899" y="0"/>
                </a:lnTo>
                <a:cubicBezTo>
                  <a:pt x="497956" y="0"/>
                  <a:pt x="520700" y="22744"/>
                  <a:pt x="520700" y="50801"/>
                </a:cubicBezTo>
                <a:lnTo>
                  <a:pt x="520700" y="253999"/>
                </a:lnTo>
                <a:cubicBezTo>
                  <a:pt x="520700" y="282056"/>
                  <a:pt x="497956" y="304800"/>
                  <a:pt x="4698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38B2AC"/>
          </a:solidFill>
        </p:spPr>
      </p:sp>
      <p:sp>
        <p:nvSpPr>
          <p:cNvPr id="21" name="Text 19"/>
          <p:cNvSpPr/>
          <p:nvPr/>
        </p:nvSpPr>
        <p:spPr>
          <a:xfrm>
            <a:off x="5876131" y="4074170"/>
            <a:ext cx="596900" cy="304800"/>
          </a:xfrm>
          <a:prstGeom prst="rect">
            <a:avLst/>
          </a:prstGeom>
          <a:noFill/>
        </p:spPr>
        <p:txBody>
          <a:bodyPr wrap="square" lIns="101600" tIns="50800" rIns="101600" bIns="5080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1A202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90%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24560" y="4429770"/>
            <a:ext cx="55499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71809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辅导员评估：文案贴合学生情况，在专属界面微调即可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46760" y="4836170"/>
            <a:ext cx="50800" cy="609600"/>
          </a:xfrm>
          <a:custGeom>
            <a:avLst/>
            <a:gdLst/>
            <a:ahLst/>
            <a:cxnLst/>
            <a:rect l="l" t="t" r="r" b="b"/>
            <a:pathLst>
              <a:path w="50800" h="609600">
                <a:moveTo>
                  <a:pt x="0" y="0"/>
                </a:moveTo>
                <a:lnTo>
                  <a:pt x="50800" y="0"/>
                </a:lnTo>
                <a:lnTo>
                  <a:pt x="508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38B2AC"/>
          </a:solidFill>
        </p:spPr>
      </p:sp>
      <p:sp>
        <p:nvSpPr>
          <p:cNvPr id="24" name="Text 22"/>
          <p:cNvSpPr/>
          <p:nvPr/>
        </p:nvSpPr>
        <p:spPr>
          <a:xfrm>
            <a:off x="924560" y="4836170"/>
            <a:ext cx="17018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AI趋势预测准确率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872480" y="4836170"/>
            <a:ext cx="520700" cy="304800"/>
          </a:xfrm>
          <a:custGeom>
            <a:avLst/>
            <a:gdLst/>
            <a:ahLst/>
            <a:cxnLst/>
            <a:rect l="l" t="t" r="r" b="b"/>
            <a:pathLst>
              <a:path w="520700" h="304800">
                <a:moveTo>
                  <a:pt x="50801" y="0"/>
                </a:moveTo>
                <a:lnTo>
                  <a:pt x="469899" y="0"/>
                </a:lnTo>
                <a:cubicBezTo>
                  <a:pt x="497956" y="0"/>
                  <a:pt x="520700" y="22744"/>
                  <a:pt x="520700" y="50801"/>
                </a:cubicBezTo>
                <a:lnTo>
                  <a:pt x="520700" y="253999"/>
                </a:lnTo>
                <a:cubicBezTo>
                  <a:pt x="520700" y="282056"/>
                  <a:pt x="497956" y="304800"/>
                  <a:pt x="4698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38B2AC"/>
          </a:solidFill>
        </p:spPr>
      </p:sp>
      <p:sp>
        <p:nvSpPr>
          <p:cNvPr id="26" name="Text 24"/>
          <p:cNvSpPr/>
          <p:nvPr/>
        </p:nvSpPr>
        <p:spPr>
          <a:xfrm>
            <a:off x="5872480" y="4836170"/>
            <a:ext cx="596900" cy="304800"/>
          </a:xfrm>
          <a:prstGeom prst="rect">
            <a:avLst/>
          </a:prstGeom>
          <a:noFill/>
        </p:spPr>
        <p:txBody>
          <a:bodyPr wrap="square" lIns="101600" tIns="50800" rIns="101600" bIns="5080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1A202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88%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24560" y="5191770"/>
            <a:ext cx="55499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71809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预测下月预警人数与实际偏差±5%，在主任端界面展示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46760" y="5598170"/>
            <a:ext cx="50800" cy="609600"/>
          </a:xfrm>
          <a:custGeom>
            <a:avLst/>
            <a:gdLst/>
            <a:ahLst/>
            <a:cxnLst/>
            <a:rect l="l" t="t" r="r" b="b"/>
            <a:pathLst>
              <a:path w="50800" h="609600">
                <a:moveTo>
                  <a:pt x="0" y="0"/>
                </a:moveTo>
                <a:lnTo>
                  <a:pt x="50800" y="0"/>
                </a:lnTo>
                <a:lnTo>
                  <a:pt x="508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38B2AC"/>
          </a:solidFill>
        </p:spPr>
      </p:sp>
      <p:sp>
        <p:nvSpPr>
          <p:cNvPr id="29" name="Text 27"/>
          <p:cNvSpPr/>
          <p:nvPr/>
        </p:nvSpPr>
        <p:spPr>
          <a:xfrm>
            <a:off x="924560" y="5598170"/>
            <a:ext cx="14986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AI接口降级策略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882640" y="5598170"/>
            <a:ext cx="508000" cy="304800"/>
          </a:xfrm>
          <a:custGeom>
            <a:avLst/>
            <a:gdLst/>
            <a:ahLst/>
            <a:cxnLst/>
            <a:rect l="l" t="t" r="r" b="b"/>
            <a:pathLst>
              <a:path w="508000" h="304800">
                <a:moveTo>
                  <a:pt x="50801" y="0"/>
                </a:moveTo>
                <a:lnTo>
                  <a:pt x="457199" y="0"/>
                </a:lnTo>
                <a:cubicBezTo>
                  <a:pt x="485256" y="0"/>
                  <a:pt x="508000" y="22744"/>
                  <a:pt x="508000" y="50801"/>
                </a:cubicBezTo>
                <a:lnTo>
                  <a:pt x="508000" y="253999"/>
                </a:lnTo>
                <a:cubicBezTo>
                  <a:pt x="508000" y="282056"/>
                  <a:pt x="485256" y="304800"/>
                  <a:pt x="4571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38B2AC"/>
          </a:solidFill>
        </p:spPr>
      </p:sp>
      <p:sp>
        <p:nvSpPr>
          <p:cNvPr id="31" name="Text 29"/>
          <p:cNvSpPr/>
          <p:nvPr/>
        </p:nvSpPr>
        <p:spPr>
          <a:xfrm>
            <a:off x="5882640" y="5598170"/>
            <a:ext cx="584200" cy="304800"/>
          </a:xfrm>
          <a:prstGeom prst="rect">
            <a:avLst/>
          </a:prstGeom>
          <a:noFill/>
        </p:spPr>
        <p:txBody>
          <a:bodyPr wrap="square" lIns="101600" tIns="50800" rIns="101600" bIns="5080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1A202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通过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24560" y="5953770"/>
            <a:ext cx="55499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71809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断网/接口异常时自动切换为V1.0规则模式，界面无感知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13080" y="6578769"/>
            <a:ext cx="6080760" cy="1686560"/>
          </a:xfrm>
          <a:custGeom>
            <a:avLst/>
            <a:gdLst/>
            <a:ahLst/>
            <a:cxnLst/>
            <a:rect l="l" t="t" r="r" b="b"/>
            <a:pathLst>
              <a:path w="6080760" h="1686560">
                <a:moveTo>
                  <a:pt x="101598" y="0"/>
                </a:moveTo>
                <a:lnTo>
                  <a:pt x="5979162" y="0"/>
                </a:lnTo>
                <a:cubicBezTo>
                  <a:pt x="6035273" y="0"/>
                  <a:pt x="6080760" y="45487"/>
                  <a:pt x="6080760" y="101598"/>
                </a:cubicBezTo>
                <a:lnTo>
                  <a:pt x="6080760" y="1584962"/>
                </a:lnTo>
                <a:cubicBezTo>
                  <a:pt x="6080760" y="1641073"/>
                  <a:pt x="6035273" y="1686560"/>
                  <a:pt x="5979162" y="1686560"/>
                </a:cubicBezTo>
                <a:lnTo>
                  <a:pt x="101598" y="1686560"/>
                </a:lnTo>
                <a:cubicBezTo>
                  <a:pt x="45487" y="1686560"/>
                  <a:pt x="0" y="1641073"/>
                  <a:pt x="0" y="1584962"/>
                </a:cubicBezTo>
                <a:lnTo>
                  <a:pt x="0" y="101598"/>
                </a:lnTo>
                <a:cubicBezTo>
                  <a:pt x="0" y="45525"/>
                  <a:pt x="45525" y="0"/>
                  <a:pt x="101598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10160">
            <a:solidFill>
              <a:srgbClr val="4A5568">
                <a:alpha val="30196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0560" y="6736246"/>
            <a:ext cx="58674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界面验证截图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70560" y="7193446"/>
            <a:ext cx="1854200" cy="609600"/>
          </a:xfrm>
          <a:custGeom>
            <a:avLst/>
            <a:gdLst/>
            <a:ahLst/>
            <a:cxnLst/>
            <a:rect l="l" t="t" r="r" b="b"/>
            <a:pathLst>
              <a:path w="1854200" h="609600">
                <a:moveTo>
                  <a:pt x="50798" y="0"/>
                </a:moveTo>
                <a:lnTo>
                  <a:pt x="1803402" y="0"/>
                </a:lnTo>
                <a:cubicBezTo>
                  <a:pt x="1831457" y="0"/>
                  <a:pt x="1854200" y="22743"/>
                  <a:pt x="1854200" y="50798"/>
                </a:cubicBezTo>
                <a:lnTo>
                  <a:pt x="1854200" y="558802"/>
                </a:lnTo>
                <a:cubicBezTo>
                  <a:pt x="1854200" y="586857"/>
                  <a:pt x="1831457" y="609600"/>
                  <a:pt x="1803402" y="609600"/>
                </a:cubicBezTo>
                <a:lnTo>
                  <a:pt x="50798" y="609600"/>
                </a:lnTo>
                <a:cubicBezTo>
                  <a:pt x="22743" y="609600"/>
                  <a:pt x="0" y="586857"/>
                  <a:pt x="0" y="558802"/>
                </a:cubicBezTo>
                <a:lnTo>
                  <a:pt x="0" y="50798"/>
                </a:lnTo>
                <a:cubicBezTo>
                  <a:pt x="0" y="22743"/>
                  <a:pt x="22743" y="0"/>
                  <a:pt x="50798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</p:spPr>
      </p:sp>
      <p:sp>
        <p:nvSpPr>
          <p:cNvPr id="36" name="Shape 34"/>
          <p:cNvSpPr/>
          <p:nvPr/>
        </p:nvSpPr>
        <p:spPr>
          <a:xfrm>
            <a:off x="1515904" y="7383946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0" y="28575"/>
                </a:moveTo>
                <a:cubicBezTo>
                  <a:pt x="0" y="12814"/>
                  <a:pt x="12814" y="0"/>
                  <a:pt x="28575" y="0"/>
                </a:cubicBezTo>
                <a:lnTo>
                  <a:pt x="95324" y="0"/>
                </a:lnTo>
                <a:cubicBezTo>
                  <a:pt x="102915" y="0"/>
                  <a:pt x="110192" y="2991"/>
                  <a:pt x="115550" y="8349"/>
                </a:cubicBezTo>
                <a:lnTo>
                  <a:pt x="163101" y="55944"/>
                </a:lnTo>
                <a:cubicBezTo>
                  <a:pt x="168459" y="61302"/>
                  <a:pt x="171450" y="68580"/>
                  <a:pt x="171450" y="76170"/>
                </a:cubicBezTo>
                <a:lnTo>
                  <a:pt x="171450" y="200025"/>
                </a:lnTo>
                <a:cubicBezTo>
                  <a:pt x="171450" y="215786"/>
                  <a:pt x="158636" y="228600"/>
                  <a:pt x="142875" y="228600"/>
                </a:cubicBezTo>
                <a:lnTo>
                  <a:pt x="28575" y="228600"/>
                </a:lnTo>
                <a:cubicBezTo>
                  <a:pt x="12814" y="228600"/>
                  <a:pt x="0" y="215786"/>
                  <a:pt x="0" y="200025"/>
                </a:cubicBezTo>
                <a:lnTo>
                  <a:pt x="0" y="28575"/>
                </a:lnTo>
                <a:close/>
                <a:moveTo>
                  <a:pt x="92869" y="26119"/>
                </a:moveTo>
                <a:lnTo>
                  <a:pt x="92869" y="67866"/>
                </a:lnTo>
                <a:cubicBezTo>
                  <a:pt x="92869" y="73804"/>
                  <a:pt x="97646" y="78581"/>
                  <a:pt x="103584" y="78581"/>
                </a:cubicBezTo>
                <a:lnTo>
                  <a:pt x="145331" y="78581"/>
                </a:lnTo>
                <a:lnTo>
                  <a:pt x="92869" y="26119"/>
                </a:lnTo>
                <a:close/>
                <a:moveTo>
                  <a:pt x="53578" y="114300"/>
                </a:moveTo>
                <a:cubicBezTo>
                  <a:pt x="47640" y="114300"/>
                  <a:pt x="42863" y="119077"/>
                  <a:pt x="42863" y="125016"/>
                </a:cubicBezTo>
                <a:cubicBezTo>
                  <a:pt x="42863" y="130954"/>
                  <a:pt x="47640" y="135731"/>
                  <a:pt x="53578" y="135731"/>
                </a:cubicBezTo>
                <a:lnTo>
                  <a:pt x="117872" y="135731"/>
                </a:lnTo>
                <a:cubicBezTo>
                  <a:pt x="123810" y="135731"/>
                  <a:pt x="128588" y="130954"/>
                  <a:pt x="128588" y="125016"/>
                </a:cubicBezTo>
                <a:cubicBezTo>
                  <a:pt x="128588" y="119077"/>
                  <a:pt x="123810" y="114300"/>
                  <a:pt x="117872" y="114300"/>
                </a:cubicBezTo>
                <a:lnTo>
                  <a:pt x="53578" y="114300"/>
                </a:lnTo>
                <a:close/>
                <a:moveTo>
                  <a:pt x="53578" y="157163"/>
                </a:moveTo>
                <a:cubicBezTo>
                  <a:pt x="47640" y="157163"/>
                  <a:pt x="42863" y="161940"/>
                  <a:pt x="42863" y="167878"/>
                </a:cubicBezTo>
                <a:cubicBezTo>
                  <a:pt x="42863" y="173816"/>
                  <a:pt x="47640" y="178594"/>
                  <a:pt x="53578" y="178594"/>
                </a:cubicBezTo>
                <a:lnTo>
                  <a:pt x="117872" y="178594"/>
                </a:lnTo>
                <a:cubicBezTo>
                  <a:pt x="123810" y="178594"/>
                  <a:pt x="128588" y="173816"/>
                  <a:pt x="128588" y="167878"/>
                </a:cubicBezTo>
                <a:cubicBezTo>
                  <a:pt x="128588" y="161940"/>
                  <a:pt x="123810" y="157163"/>
                  <a:pt x="117872" y="157163"/>
                </a:cubicBezTo>
                <a:lnTo>
                  <a:pt x="53578" y="157163"/>
                </a:lnTo>
                <a:close/>
              </a:path>
            </a:pathLst>
          </a:custGeom>
          <a:solidFill>
            <a:srgbClr val="718096"/>
          </a:solidFill>
        </p:spPr>
      </p:sp>
      <p:sp>
        <p:nvSpPr>
          <p:cNvPr id="37" name="Shape 35"/>
          <p:cNvSpPr/>
          <p:nvPr/>
        </p:nvSpPr>
        <p:spPr>
          <a:xfrm>
            <a:off x="2627948" y="7193446"/>
            <a:ext cx="1854200" cy="609600"/>
          </a:xfrm>
          <a:custGeom>
            <a:avLst/>
            <a:gdLst/>
            <a:ahLst/>
            <a:cxnLst/>
            <a:rect l="l" t="t" r="r" b="b"/>
            <a:pathLst>
              <a:path w="1854200" h="609600">
                <a:moveTo>
                  <a:pt x="50798" y="0"/>
                </a:moveTo>
                <a:lnTo>
                  <a:pt x="1803402" y="0"/>
                </a:lnTo>
                <a:cubicBezTo>
                  <a:pt x="1831457" y="0"/>
                  <a:pt x="1854200" y="22743"/>
                  <a:pt x="1854200" y="50798"/>
                </a:cubicBezTo>
                <a:lnTo>
                  <a:pt x="1854200" y="558802"/>
                </a:lnTo>
                <a:cubicBezTo>
                  <a:pt x="1854200" y="586857"/>
                  <a:pt x="1831457" y="609600"/>
                  <a:pt x="1803402" y="609600"/>
                </a:cubicBezTo>
                <a:lnTo>
                  <a:pt x="50798" y="609600"/>
                </a:lnTo>
                <a:cubicBezTo>
                  <a:pt x="22743" y="609600"/>
                  <a:pt x="0" y="586857"/>
                  <a:pt x="0" y="558802"/>
                </a:cubicBezTo>
                <a:lnTo>
                  <a:pt x="0" y="50798"/>
                </a:lnTo>
                <a:cubicBezTo>
                  <a:pt x="0" y="22743"/>
                  <a:pt x="22743" y="0"/>
                  <a:pt x="50798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</p:spPr>
      </p:sp>
      <p:sp>
        <p:nvSpPr>
          <p:cNvPr id="38" name="Shape 36"/>
          <p:cNvSpPr/>
          <p:nvPr/>
        </p:nvSpPr>
        <p:spPr>
          <a:xfrm>
            <a:off x="3444716" y="738394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28575" y="20672"/>
                  <a:pt x="22190" y="14288"/>
                  <a:pt x="14288" y="14288"/>
                </a:cubicBezTo>
                <a:cubicBezTo>
                  <a:pt x="6385" y="14288"/>
                  <a:pt x="0" y="20672"/>
                  <a:pt x="0" y="28575"/>
                </a:cubicBezTo>
                <a:lnTo>
                  <a:pt x="0" y="178594"/>
                </a:lnTo>
                <a:cubicBezTo>
                  <a:pt x="0" y="198328"/>
                  <a:pt x="15984" y="214313"/>
                  <a:pt x="35719" y="214313"/>
                </a:cubicBezTo>
                <a:lnTo>
                  <a:pt x="214313" y="214313"/>
                </a:lnTo>
                <a:cubicBezTo>
                  <a:pt x="222215" y="214313"/>
                  <a:pt x="228600" y="207928"/>
                  <a:pt x="228600" y="200025"/>
                </a:cubicBezTo>
                <a:cubicBezTo>
                  <a:pt x="228600" y="192122"/>
                  <a:pt x="222215" y="185738"/>
                  <a:pt x="214313" y="185738"/>
                </a:cubicBezTo>
                <a:lnTo>
                  <a:pt x="35719" y="185738"/>
                </a:lnTo>
                <a:cubicBezTo>
                  <a:pt x="31790" y="185738"/>
                  <a:pt x="28575" y="182523"/>
                  <a:pt x="28575" y="178594"/>
                </a:cubicBezTo>
                <a:lnTo>
                  <a:pt x="28575" y="28575"/>
                </a:lnTo>
                <a:close/>
                <a:moveTo>
                  <a:pt x="210116" y="67241"/>
                </a:moveTo>
                <a:cubicBezTo>
                  <a:pt x="215697" y="61659"/>
                  <a:pt x="215697" y="52596"/>
                  <a:pt x="210116" y="47015"/>
                </a:cubicBezTo>
                <a:cubicBezTo>
                  <a:pt x="204534" y="41434"/>
                  <a:pt x="195471" y="41434"/>
                  <a:pt x="189890" y="47015"/>
                </a:cubicBezTo>
                <a:lnTo>
                  <a:pt x="142875" y="94074"/>
                </a:lnTo>
                <a:lnTo>
                  <a:pt x="117247" y="68491"/>
                </a:lnTo>
                <a:cubicBezTo>
                  <a:pt x="111666" y="62910"/>
                  <a:pt x="102602" y="62910"/>
                  <a:pt x="97021" y="68491"/>
                </a:cubicBezTo>
                <a:lnTo>
                  <a:pt x="54159" y="111353"/>
                </a:lnTo>
                <a:cubicBezTo>
                  <a:pt x="48578" y="116934"/>
                  <a:pt x="48578" y="125998"/>
                  <a:pt x="54159" y="131579"/>
                </a:cubicBezTo>
                <a:cubicBezTo>
                  <a:pt x="59740" y="137160"/>
                  <a:pt x="68803" y="137160"/>
                  <a:pt x="74384" y="131579"/>
                </a:cubicBezTo>
                <a:lnTo>
                  <a:pt x="107156" y="98807"/>
                </a:lnTo>
                <a:lnTo>
                  <a:pt x="132784" y="124435"/>
                </a:lnTo>
                <a:cubicBezTo>
                  <a:pt x="138366" y="130016"/>
                  <a:pt x="147429" y="130016"/>
                  <a:pt x="153010" y="124435"/>
                </a:cubicBezTo>
                <a:lnTo>
                  <a:pt x="210160" y="67285"/>
                </a:lnTo>
                <a:close/>
              </a:path>
            </a:pathLst>
          </a:custGeom>
          <a:solidFill>
            <a:srgbClr val="718096"/>
          </a:solidFill>
        </p:spPr>
      </p:sp>
      <p:sp>
        <p:nvSpPr>
          <p:cNvPr id="39" name="Shape 37"/>
          <p:cNvSpPr/>
          <p:nvPr/>
        </p:nvSpPr>
        <p:spPr>
          <a:xfrm>
            <a:off x="4585494" y="7193446"/>
            <a:ext cx="1854200" cy="609600"/>
          </a:xfrm>
          <a:custGeom>
            <a:avLst/>
            <a:gdLst/>
            <a:ahLst/>
            <a:cxnLst/>
            <a:rect l="l" t="t" r="r" b="b"/>
            <a:pathLst>
              <a:path w="1854200" h="609600">
                <a:moveTo>
                  <a:pt x="50798" y="0"/>
                </a:moveTo>
                <a:lnTo>
                  <a:pt x="1803402" y="0"/>
                </a:lnTo>
                <a:cubicBezTo>
                  <a:pt x="1831457" y="0"/>
                  <a:pt x="1854200" y="22743"/>
                  <a:pt x="1854200" y="50798"/>
                </a:cubicBezTo>
                <a:lnTo>
                  <a:pt x="1854200" y="558802"/>
                </a:lnTo>
                <a:cubicBezTo>
                  <a:pt x="1854200" y="586857"/>
                  <a:pt x="1831457" y="609600"/>
                  <a:pt x="1803402" y="609600"/>
                </a:cubicBezTo>
                <a:lnTo>
                  <a:pt x="50798" y="609600"/>
                </a:lnTo>
                <a:cubicBezTo>
                  <a:pt x="22743" y="609600"/>
                  <a:pt x="0" y="586857"/>
                  <a:pt x="0" y="558802"/>
                </a:cubicBezTo>
                <a:lnTo>
                  <a:pt x="0" y="50798"/>
                </a:lnTo>
                <a:cubicBezTo>
                  <a:pt x="0" y="22743"/>
                  <a:pt x="22743" y="0"/>
                  <a:pt x="50798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</p:spPr>
      </p:sp>
      <p:sp>
        <p:nvSpPr>
          <p:cNvPr id="40" name="Shape 38"/>
          <p:cNvSpPr/>
          <p:nvPr/>
        </p:nvSpPr>
        <p:spPr>
          <a:xfrm>
            <a:off x="5402263" y="738394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3578" y="25003"/>
                </a:moveTo>
                <a:cubicBezTo>
                  <a:pt x="53578" y="11207"/>
                  <a:pt x="64785" y="0"/>
                  <a:pt x="78581" y="0"/>
                </a:cubicBezTo>
                <a:lnTo>
                  <a:pt x="89297" y="0"/>
                </a:lnTo>
                <a:cubicBezTo>
                  <a:pt x="97200" y="0"/>
                  <a:pt x="103584" y="6385"/>
                  <a:pt x="103584" y="14288"/>
                </a:cubicBezTo>
                <a:lnTo>
                  <a:pt x="103584" y="214313"/>
                </a:lnTo>
                <a:cubicBezTo>
                  <a:pt x="103584" y="222215"/>
                  <a:pt x="97200" y="228600"/>
                  <a:pt x="89297" y="228600"/>
                </a:cubicBezTo>
                <a:lnTo>
                  <a:pt x="75009" y="228600"/>
                </a:lnTo>
                <a:cubicBezTo>
                  <a:pt x="61704" y="228600"/>
                  <a:pt x="50497" y="219492"/>
                  <a:pt x="47327" y="207169"/>
                </a:cubicBezTo>
                <a:cubicBezTo>
                  <a:pt x="47015" y="207169"/>
                  <a:pt x="46747" y="207169"/>
                  <a:pt x="46434" y="207169"/>
                </a:cubicBezTo>
                <a:cubicBezTo>
                  <a:pt x="26700" y="207169"/>
                  <a:pt x="10716" y="191185"/>
                  <a:pt x="10716" y="171450"/>
                </a:cubicBezTo>
                <a:cubicBezTo>
                  <a:pt x="10716" y="163413"/>
                  <a:pt x="13395" y="156002"/>
                  <a:pt x="17859" y="150019"/>
                </a:cubicBezTo>
                <a:cubicBezTo>
                  <a:pt x="9198" y="143500"/>
                  <a:pt x="3572" y="133142"/>
                  <a:pt x="3572" y="121444"/>
                </a:cubicBezTo>
                <a:cubicBezTo>
                  <a:pt x="3572" y="107647"/>
                  <a:pt x="11430" y="95637"/>
                  <a:pt x="22860" y="89699"/>
                </a:cubicBezTo>
                <a:cubicBezTo>
                  <a:pt x="19690" y="84341"/>
                  <a:pt x="17859" y="78090"/>
                  <a:pt x="17859" y="71438"/>
                </a:cubicBezTo>
                <a:cubicBezTo>
                  <a:pt x="17859" y="51703"/>
                  <a:pt x="33844" y="35719"/>
                  <a:pt x="53578" y="35719"/>
                </a:cubicBezTo>
                <a:lnTo>
                  <a:pt x="53578" y="25003"/>
                </a:lnTo>
                <a:close/>
                <a:moveTo>
                  <a:pt x="175022" y="25003"/>
                </a:moveTo>
                <a:lnTo>
                  <a:pt x="175022" y="35719"/>
                </a:lnTo>
                <a:cubicBezTo>
                  <a:pt x="194756" y="35719"/>
                  <a:pt x="210741" y="51703"/>
                  <a:pt x="210741" y="71438"/>
                </a:cubicBezTo>
                <a:cubicBezTo>
                  <a:pt x="210741" y="78135"/>
                  <a:pt x="208910" y="84386"/>
                  <a:pt x="205740" y="89699"/>
                </a:cubicBezTo>
                <a:cubicBezTo>
                  <a:pt x="217215" y="95637"/>
                  <a:pt x="225028" y="107603"/>
                  <a:pt x="225028" y="121444"/>
                </a:cubicBezTo>
                <a:cubicBezTo>
                  <a:pt x="225028" y="133142"/>
                  <a:pt x="219402" y="143500"/>
                  <a:pt x="210741" y="150019"/>
                </a:cubicBezTo>
                <a:cubicBezTo>
                  <a:pt x="215205" y="156002"/>
                  <a:pt x="217884" y="163413"/>
                  <a:pt x="217884" y="171450"/>
                </a:cubicBezTo>
                <a:cubicBezTo>
                  <a:pt x="217884" y="191185"/>
                  <a:pt x="201900" y="207169"/>
                  <a:pt x="182166" y="207169"/>
                </a:cubicBezTo>
                <a:cubicBezTo>
                  <a:pt x="181853" y="207169"/>
                  <a:pt x="181585" y="207169"/>
                  <a:pt x="181273" y="207169"/>
                </a:cubicBezTo>
                <a:cubicBezTo>
                  <a:pt x="178103" y="219492"/>
                  <a:pt x="166896" y="228600"/>
                  <a:pt x="153591" y="228600"/>
                </a:cubicBezTo>
                <a:lnTo>
                  <a:pt x="139303" y="228600"/>
                </a:lnTo>
                <a:cubicBezTo>
                  <a:pt x="131400" y="228600"/>
                  <a:pt x="125016" y="222215"/>
                  <a:pt x="125016" y="214313"/>
                </a:cubicBezTo>
                <a:lnTo>
                  <a:pt x="125016" y="14288"/>
                </a:lnTo>
                <a:cubicBezTo>
                  <a:pt x="125016" y="6385"/>
                  <a:pt x="131400" y="0"/>
                  <a:pt x="139303" y="0"/>
                </a:cubicBezTo>
                <a:lnTo>
                  <a:pt x="150019" y="0"/>
                </a:lnTo>
                <a:cubicBezTo>
                  <a:pt x="163815" y="0"/>
                  <a:pt x="175022" y="11207"/>
                  <a:pt x="175022" y="25003"/>
                </a:cubicBezTo>
                <a:close/>
              </a:path>
            </a:pathLst>
          </a:custGeom>
          <a:solidFill>
            <a:srgbClr val="718096"/>
          </a:solidFill>
        </p:spPr>
      </p:sp>
      <p:sp>
        <p:nvSpPr>
          <p:cNvPr id="41" name="Text 39"/>
          <p:cNvSpPr/>
          <p:nvPr/>
        </p:nvSpPr>
        <p:spPr>
          <a:xfrm>
            <a:off x="632460" y="7904646"/>
            <a:ext cx="58420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71809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V2.0 AI文案生成/趋势预测界面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812280" y="1833880"/>
            <a:ext cx="8925560" cy="6436360"/>
          </a:xfrm>
          <a:custGeom>
            <a:avLst/>
            <a:gdLst/>
            <a:ahLst/>
            <a:cxnLst/>
            <a:rect l="l" t="t" r="r" b="b"/>
            <a:pathLst>
              <a:path w="8925560" h="6436360">
                <a:moveTo>
                  <a:pt x="101630" y="0"/>
                </a:moveTo>
                <a:lnTo>
                  <a:pt x="8823930" y="0"/>
                </a:lnTo>
                <a:cubicBezTo>
                  <a:pt x="8880059" y="0"/>
                  <a:pt x="8925560" y="45501"/>
                  <a:pt x="8925560" y="101630"/>
                </a:cubicBezTo>
                <a:lnTo>
                  <a:pt x="8925560" y="6334730"/>
                </a:lnTo>
                <a:cubicBezTo>
                  <a:pt x="8925560" y="6390859"/>
                  <a:pt x="8880059" y="6436360"/>
                  <a:pt x="8823930" y="6436360"/>
                </a:cubicBezTo>
                <a:lnTo>
                  <a:pt x="101630" y="6436360"/>
                </a:lnTo>
                <a:cubicBezTo>
                  <a:pt x="45501" y="6436360"/>
                  <a:pt x="0" y="6390859"/>
                  <a:pt x="0" y="6334730"/>
                </a:cubicBezTo>
                <a:lnTo>
                  <a:pt x="0" y="101630"/>
                </a:lnTo>
                <a:cubicBezTo>
                  <a:pt x="0" y="45501"/>
                  <a:pt x="45501" y="0"/>
                  <a:pt x="101630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10160">
            <a:solidFill>
              <a:srgbClr val="38B2AC">
                <a:alpha val="30196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020560" y="2042170"/>
            <a:ext cx="8636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38B2A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V1.0 vs V2.0核心指标对比</a:t>
            </a:r>
            <a:endParaRPr lang="en-US" sz="16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/>
        </p:nvGraphicFramePr>
        <p:xfrm>
          <a:off x="7020560" y="2550170"/>
          <a:ext cx="8509001" cy="3759200"/>
        </p:xfrm>
        <a:graphic>
          <a:graphicData uri="http://schemas.openxmlformats.org/drawingml/2006/table">
            <a:tbl>
              <a:tblPr/>
              <a:tblGrid>
                <a:gridCol w="2543797"/>
                <a:gridCol w="1818815"/>
                <a:gridCol w="3052556"/>
                <a:gridCol w="1093833"/>
              </a:tblGrid>
              <a:tr h="75184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38B2A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指标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0320" cap="flat" cmpd="sng" algn="ctr">
                      <a:solidFill>
                        <a:srgbClr val="38B2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V1.0（基础版）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0320" cap="flat" cmpd="sng" algn="ctr">
                      <a:solidFill>
                        <a:srgbClr val="38B2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38B2A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V2.0（AI版）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0320" cap="flat" cmpd="sng" algn="ctr">
                      <a:solidFill>
                        <a:srgbClr val="38B2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38B2A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提升效果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0320" cap="flat" cmpd="sng" algn="ctr">
                      <a:solidFill>
                        <a:srgbClr val="38B2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751840">
                <a:tc>
                  <a:txBody>
                    <a:bodyPr/>
                    <a:lstStyle/>
                    <a:p>
                      <a:r>
                        <a:rPr lang="en-US" sz="1400" b="1" u="none" dirty="0">
                          <a:solidFill>
                            <a:srgbClr val="38B2A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风险等级判定耗时（1000人）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10分钟（规则匹配）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1分钟（AI分析）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提升90%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751840">
                <a:tc>
                  <a:txBody>
                    <a:bodyPr/>
                    <a:lstStyle/>
                    <a:p>
                      <a:r>
                        <a:rPr lang="en-US" sz="1400" b="1" u="none" dirty="0">
                          <a:solidFill>
                            <a:srgbClr val="38B2A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预警文案生成耗时（单条）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5分钟（人工编写）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10秒（AI生成+界面微调）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提升96%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751840">
                <a:tc>
                  <a:txBody>
                    <a:bodyPr/>
                    <a:lstStyle/>
                    <a:p>
                      <a:r>
                        <a:rPr lang="en-US" sz="1400" b="1" u="none" dirty="0">
                          <a:solidFill>
                            <a:srgbClr val="38B2A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干预效果识别效率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人工分析，需2天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AI辅助分析，在主任端界面2小时完成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提升95%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751840">
                <a:tc>
                  <a:txBody>
                    <a:bodyPr/>
                    <a:lstStyle/>
                    <a:p>
                      <a:r>
                        <a:rPr lang="en-US" sz="1400" b="1" u="none" dirty="0">
                          <a:solidFill>
                            <a:srgbClr val="38B2A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潜在风险学生识别率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75%（仅匹配规则）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90%（AI结合历史数据）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E2E8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提升20%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45" name="Shape 42"/>
          <p:cNvSpPr/>
          <p:nvPr/>
        </p:nvSpPr>
        <p:spPr>
          <a:xfrm>
            <a:off x="7020560" y="6512570"/>
            <a:ext cx="4178300" cy="1549400"/>
          </a:xfrm>
          <a:custGeom>
            <a:avLst/>
            <a:gdLst/>
            <a:ahLst/>
            <a:cxnLst/>
            <a:rect l="l" t="t" r="r" b="b"/>
            <a:pathLst>
              <a:path w="4178300" h="1549400">
                <a:moveTo>
                  <a:pt x="50805" y="0"/>
                </a:moveTo>
                <a:lnTo>
                  <a:pt x="4127495" y="0"/>
                </a:lnTo>
                <a:cubicBezTo>
                  <a:pt x="4155554" y="0"/>
                  <a:pt x="4178300" y="22746"/>
                  <a:pt x="4178300" y="50805"/>
                </a:cubicBezTo>
                <a:lnTo>
                  <a:pt x="4178300" y="1498595"/>
                </a:lnTo>
                <a:cubicBezTo>
                  <a:pt x="4178300" y="1526654"/>
                  <a:pt x="4155554" y="1549400"/>
                  <a:pt x="4127495" y="1549400"/>
                </a:cubicBezTo>
                <a:lnTo>
                  <a:pt x="50805" y="1549400"/>
                </a:lnTo>
                <a:cubicBezTo>
                  <a:pt x="22746" y="1549400"/>
                  <a:pt x="0" y="1526654"/>
                  <a:pt x="0" y="1498595"/>
                </a:cubicBezTo>
                <a:lnTo>
                  <a:pt x="0" y="50805"/>
                </a:lnTo>
                <a:cubicBezTo>
                  <a:pt x="0" y="22765"/>
                  <a:pt x="22765" y="0"/>
                  <a:pt x="50805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</p:spPr>
      </p:sp>
      <p:sp>
        <p:nvSpPr>
          <p:cNvPr id="46" name="Text 43"/>
          <p:cNvSpPr/>
          <p:nvPr/>
        </p:nvSpPr>
        <p:spPr>
          <a:xfrm>
            <a:off x="7122160" y="6664970"/>
            <a:ext cx="39751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V1.0 人工编写预警文案</a:t>
            </a:r>
            <a:endParaRPr lang="en-US" sz="1600" dirty="0"/>
          </a:p>
        </p:txBody>
      </p:sp>
      <p:sp>
        <p:nvSpPr>
          <p:cNvPr id="47" name="Shape 44"/>
          <p:cNvSpPr/>
          <p:nvPr/>
        </p:nvSpPr>
        <p:spPr>
          <a:xfrm>
            <a:off x="7172960" y="7071370"/>
            <a:ext cx="3873500" cy="812800"/>
          </a:xfrm>
          <a:custGeom>
            <a:avLst/>
            <a:gdLst/>
            <a:ahLst/>
            <a:cxnLst/>
            <a:rect l="l" t="t" r="r" b="b"/>
            <a:pathLst>
              <a:path w="3873500" h="812800">
                <a:moveTo>
                  <a:pt x="50800" y="0"/>
                </a:moveTo>
                <a:lnTo>
                  <a:pt x="3822700" y="0"/>
                </a:lnTo>
                <a:cubicBezTo>
                  <a:pt x="3850737" y="0"/>
                  <a:pt x="3873500" y="22763"/>
                  <a:pt x="3873500" y="50800"/>
                </a:cubicBezTo>
                <a:lnTo>
                  <a:pt x="3873500" y="762000"/>
                </a:lnTo>
                <a:cubicBezTo>
                  <a:pt x="3873500" y="790037"/>
                  <a:pt x="3850737" y="812800"/>
                  <a:pt x="3822700" y="812800"/>
                </a:cubicBezTo>
                <a:lnTo>
                  <a:pt x="50800" y="812800"/>
                </a:lnTo>
                <a:cubicBezTo>
                  <a:pt x="22763" y="812800"/>
                  <a:pt x="0" y="790037"/>
                  <a:pt x="0" y="762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</p:spPr>
      </p:sp>
      <p:sp>
        <p:nvSpPr>
          <p:cNvPr id="48" name="Shape 45"/>
          <p:cNvSpPr/>
          <p:nvPr/>
        </p:nvSpPr>
        <p:spPr>
          <a:xfrm>
            <a:off x="8983980" y="7117246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75071" y="10517"/>
                </a:moveTo>
                <a:lnTo>
                  <a:pt x="152797" y="32792"/>
                </a:lnTo>
                <a:lnTo>
                  <a:pt x="221208" y="101203"/>
                </a:lnTo>
                <a:lnTo>
                  <a:pt x="243483" y="78929"/>
                </a:lnTo>
                <a:cubicBezTo>
                  <a:pt x="250230" y="72231"/>
                  <a:pt x="254000" y="63103"/>
                  <a:pt x="254000" y="53578"/>
                </a:cubicBezTo>
                <a:cubicBezTo>
                  <a:pt x="254000" y="44053"/>
                  <a:pt x="250230" y="34925"/>
                  <a:pt x="243483" y="28228"/>
                </a:cubicBezTo>
                <a:lnTo>
                  <a:pt x="225772" y="10517"/>
                </a:lnTo>
                <a:cubicBezTo>
                  <a:pt x="219075" y="3770"/>
                  <a:pt x="209947" y="0"/>
                  <a:pt x="200422" y="0"/>
                </a:cubicBezTo>
                <a:cubicBezTo>
                  <a:pt x="190897" y="0"/>
                  <a:pt x="181769" y="3770"/>
                  <a:pt x="175071" y="10517"/>
                </a:cubicBezTo>
                <a:close/>
                <a:moveTo>
                  <a:pt x="135979" y="49609"/>
                </a:moveTo>
                <a:lnTo>
                  <a:pt x="29220" y="156319"/>
                </a:lnTo>
                <a:cubicBezTo>
                  <a:pt x="23912" y="161627"/>
                  <a:pt x="20042" y="168275"/>
                  <a:pt x="18008" y="175518"/>
                </a:cubicBezTo>
                <a:lnTo>
                  <a:pt x="446" y="238919"/>
                </a:lnTo>
                <a:cubicBezTo>
                  <a:pt x="-695" y="243036"/>
                  <a:pt x="446" y="247501"/>
                  <a:pt x="3522" y="250527"/>
                </a:cubicBezTo>
                <a:cubicBezTo>
                  <a:pt x="6598" y="253554"/>
                  <a:pt x="11013" y="254744"/>
                  <a:pt x="15131" y="253603"/>
                </a:cubicBezTo>
                <a:lnTo>
                  <a:pt x="78532" y="235992"/>
                </a:lnTo>
                <a:cubicBezTo>
                  <a:pt x="85775" y="233958"/>
                  <a:pt x="92373" y="230138"/>
                  <a:pt x="97730" y="224780"/>
                </a:cubicBezTo>
                <a:lnTo>
                  <a:pt x="204391" y="118021"/>
                </a:lnTo>
                <a:lnTo>
                  <a:pt x="135979" y="49609"/>
                </a:lnTo>
                <a:close/>
              </a:path>
            </a:pathLst>
          </a:custGeom>
          <a:solidFill>
            <a:srgbClr val="718096"/>
          </a:solidFill>
        </p:spPr>
      </p:sp>
      <p:sp>
        <p:nvSpPr>
          <p:cNvPr id="49" name="Text 46"/>
          <p:cNvSpPr/>
          <p:nvPr/>
        </p:nvSpPr>
        <p:spPr>
          <a:xfrm>
            <a:off x="8509635" y="7432204"/>
            <a:ext cx="12065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71809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手动编写</a:t>
            </a:r>
            <a:endParaRPr lang="en-US" sz="1600" dirty="0"/>
          </a:p>
        </p:txBody>
      </p:sp>
      <p:sp>
        <p:nvSpPr>
          <p:cNvPr id="50" name="Text 47"/>
          <p:cNvSpPr/>
          <p:nvPr/>
        </p:nvSpPr>
        <p:spPr>
          <a:xfrm>
            <a:off x="8509635" y="7635242"/>
            <a:ext cx="12065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71809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耗时长/表述不一</a:t>
            </a:r>
            <a:endParaRPr lang="en-US" sz="1600" dirty="0"/>
          </a:p>
        </p:txBody>
      </p:sp>
      <p:sp>
        <p:nvSpPr>
          <p:cNvPr id="51" name="Shape 48"/>
          <p:cNvSpPr/>
          <p:nvPr/>
        </p:nvSpPr>
        <p:spPr>
          <a:xfrm>
            <a:off x="11358880" y="6517650"/>
            <a:ext cx="4175760" cy="1534160"/>
          </a:xfrm>
          <a:custGeom>
            <a:avLst/>
            <a:gdLst/>
            <a:ahLst/>
            <a:cxnLst/>
            <a:rect l="l" t="t" r="r" b="b"/>
            <a:pathLst>
              <a:path w="4175760" h="1534160">
                <a:moveTo>
                  <a:pt x="50796" y="0"/>
                </a:moveTo>
                <a:lnTo>
                  <a:pt x="4124964" y="0"/>
                </a:lnTo>
                <a:cubicBezTo>
                  <a:pt x="4153018" y="0"/>
                  <a:pt x="4175760" y="22742"/>
                  <a:pt x="4175760" y="50796"/>
                </a:cubicBezTo>
                <a:lnTo>
                  <a:pt x="4175760" y="1483364"/>
                </a:lnTo>
                <a:cubicBezTo>
                  <a:pt x="4175760" y="1511418"/>
                  <a:pt x="4153018" y="1534160"/>
                  <a:pt x="4124964" y="1534160"/>
                </a:cubicBezTo>
                <a:lnTo>
                  <a:pt x="50796" y="1534160"/>
                </a:lnTo>
                <a:cubicBezTo>
                  <a:pt x="22742" y="1534160"/>
                  <a:pt x="0" y="1511418"/>
                  <a:pt x="0" y="1483364"/>
                </a:cubicBezTo>
                <a:lnTo>
                  <a:pt x="0" y="50796"/>
                </a:lnTo>
                <a:cubicBezTo>
                  <a:pt x="0" y="22761"/>
                  <a:pt x="22761" y="0"/>
                  <a:pt x="50796" y="0"/>
                </a:cubicBezTo>
                <a:close/>
              </a:path>
            </a:pathLst>
          </a:custGeom>
          <a:solidFill>
            <a:srgbClr val="38B2AC">
              <a:alpha val="10196"/>
            </a:srgbClr>
          </a:solidFill>
          <a:ln w="10160">
            <a:solidFill>
              <a:srgbClr val="38B2AC">
                <a:alpha val="30196"/>
              </a:srgbClr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11465560" y="6675127"/>
            <a:ext cx="39624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38B2A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V2.0 AI生成预警文案</a:t>
            </a:r>
            <a:endParaRPr lang="en-US" sz="1600" dirty="0"/>
          </a:p>
        </p:txBody>
      </p:sp>
      <p:sp>
        <p:nvSpPr>
          <p:cNvPr id="53" name="Shape 50"/>
          <p:cNvSpPr/>
          <p:nvPr/>
        </p:nvSpPr>
        <p:spPr>
          <a:xfrm>
            <a:off x="11516360" y="7081527"/>
            <a:ext cx="3860800" cy="812800"/>
          </a:xfrm>
          <a:custGeom>
            <a:avLst/>
            <a:gdLst/>
            <a:ahLst/>
            <a:cxnLst/>
            <a:rect l="l" t="t" r="r" b="b"/>
            <a:pathLst>
              <a:path w="3860800" h="812800">
                <a:moveTo>
                  <a:pt x="50800" y="0"/>
                </a:moveTo>
                <a:lnTo>
                  <a:pt x="3810000" y="0"/>
                </a:lnTo>
                <a:cubicBezTo>
                  <a:pt x="3838037" y="0"/>
                  <a:pt x="3860800" y="22763"/>
                  <a:pt x="3860800" y="50800"/>
                </a:cubicBezTo>
                <a:lnTo>
                  <a:pt x="3860800" y="762000"/>
                </a:lnTo>
                <a:cubicBezTo>
                  <a:pt x="3860800" y="790037"/>
                  <a:pt x="3838037" y="812800"/>
                  <a:pt x="3810000" y="812800"/>
                </a:cubicBezTo>
                <a:lnTo>
                  <a:pt x="50800" y="812800"/>
                </a:lnTo>
                <a:cubicBezTo>
                  <a:pt x="22763" y="812800"/>
                  <a:pt x="0" y="790037"/>
                  <a:pt x="0" y="762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8B2AC">
              <a:alpha val="10196"/>
            </a:srgbClr>
          </a:solidFill>
        </p:spPr>
      </p:sp>
      <p:sp>
        <p:nvSpPr>
          <p:cNvPr id="54" name="Shape 51"/>
          <p:cNvSpPr/>
          <p:nvPr/>
        </p:nvSpPr>
        <p:spPr>
          <a:xfrm>
            <a:off x="13285470" y="7127404"/>
            <a:ext cx="317500" cy="254000"/>
          </a:xfrm>
          <a:custGeom>
            <a:avLst/>
            <a:gdLst/>
            <a:ahLst/>
            <a:cxnLst/>
            <a:rect l="l" t="t" r="r" b="b"/>
            <a:pathLst>
              <a:path w="317500" h="254000">
                <a:moveTo>
                  <a:pt x="174625" y="0"/>
                </a:moveTo>
                <a:cubicBezTo>
                  <a:pt x="174625" y="-8781"/>
                  <a:pt x="167531" y="-15875"/>
                  <a:pt x="158750" y="-15875"/>
                </a:cubicBezTo>
                <a:cubicBezTo>
                  <a:pt x="149969" y="-15875"/>
                  <a:pt x="142875" y="-8781"/>
                  <a:pt x="142875" y="0"/>
                </a:cubicBezTo>
                <a:lnTo>
                  <a:pt x="142875" y="31750"/>
                </a:lnTo>
                <a:lnTo>
                  <a:pt x="95250" y="31750"/>
                </a:lnTo>
                <a:cubicBezTo>
                  <a:pt x="68957" y="31750"/>
                  <a:pt x="47625" y="53082"/>
                  <a:pt x="47625" y="79375"/>
                </a:cubicBezTo>
                <a:lnTo>
                  <a:pt x="47625" y="190500"/>
                </a:lnTo>
                <a:cubicBezTo>
                  <a:pt x="47625" y="216793"/>
                  <a:pt x="68957" y="238125"/>
                  <a:pt x="95250" y="238125"/>
                </a:cubicBezTo>
                <a:lnTo>
                  <a:pt x="222250" y="238125"/>
                </a:lnTo>
                <a:cubicBezTo>
                  <a:pt x="248543" y="238125"/>
                  <a:pt x="269875" y="216793"/>
                  <a:pt x="269875" y="190500"/>
                </a:cubicBezTo>
                <a:lnTo>
                  <a:pt x="269875" y="79375"/>
                </a:lnTo>
                <a:cubicBezTo>
                  <a:pt x="269875" y="53082"/>
                  <a:pt x="248543" y="31750"/>
                  <a:pt x="222250" y="31750"/>
                </a:cubicBezTo>
                <a:lnTo>
                  <a:pt x="174625" y="31750"/>
                </a:lnTo>
                <a:lnTo>
                  <a:pt x="174625" y="0"/>
                </a:lnTo>
                <a:close/>
                <a:moveTo>
                  <a:pt x="79375" y="182563"/>
                </a:moveTo>
                <a:cubicBezTo>
                  <a:pt x="79375" y="175964"/>
                  <a:pt x="84683" y="170656"/>
                  <a:pt x="91281" y="170656"/>
                </a:cubicBezTo>
                <a:lnTo>
                  <a:pt x="107156" y="170656"/>
                </a:lnTo>
                <a:cubicBezTo>
                  <a:pt x="113754" y="170656"/>
                  <a:pt x="119063" y="175964"/>
                  <a:pt x="119063" y="182563"/>
                </a:cubicBezTo>
                <a:cubicBezTo>
                  <a:pt x="119063" y="189161"/>
                  <a:pt x="113754" y="194469"/>
                  <a:pt x="107156" y="194469"/>
                </a:cubicBezTo>
                <a:lnTo>
                  <a:pt x="91281" y="194469"/>
                </a:lnTo>
                <a:cubicBezTo>
                  <a:pt x="84683" y="194469"/>
                  <a:pt x="79375" y="189161"/>
                  <a:pt x="79375" y="182563"/>
                </a:cubicBezTo>
                <a:close/>
                <a:moveTo>
                  <a:pt x="138906" y="182563"/>
                </a:moveTo>
                <a:cubicBezTo>
                  <a:pt x="138906" y="175964"/>
                  <a:pt x="144214" y="170656"/>
                  <a:pt x="150813" y="170656"/>
                </a:cubicBezTo>
                <a:lnTo>
                  <a:pt x="166688" y="170656"/>
                </a:lnTo>
                <a:cubicBezTo>
                  <a:pt x="173286" y="170656"/>
                  <a:pt x="178594" y="175964"/>
                  <a:pt x="178594" y="182563"/>
                </a:cubicBezTo>
                <a:cubicBezTo>
                  <a:pt x="178594" y="189161"/>
                  <a:pt x="173286" y="194469"/>
                  <a:pt x="166688" y="194469"/>
                </a:cubicBezTo>
                <a:lnTo>
                  <a:pt x="150813" y="194469"/>
                </a:lnTo>
                <a:cubicBezTo>
                  <a:pt x="144214" y="194469"/>
                  <a:pt x="138906" y="189161"/>
                  <a:pt x="138906" y="182563"/>
                </a:cubicBezTo>
                <a:close/>
                <a:moveTo>
                  <a:pt x="198438" y="182563"/>
                </a:moveTo>
                <a:cubicBezTo>
                  <a:pt x="198438" y="175964"/>
                  <a:pt x="203746" y="170656"/>
                  <a:pt x="210344" y="170656"/>
                </a:cubicBezTo>
                <a:lnTo>
                  <a:pt x="226219" y="170656"/>
                </a:lnTo>
                <a:cubicBezTo>
                  <a:pt x="232817" y="170656"/>
                  <a:pt x="238125" y="175964"/>
                  <a:pt x="238125" y="182563"/>
                </a:cubicBezTo>
                <a:cubicBezTo>
                  <a:pt x="238125" y="189161"/>
                  <a:pt x="232817" y="194469"/>
                  <a:pt x="226219" y="194469"/>
                </a:cubicBezTo>
                <a:lnTo>
                  <a:pt x="210344" y="194469"/>
                </a:lnTo>
                <a:cubicBezTo>
                  <a:pt x="203746" y="194469"/>
                  <a:pt x="198438" y="189161"/>
                  <a:pt x="198438" y="182563"/>
                </a:cubicBezTo>
                <a:close/>
                <a:moveTo>
                  <a:pt x="111125" y="87313"/>
                </a:moveTo>
                <a:cubicBezTo>
                  <a:pt x="124267" y="87313"/>
                  <a:pt x="134938" y="97983"/>
                  <a:pt x="134938" y="111125"/>
                </a:cubicBezTo>
                <a:cubicBezTo>
                  <a:pt x="134938" y="124267"/>
                  <a:pt x="124267" y="134938"/>
                  <a:pt x="111125" y="134938"/>
                </a:cubicBezTo>
                <a:cubicBezTo>
                  <a:pt x="97983" y="134938"/>
                  <a:pt x="87313" y="124267"/>
                  <a:pt x="87313" y="111125"/>
                </a:cubicBezTo>
                <a:cubicBezTo>
                  <a:pt x="87313" y="97983"/>
                  <a:pt x="97983" y="87313"/>
                  <a:pt x="111125" y="87313"/>
                </a:cubicBezTo>
                <a:close/>
                <a:moveTo>
                  <a:pt x="182563" y="111125"/>
                </a:moveTo>
                <a:cubicBezTo>
                  <a:pt x="182563" y="97983"/>
                  <a:pt x="193233" y="87313"/>
                  <a:pt x="206375" y="87313"/>
                </a:cubicBezTo>
                <a:cubicBezTo>
                  <a:pt x="219517" y="87313"/>
                  <a:pt x="230188" y="97983"/>
                  <a:pt x="230188" y="111125"/>
                </a:cubicBezTo>
                <a:cubicBezTo>
                  <a:pt x="230188" y="124267"/>
                  <a:pt x="219517" y="134938"/>
                  <a:pt x="206375" y="134938"/>
                </a:cubicBezTo>
                <a:cubicBezTo>
                  <a:pt x="193233" y="134938"/>
                  <a:pt x="182563" y="124267"/>
                  <a:pt x="182563" y="111125"/>
                </a:cubicBezTo>
                <a:close/>
                <a:moveTo>
                  <a:pt x="31750" y="111125"/>
                </a:moveTo>
                <a:cubicBezTo>
                  <a:pt x="31750" y="102344"/>
                  <a:pt x="24656" y="95250"/>
                  <a:pt x="15875" y="95250"/>
                </a:cubicBezTo>
                <a:cubicBezTo>
                  <a:pt x="7094" y="95250"/>
                  <a:pt x="0" y="102344"/>
                  <a:pt x="0" y="111125"/>
                </a:cubicBezTo>
                <a:lnTo>
                  <a:pt x="0" y="158750"/>
                </a:lnTo>
                <a:cubicBezTo>
                  <a:pt x="0" y="167531"/>
                  <a:pt x="7094" y="174625"/>
                  <a:pt x="15875" y="174625"/>
                </a:cubicBezTo>
                <a:cubicBezTo>
                  <a:pt x="24656" y="174625"/>
                  <a:pt x="31750" y="167531"/>
                  <a:pt x="31750" y="158750"/>
                </a:cubicBezTo>
                <a:lnTo>
                  <a:pt x="31750" y="111125"/>
                </a:lnTo>
                <a:close/>
                <a:moveTo>
                  <a:pt x="301625" y="95250"/>
                </a:moveTo>
                <a:cubicBezTo>
                  <a:pt x="292844" y="95250"/>
                  <a:pt x="285750" y="102344"/>
                  <a:pt x="285750" y="111125"/>
                </a:cubicBezTo>
                <a:lnTo>
                  <a:pt x="285750" y="158750"/>
                </a:lnTo>
                <a:cubicBezTo>
                  <a:pt x="285750" y="167531"/>
                  <a:pt x="292844" y="174625"/>
                  <a:pt x="301625" y="174625"/>
                </a:cubicBezTo>
                <a:cubicBezTo>
                  <a:pt x="310406" y="174625"/>
                  <a:pt x="317500" y="167531"/>
                  <a:pt x="317500" y="158750"/>
                </a:cubicBezTo>
                <a:lnTo>
                  <a:pt x="317500" y="111125"/>
                </a:lnTo>
                <a:cubicBezTo>
                  <a:pt x="317500" y="102344"/>
                  <a:pt x="310406" y="95250"/>
                  <a:pt x="301625" y="95250"/>
                </a:cubicBezTo>
                <a:close/>
              </a:path>
            </a:pathLst>
          </a:custGeom>
          <a:solidFill>
            <a:srgbClr val="38B2AC"/>
          </a:solidFill>
        </p:spPr>
      </p:sp>
      <p:sp>
        <p:nvSpPr>
          <p:cNvPr id="55" name="Text 52"/>
          <p:cNvSpPr/>
          <p:nvPr/>
        </p:nvSpPr>
        <p:spPr>
          <a:xfrm>
            <a:off x="12995275" y="7442361"/>
            <a:ext cx="9017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智能生成</a:t>
            </a:r>
            <a:endParaRPr lang="en-US" sz="1600" dirty="0"/>
          </a:p>
        </p:txBody>
      </p:sp>
      <p:sp>
        <p:nvSpPr>
          <p:cNvPr id="56" name="Text 53"/>
          <p:cNvSpPr/>
          <p:nvPr/>
        </p:nvSpPr>
        <p:spPr>
          <a:xfrm>
            <a:off x="12995275" y="7645400"/>
            <a:ext cx="9017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71809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高效/个性化</a:t>
            </a:r>
            <a:endParaRPr lang="en-US" sz="1600" dirty="0"/>
          </a:p>
        </p:txBody>
      </p:sp>
      <p:sp>
        <p:nvSpPr>
          <p:cNvPr id="57" name="Shape 54"/>
          <p:cNvSpPr/>
          <p:nvPr/>
        </p:nvSpPr>
        <p:spPr>
          <a:xfrm>
            <a:off x="508000" y="8427722"/>
            <a:ext cx="15240000" cy="10160"/>
          </a:xfrm>
          <a:custGeom>
            <a:avLst/>
            <a:gdLst/>
            <a:ahLst/>
            <a:cxnLst/>
            <a:rect l="l" t="t" r="r" b="b"/>
            <a:pathLst>
              <a:path w="15240000" h="10160">
                <a:moveTo>
                  <a:pt x="0" y="0"/>
                </a:moveTo>
                <a:lnTo>
                  <a:pt x="15240000" y="0"/>
                </a:lnTo>
                <a:lnTo>
                  <a:pt x="15240000" y="10160"/>
                </a:lnTo>
                <a:lnTo>
                  <a:pt x="0" y="10160"/>
                </a:lnTo>
                <a:lnTo>
                  <a:pt x="0" y="0"/>
                </a:lnTo>
                <a:close/>
              </a:path>
            </a:pathLst>
          </a:custGeom>
          <a:solidFill>
            <a:srgbClr val="4A5568">
              <a:alpha val="30196"/>
            </a:srgbClr>
          </a:solidFill>
        </p:spPr>
      </p:sp>
      <p:sp>
        <p:nvSpPr>
          <p:cNvPr id="58" name="Shape 55"/>
          <p:cNvSpPr/>
          <p:nvPr/>
        </p:nvSpPr>
        <p:spPr>
          <a:xfrm>
            <a:off x="533400" y="8575042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57269" y="0"/>
                </a:moveTo>
                <a:lnTo>
                  <a:pt x="146169" y="0"/>
                </a:lnTo>
                <a:cubicBezTo>
                  <a:pt x="156686" y="0"/>
                  <a:pt x="165259" y="8652"/>
                  <a:pt x="164862" y="19129"/>
                </a:cubicBezTo>
                <a:cubicBezTo>
                  <a:pt x="164783" y="21233"/>
                  <a:pt x="164703" y="23336"/>
                  <a:pt x="164584" y="25400"/>
                </a:cubicBezTo>
                <a:lnTo>
                  <a:pt x="184269" y="25400"/>
                </a:lnTo>
                <a:cubicBezTo>
                  <a:pt x="194628" y="25400"/>
                  <a:pt x="203756" y="33973"/>
                  <a:pt x="202962" y="45164"/>
                </a:cubicBezTo>
                <a:cubicBezTo>
                  <a:pt x="199985" y="86320"/>
                  <a:pt x="178951" y="108942"/>
                  <a:pt x="156131" y="120769"/>
                </a:cubicBezTo>
                <a:cubicBezTo>
                  <a:pt x="149860" y="124023"/>
                  <a:pt x="143470" y="126444"/>
                  <a:pt x="137398" y="128230"/>
                </a:cubicBezTo>
                <a:cubicBezTo>
                  <a:pt x="129381" y="139581"/>
                  <a:pt x="121047" y="145574"/>
                  <a:pt x="114419" y="148788"/>
                </a:cubicBezTo>
                <a:lnTo>
                  <a:pt x="114419" y="177800"/>
                </a:lnTo>
                <a:lnTo>
                  <a:pt x="139819" y="177800"/>
                </a:lnTo>
                <a:cubicBezTo>
                  <a:pt x="146844" y="177800"/>
                  <a:pt x="152519" y="183475"/>
                  <a:pt x="152519" y="190500"/>
                </a:cubicBezTo>
                <a:cubicBezTo>
                  <a:pt x="152519" y="197525"/>
                  <a:pt x="146844" y="203200"/>
                  <a:pt x="139819" y="203200"/>
                </a:cubicBezTo>
                <a:lnTo>
                  <a:pt x="63619" y="203200"/>
                </a:lnTo>
                <a:cubicBezTo>
                  <a:pt x="56594" y="203200"/>
                  <a:pt x="50919" y="197525"/>
                  <a:pt x="50919" y="190500"/>
                </a:cubicBezTo>
                <a:cubicBezTo>
                  <a:pt x="50919" y="183475"/>
                  <a:pt x="56594" y="177800"/>
                  <a:pt x="63619" y="177800"/>
                </a:cubicBezTo>
                <a:lnTo>
                  <a:pt x="89019" y="177800"/>
                </a:lnTo>
                <a:lnTo>
                  <a:pt x="89019" y="148788"/>
                </a:lnTo>
                <a:cubicBezTo>
                  <a:pt x="82669" y="145733"/>
                  <a:pt x="74771" y="140057"/>
                  <a:pt x="67072" y="129619"/>
                </a:cubicBezTo>
                <a:cubicBezTo>
                  <a:pt x="59769" y="127714"/>
                  <a:pt x="51832" y="124817"/>
                  <a:pt x="44093" y="120452"/>
                </a:cubicBezTo>
                <a:cubicBezTo>
                  <a:pt x="22622" y="108426"/>
                  <a:pt x="3254" y="85765"/>
                  <a:pt x="476" y="45085"/>
                </a:cubicBezTo>
                <a:cubicBezTo>
                  <a:pt x="-278" y="33933"/>
                  <a:pt x="8811" y="25360"/>
                  <a:pt x="19169" y="25360"/>
                </a:cubicBezTo>
                <a:lnTo>
                  <a:pt x="38854" y="25360"/>
                </a:lnTo>
                <a:cubicBezTo>
                  <a:pt x="38735" y="23297"/>
                  <a:pt x="38656" y="21233"/>
                  <a:pt x="38576" y="19090"/>
                </a:cubicBezTo>
                <a:cubicBezTo>
                  <a:pt x="38179" y="8572"/>
                  <a:pt x="46752" y="-40"/>
                  <a:pt x="57269" y="-40"/>
                </a:cubicBezTo>
                <a:close/>
                <a:moveTo>
                  <a:pt x="40283" y="44450"/>
                </a:moveTo>
                <a:lnTo>
                  <a:pt x="19487" y="44450"/>
                </a:lnTo>
                <a:cubicBezTo>
                  <a:pt x="21947" y="78065"/>
                  <a:pt x="37386" y="94893"/>
                  <a:pt x="53300" y="103823"/>
                </a:cubicBezTo>
                <a:cubicBezTo>
                  <a:pt x="47585" y="89019"/>
                  <a:pt x="42863" y="69691"/>
                  <a:pt x="40283" y="44450"/>
                </a:cubicBezTo>
                <a:close/>
                <a:moveTo>
                  <a:pt x="150813" y="101918"/>
                </a:moveTo>
                <a:cubicBezTo>
                  <a:pt x="166886" y="92472"/>
                  <a:pt x="181412" y="75684"/>
                  <a:pt x="183872" y="44450"/>
                </a:cubicBezTo>
                <a:lnTo>
                  <a:pt x="163116" y="44450"/>
                </a:lnTo>
                <a:cubicBezTo>
                  <a:pt x="160655" y="68620"/>
                  <a:pt x="156210" y="87392"/>
                  <a:pt x="150813" y="101918"/>
                </a:cubicBezTo>
                <a:close/>
              </a:path>
            </a:pathLst>
          </a:custGeom>
          <a:solidFill>
            <a:srgbClr val="38B2AC"/>
          </a:solidFill>
        </p:spPr>
      </p:sp>
      <p:sp>
        <p:nvSpPr>
          <p:cNvPr id="59" name="Text 56"/>
          <p:cNvSpPr/>
          <p:nvPr/>
        </p:nvSpPr>
        <p:spPr>
          <a:xfrm>
            <a:off x="863600" y="8534400"/>
            <a:ext cx="14986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38B2A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价值总结：</a:t>
            </a:r>
            <a:r>
              <a:rPr lang="en-US" sz="1600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V2.0在保持V1.0所有功能的基础上，通过AI集成实现了效率、精准度、智能化三个维度的显著提升，从"数字化"升级到"智能化"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000" y="508000"/>
            <a:ext cx="2565400" cy="406400"/>
          </a:xfrm>
          <a:custGeom>
            <a:avLst/>
            <a:gdLst/>
            <a:ahLst/>
            <a:cxnLst/>
            <a:rect l="l" t="t" r="r" b="b"/>
            <a:pathLst>
              <a:path w="2565400" h="406400">
                <a:moveTo>
                  <a:pt x="50800" y="0"/>
                </a:moveTo>
                <a:lnTo>
                  <a:pt x="2514600" y="0"/>
                </a:lnTo>
                <a:cubicBezTo>
                  <a:pt x="2542637" y="0"/>
                  <a:pt x="2565400" y="22763"/>
                  <a:pt x="2565400" y="50800"/>
                </a:cubicBezTo>
                <a:lnTo>
                  <a:pt x="2565400" y="355600"/>
                </a:lnTo>
                <a:cubicBezTo>
                  <a:pt x="2565400" y="383637"/>
                  <a:pt x="2542637" y="406400"/>
                  <a:pt x="2514600" y="406400"/>
                </a:cubicBezTo>
                <a:lnTo>
                  <a:pt x="50800" y="406400"/>
                </a:lnTo>
                <a:cubicBezTo>
                  <a:pt x="22763" y="406400"/>
                  <a:pt x="0" y="383637"/>
                  <a:pt x="0" y="355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660400" y="599430"/>
            <a:ext cx="2343944" cy="233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kern="0" spc="35" dirty="0">
                <a:solidFill>
                  <a:srgbClr val="38B2A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PROBLEMS &amp; SOLUTIONS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8000" y="1016000"/>
            <a:ext cx="154686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2E8F0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问题与解决方案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8000" y="1625600"/>
            <a:ext cx="1016000" cy="50800"/>
          </a:xfrm>
          <a:custGeom>
            <a:avLst/>
            <a:gdLst/>
            <a:ahLst/>
            <a:cxnLst/>
            <a:rect l="l" t="t" r="r" b="b"/>
            <a:pathLst>
              <a:path w="1016000" h="50800">
                <a:moveTo>
                  <a:pt x="0" y="0"/>
                </a:moveTo>
                <a:lnTo>
                  <a:pt x="1016000" y="0"/>
                </a:lnTo>
                <a:lnTo>
                  <a:pt x="10160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38B2AC"/>
          </a:solidFill>
        </p:spPr>
      </p:sp>
      <p:sp>
        <p:nvSpPr>
          <p:cNvPr id="6" name="Shape 4"/>
          <p:cNvSpPr/>
          <p:nvPr/>
        </p:nvSpPr>
        <p:spPr>
          <a:xfrm>
            <a:off x="533400" y="1879600"/>
            <a:ext cx="50800" cy="1117600"/>
          </a:xfrm>
          <a:custGeom>
            <a:avLst/>
            <a:gdLst/>
            <a:ahLst/>
            <a:cxnLst/>
            <a:rect l="l" t="t" r="r" b="b"/>
            <a:pathLst>
              <a:path w="50800" h="1117600">
                <a:moveTo>
                  <a:pt x="0" y="0"/>
                </a:moveTo>
                <a:lnTo>
                  <a:pt x="50800" y="0"/>
                </a:lnTo>
                <a:lnTo>
                  <a:pt x="50800" y="1117600"/>
                </a:lnTo>
                <a:lnTo>
                  <a:pt x="0" y="1117600"/>
                </a:lnTo>
                <a:lnTo>
                  <a:pt x="0" y="0"/>
                </a:lnTo>
                <a:close/>
              </a:path>
            </a:pathLst>
          </a:custGeom>
          <a:solidFill>
            <a:srgbClr val="FB2C36"/>
          </a:solidFill>
        </p:spPr>
      </p:sp>
      <p:sp>
        <p:nvSpPr>
          <p:cNvPr id="7" name="Shape 5"/>
          <p:cNvSpPr/>
          <p:nvPr/>
        </p:nvSpPr>
        <p:spPr>
          <a:xfrm>
            <a:off x="793750" y="19431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20863" y="0"/>
                  <a:pt x="126891" y="3617"/>
                  <a:pt x="130016" y="9376"/>
                </a:cubicBezTo>
                <a:lnTo>
                  <a:pt x="226457" y="187970"/>
                </a:lnTo>
                <a:cubicBezTo>
                  <a:pt x="229448" y="193506"/>
                  <a:pt x="229314" y="200204"/>
                  <a:pt x="226100" y="205606"/>
                </a:cubicBezTo>
                <a:cubicBezTo>
                  <a:pt x="222885" y="211009"/>
                  <a:pt x="217036" y="214313"/>
                  <a:pt x="210741" y="214313"/>
                </a:cubicBezTo>
                <a:lnTo>
                  <a:pt x="17859" y="214313"/>
                </a:lnTo>
                <a:cubicBezTo>
                  <a:pt x="11564" y="214313"/>
                  <a:pt x="5760" y="211009"/>
                  <a:pt x="2500" y="205606"/>
                </a:cubicBezTo>
                <a:cubicBezTo>
                  <a:pt x="-759" y="200204"/>
                  <a:pt x="-848" y="193506"/>
                  <a:pt x="2143" y="187970"/>
                </a:cubicBezTo>
                <a:lnTo>
                  <a:pt x="98584" y="9376"/>
                </a:lnTo>
                <a:cubicBezTo>
                  <a:pt x="101709" y="3617"/>
                  <a:pt x="107737" y="0"/>
                  <a:pt x="114300" y="0"/>
                </a:cubicBezTo>
                <a:close/>
                <a:moveTo>
                  <a:pt x="114300" y="75009"/>
                </a:moveTo>
                <a:cubicBezTo>
                  <a:pt x="108362" y="75009"/>
                  <a:pt x="103584" y="79787"/>
                  <a:pt x="103584" y="85725"/>
                </a:cubicBezTo>
                <a:lnTo>
                  <a:pt x="103584" y="135731"/>
                </a:lnTo>
                <a:cubicBezTo>
                  <a:pt x="103584" y="141669"/>
                  <a:pt x="108362" y="146447"/>
                  <a:pt x="114300" y="146447"/>
                </a:cubicBezTo>
                <a:cubicBezTo>
                  <a:pt x="120238" y="146447"/>
                  <a:pt x="125016" y="141669"/>
                  <a:pt x="125016" y="135731"/>
                </a:cubicBezTo>
                <a:lnTo>
                  <a:pt x="125016" y="85725"/>
                </a:lnTo>
                <a:cubicBezTo>
                  <a:pt x="125016" y="79787"/>
                  <a:pt x="120238" y="75009"/>
                  <a:pt x="114300" y="75009"/>
                </a:cubicBezTo>
                <a:close/>
                <a:moveTo>
                  <a:pt x="126221" y="171450"/>
                </a:moveTo>
                <a:cubicBezTo>
                  <a:pt x="126492" y="167025"/>
                  <a:pt x="124286" y="162815"/>
                  <a:pt x="120492" y="160521"/>
                </a:cubicBezTo>
                <a:cubicBezTo>
                  <a:pt x="116699" y="158226"/>
                  <a:pt x="111946" y="158226"/>
                  <a:pt x="108152" y="160521"/>
                </a:cubicBezTo>
                <a:cubicBezTo>
                  <a:pt x="104359" y="162815"/>
                  <a:pt x="102152" y="167025"/>
                  <a:pt x="102424" y="171450"/>
                </a:cubicBezTo>
                <a:cubicBezTo>
                  <a:pt x="102152" y="175875"/>
                  <a:pt x="104359" y="180085"/>
                  <a:pt x="108152" y="182379"/>
                </a:cubicBezTo>
                <a:cubicBezTo>
                  <a:pt x="111946" y="184674"/>
                  <a:pt x="116699" y="184674"/>
                  <a:pt x="120492" y="182379"/>
                </a:cubicBezTo>
                <a:cubicBezTo>
                  <a:pt x="124286" y="180085"/>
                  <a:pt x="126492" y="175875"/>
                  <a:pt x="126221" y="171450"/>
                </a:cubicBezTo>
                <a:close/>
              </a:path>
            </a:pathLst>
          </a:custGeom>
          <a:solidFill>
            <a:srgbClr val="FB2C36"/>
          </a:solidFill>
        </p:spPr>
      </p:sp>
      <p:sp>
        <p:nvSpPr>
          <p:cNvPr id="8" name="Text 6"/>
          <p:cNvSpPr/>
          <p:nvPr/>
        </p:nvSpPr>
        <p:spPr>
          <a:xfrm>
            <a:off x="1149350" y="1879600"/>
            <a:ext cx="26162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V1.0：海量数据统计卡顿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2336800"/>
            <a:ext cx="7366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38B2A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解决方案：</a:t>
            </a:r>
            <a:r>
              <a:rPr lang="en-US" sz="1600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优化SQL（添加索引）、分页查询、ECharts懒加载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2743200"/>
            <a:ext cx="73533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71809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统计10000条数据时，主任端统计界面耗时从30秒降至3秒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33400" y="3149600"/>
            <a:ext cx="50800" cy="1117600"/>
          </a:xfrm>
          <a:custGeom>
            <a:avLst/>
            <a:gdLst/>
            <a:ahLst/>
            <a:cxnLst/>
            <a:rect l="l" t="t" r="r" b="b"/>
            <a:pathLst>
              <a:path w="50800" h="1117600">
                <a:moveTo>
                  <a:pt x="0" y="0"/>
                </a:moveTo>
                <a:lnTo>
                  <a:pt x="50800" y="0"/>
                </a:lnTo>
                <a:lnTo>
                  <a:pt x="50800" y="1117600"/>
                </a:lnTo>
                <a:lnTo>
                  <a:pt x="0" y="1117600"/>
                </a:lnTo>
                <a:lnTo>
                  <a:pt x="0" y="0"/>
                </a:lnTo>
                <a:close/>
              </a:path>
            </a:pathLst>
          </a:custGeom>
          <a:solidFill>
            <a:srgbClr val="FB2C36"/>
          </a:solidFill>
        </p:spPr>
      </p:sp>
      <p:sp>
        <p:nvSpPr>
          <p:cNvPr id="12" name="Shape 10"/>
          <p:cNvSpPr/>
          <p:nvPr/>
        </p:nvSpPr>
        <p:spPr>
          <a:xfrm>
            <a:off x="793750" y="32131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20863" y="0"/>
                  <a:pt x="126891" y="3617"/>
                  <a:pt x="130016" y="9376"/>
                </a:cubicBezTo>
                <a:lnTo>
                  <a:pt x="226457" y="187970"/>
                </a:lnTo>
                <a:cubicBezTo>
                  <a:pt x="229448" y="193506"/>
                  <a:pt x="229314" y="200204"/>
                  <a:pt x="226100" y="205606"/>
                </a:cubicBezTo>
                <a:cubicBezTo>
                  <a:pt x="222885" y="211009"/>
                  <a:pt x="217036" y="214313"/>
                  <a:pt x="210741" y="214313"/>
                </a:cubicBezTo>
                <a:lnTo>
                  <a:pt x="17859" y="214313"/>
                </a:lnTo>
                <a:cubicBezTo>
                  <a:pt x="11564" y="214313"/>
                  <a:pt x="5760" y="211009"/>
                  <a:pt x="2500" y="205606"/>
                </a:cubicBezTo>
                <a:cubicBezTo>
                  <a:pt x="-759" y="200204"/>
                  <a:pt x="-848" y="193506"/>
                  <a:pt x="2143" y="187970"/>
                </a:cubicBezTo>
                <a:lnTo>
                  <a:pt x="98584" y="9376"/>
                </a:lnTo>
                <a:cubicBezTo>
                  <a:pt x="101709" y="3617"/>
                  <a:pt x="107737" y="0"/>
                  <a:pt x="114300" y="0"/>
                </a:cubicBezTo>
                <a:close/>
                <a:moveTo>
                  <a:pt x="114300" y="75009"/>
                </a:moveTo>
                <a:cubicBezTo>
                  <a:pt x="108362" y="75009"/>
                  <a:pt x="103584" y="79787"/>
                  <a:pt x="103584" y="85725"/>
                </a:cubicBezTo>
                <a:lnTo>
                  <a:pt x="103584" y="135731"/>
                </a:lnTo>
                <a:cubicBezTo>
                  <a:pt x="103584" y="141669"/>
                  <a:pt x="108362" y="146447"/>
                  <a:pt x="114300" y="146447"/>
                </a:cubicBezTo>
                <a:cubicBezTo>
                  <a:pt x="120238" y="146447"/>
                  <a:pt x="125016" y="141669"/>
                  <a:pt x="125016" y="135731"/>
                </a:cubicBezTo>
                <a:lnTo>
                  <a:pt x="125016" y="85725"/>
                </a:lnTo>
                <a:cubicBezTo>
                  <a:pt x="125016" y="79787"/>
                  <a:pt x="120238" y="75009"/>
                  <a:pt x="114300" y="75009"/>
                </a:cubicBezTo>
                <a:close/>
                <a:moveTo>
                  <a:pt x="126221" y="171450"/>
                </a:moveTo>
                <a:cubicBezTo>
                  <a:pt x="126492" y="167025"/>
                  <a:pt x="124286" y="162815"/>
                  <a:pt x="120492" y="160521"/>
                </a:cubicBezTo>
                <a:cubicBezTo>
                  <a:pt x="116699" y="158226"/>
                  <a:pt x="111946" y="158226"/>
                  <a:pt x="108152" y="160521"/>
                </a:cubicBezTo>
                <a:cubicBezTo>
                  <a:pt x="104359" y="162815"/>
                  <a:pt x="102152" y="167025"/>
                  <a:pt x="102424" y="171450"/>
                </a:cubicBezTo>
                <a:cubicBezTo>
                  <a:pt x="102152" y="175875"/>
                  <a:pt x="104359" y="180085"/>
                  <a:pt x="108152" y="182379"/>
                </a:cubicBezTo>
                <a:cubicBezTo>
                  <a:pt x="111946" y="184674"/>
                  <a:pt x="116699" y="184674"/>
                  <a:pt x="120492" y="182379"/>
                </a:cubicBezTo>
                <a:cubicBezTo>
                  <a:pt x="124286" y="180085"/>
                  <a:pt x="126492" y="175875"/>
                  <a:pt x="126221" y="171450"/>
                </a:cubicBezTo>
                <a:close/>
              </a:path>
            </a:pathLst>
          </a:custGeom>
          <a:solidFill>
            <a:srgbClr val="FB2C36"/>
          </a:solidFill>
        </p:spPr>
      </p:sp>
      <p:sp>
        <p:nvSpPr>
          <p:cNvPr id="13" name="Text 11"/>
          <p:cNvSpPr/>
          <p:nvPr/>
        </p:nvSpPr>
        <p:spPr>
          <a:xfrm>
            <a:off x="1149350" y="3149600"/>
            <a:ext cx="24003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V2.0：AI接口调用跨域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62000" y="3606800"/>
            <a:ext cx="7366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38B2A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解决方案：</a:t>
            </a:r>
            <a:r>
              <a:rPr lang="en-US" sz="1600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后端配置CORS过滤器，统一处理跨域请求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62000" y="4013200"/>
            <a:ext cx="73533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71809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前端AI相关界面调用接口无跨域报错，成功率100%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33400" y="4419600"/>
            <a:ext cx="50800" cy="1117600"/>
          </a:xfrm>
          <a:custGeom>
            <a:avLst/>
            <a:gdLst/>
            <a:ahLst/>
            <a:cxnLst/>
            <a:rect l="l" t="t" r="r" b="b"/>
            <a:pathLst>
              <a:path w="50800" h="1117600">
                <a:moveTo>
                  <a:pt x="0" y="0"/>
                </a:moveTo>
                <a:lnTo>
                  <a:pt x="50800" y="0"/>
                </a:lnTo>
                <a:lnTo>
                  <a:pt x="50800" y="1117600"/>
                </a:lnTo>
                <a:lnTo>
                  <a:pt x="0" y="1117600"/>
                </a:lnTo>
                <a:lnTo>
                  <a:pt x="0" y="0"/>
                </a:lnTo>
                <a:close/>
              </a:path>
            </a:pathLst>
          </a:custGeom>
          <a:solidFill>
            <a:srgbClr val="FB2C36"/>
          </a:solidFill>
        </p:spPr>
      </p:sp>
      <p:sp>
        <p:nvSpPr>
          <p:cNvPr id="17" name="Shape 15"/>
          <p:cNvSpPr/>
          <p:nvPr/>
        </p:nvSpPr>
        <p:spPr>
          <a:xfrm>
            <a:off x="793750" y="44831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20863" y="0"/>
                  <a:pt x="126891" y="3617"/>
                  <a:pt x="130016" y="9376"/>
                </a:cubicBezTo>
                <a:lnTo>
                  <a:pt x="226457" y="187970"/>
                </a:lnTo>
                <a:cubicBezTo>
                  <a:pt x="229448" y="193506"/>
                  <a:pt x="229314" y="200204"/>
                  <a:pt x="226100" y="205606"/>
                </a:cubicBezTo>
                <a:cubicBezTo>
                  <a:pt x="222885" y="211009"/>
                  <a:pt x="217036" y="214313"/>
                  <a:pt x="210741" y="214313"/>
                </a:cubicBezTo>
                <a:lnTo>
                  <a:pt x="17859" y="214313"/>
                </a:lnTo>
                <a:cubicBezTo>
                  <a:pt x="11564" y="214313"/>
                  <a:pt x="5760" y="211009"/>
                  <a:pt x="2500" y="205606"/>
                </a:cubicBezTo>
                <a:cubicBezTo>
                  <a:pt x="-759" y="200204"/>
                  <a:pt x="-848" y="193506"/>
                  <a:pt x="2143" y="187970"/>
                </a:cubicBezTo>
                <a:lnTo>
                  <a:pt x="98584" y="9376"/>
                </a:lnTo>
                <a:cubicBezTo>
                  <a:pt x="101709" y="3617"/>
                  <a:pt x="107737" y="0"/>
                  <a:pt x="114300" y="0"/>
                </a:cubicBezTo>
                <a:close/>
                <a:moveTo>
                  <a:pt x="114300" y="75009"/>
                </a:moveTo>
                <a:cubicBezTo>
                  <a:pt x="108362" y="75009"/>
                  <a:pt x="103584" y="79787"/>
                  <a:pt x="103584" y="85725"/>
                </a:cubicBezTo>
                <a:lnTo>
                  <a:pt x="103584" y="135731"/>
                </a:lnTo>
                <a:cubicBezTo>
                  <a:pt x="103584" y="141669"/>
                  <a:pt x="108362" y="146447"/>
                  <a:pt x="114300" y="146447"/>
                </a:cubicBezTo>
                <a:cubicBezTo>
                  <a:pt x="120238" y="146447"/>
                  <a:pt x="125016" y="141669"/>
                  <a:pt x="125016" y="135731"/>
                </a:cubicBezTo>
                <a:lnTo>
                  <a:pt x="125016" y="85725"/>
                </a:lnTo>
                <a:cubicBezTo>
                  <a:pt x="125016" y="79787"/>
                  <a:pt x="120238" y="75009"/>
                  <a:pt x="114300" y="75009"/>
                </a:cubicBezTo>
                <a:close/>
                <a:moveTo>
                  <a:pt x="126221" y="171450"/>
                </a:moveTo>
                <a:cubicBezTo>
                  <a:pt x="126492" y="167025"/>
                  <a:pt x="124286" y="162815"/>
                  <a:pt x="120492" y="160521"/>
                </a:cubicBezTo>
                <a:cubicBezTo>
                  <a:pt x="116699" y="158226"/>
                  <a:pt x="111946" y="158226"/>
                  <a:pt x="108152" y="160521"/>
                </a:cubicBezTo>
                <a:cubicBezTo>
                  <a:pt x="104359" y="162815"/>
                  <a:pt x="102152" y="167025"/>
                  <a:pt x="102424" y="171450"/>
                </a:cubicBezTo>
                <a:cubicBezTo>
                  <a:pt x="102152" y="175875"/>
                  <a:pt x="104359" y="180085"/>
                  <a:pt x="108152" y="182379"/>
                </a:cubicBezTo>
                <a:cubicBezTo>
                  <a:pt x="111946" y="184674"/>
                  <a:pt x="116699" y="184674"/>
                  <a:pt x="120492" y="182379"/>
                </a:cubicBezTo>
                <a:cubicBezTo>
                  <a:pt x="124286" y="180085"/>
                  <a:pt x="126492" y="175875"/>
                  <a:pt x="126221" y="171450"/>
                </a:cubicBezTo>
                <a:close/>
              </a:path>
            </a:pathLst>
          </a:custGeom>
          <a:solidFill>
            <a:srgbClr val="FB2C36"/>
          </a:solidFill>
        </p:spPr>
      </p:sp>
      <p:sp>
        <p:nvSpPr>
          <p:cNvPr id="18" name="Text 16"/>
          <p:cNvSpPr/>
          <p:nvPr/>
        </p:nvSpPr>
        <p:spPr>
          <a:xfrm>
            <a:off x="1149350" y="4419600"/>
            <a:ext cx="30861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V2.0：AI返回结果格式不统一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2000" y="4876800"/>
            <a:ext cx="7366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38B2A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解决方案：</a:t>
            </a:r>
            <a:r>
              <a:rPr lang="en-US" sz="1600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封装通用解析工具类，标准化返回数据结构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62000" y="5283200"/>
            <a:ext cx="73533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71809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AI文案/趋势界面展示稳定，无格式错乱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255000" y="1879600"/>
            <a:ext cx="50800" cy="1117600"/>
          </a:xfrm>
          <a:custGeom>
            <a:avLst/>
            <a:gdLst/>
            <a:ahLst/>
            <a:cxnLst/>
            <a:rect l="l" t="t" r="r" b="b"/>
            <a:pathLst>
              <a:path w="50800" h="1117600">
                <a:moveTo>
                  <a:pt x="0" y="0"/>
                </a:moveTo>
                <a:lnTo>
                  <a:pt x="50800" y="0"/>
                </a:lnTo>
                <a:lnTo>
                  <a:pt x="50800" y="1117600"/>
                </a:lnTo>
                <a:lnTo>
                  <a:pt x="0" y="1117600"/>
                </a:lnTo>
                <a:lnTo>
                  <a:pt x="0" y="0"/>
                </a:lnTo>
                <a:close/>
              </a:path>
            </a:pathLst>
          </a:custGeom>
          <a:solidFill>
            <a:srgbClr val="FB2C36"/>
          </a:solidFill>
        </p:spPr>
      </p:sp>
      <p:sp>
        <p:nvSpPr>
          <p:cNvPr id="22" name="Shape 20"/>
          <p:cNvSpPr/>
          <p:nvPr/>
        </p:nvSpPr>
        <p:spPr>
          <a:xfrm>
            <a:off x="8515350" y="19431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20863" y="0"/>
                  <a:pt x="126891" y="3617"/>
                  <a:pt x="130016" y="9376"/>
                </a:cubicBezTo>
                <a:lnTo>
                  <a:pt x="226457" y="187970"/>
                </a:lnTo>
                <a:cubicBezTo>
                  <a:pt x="229448" y="193506"/>
                  <a:pt x="229314" y="200204"/>
                  <a:pt x="226100" y="205606"/>
                </a:cubicBezTo>
                <a:cubicBezTo>
                  <a:pt x="222885" y="211009"/>
                  <a:pt x="217036" y="214313"/>
                  <a:pt x="210741" y="214313"/>
                </a:cubicBezTo>
                <a:lnTo>
                  <a:pt x="17859" y="214313"/>
                </a:lnTo>
                <a:cubicBezTo>
                  <a:pt x="11564" y="214313"/>
                  <a:pt x="5760" y="211009"/>
                  <a:pt x="2500" y="205606"/>
                </a:cubicBezTo>
                <a:cubicBezTo>
                  <a:pt x="-759" y="200204"/>
                  <a:pt x="-848" y="193506"/>
                  <a:pt x="2143" y="187970"/>
                </a:cubicBezTo>
                <a:lnTo>
                  <a:pt x="98584" y="9376"/>
                </a:lnTo>
                <a:cubicBezTo>
                  <a:pt x="101709" y="3617"/>
                  <a:pt x="107737" y="0"/>
                  <a:pt x="114300" y="0"/>
                </a:cubicBezTo>
                <a:close/>
                <a:moveTo>
                  <a:pt x="114300" y="75009"/>
                </a:moveTo>
                <a:cubicBezTo>
                  <a:pt x="108362" y="75009"/>
                  <a:pt x="103584" y="79787"/>
                  <a:pt x="103584" y="85725"/>
                </a:cubicBezTo>
                <a:lnTo>
                  <a:pt x="103584" y="135731"/>
                </a:lnTo>
                <a:cubicBezTo>
                  <a:pt x="103584" y="141669"/>
                  <a:pt x="108362" y="146447"/>
                  <a:pt x="114300" y="146447"/>
                </a:cubicBezTo>
                <a:cubicBezTo>
                  <a:pt x="120238" y="146447"/>
                  <a:pt x="125016" y="141669"/>
                  <a:pt x="125016" y="135731"/>
                </a:cubicBezTo>
                <a:lnTo>
                  <a:pt x="125016" y="85725"/>
                </a:lnTo>
                <a:cubicBezTo>
                  <a:pt x="125016" y="79787"/>
                  <a:pt x="120238" y="75009"/>
                  <a:pt x="114300" y="75009"/>
                </a:cubicBezTo>
                <a:close/>
                <a:moveTo>
                  <a:pt x="126221" y="171450"/>
                </a:moveTo>
                <a:cubicBezTo>
                  <a:pt x="126492" y="167025"/>
                  <a:pt x="124286" y="162815"/>
                  <a:pt x="120492" y="160521"/>
                </a:cubicBezTo>
                <a:cubicBezTo>
                  <a:pt x="116699" y="158226"/>
                  <a:pt x="111946" y="158226"/>
                  <a:pt x="108152" y="160521"/>
                </a:cubicBezTo>
                <a:cubicBezTo>
                  <a:pt x="104359" y="162815"/>
                  <a:pt x="102152" y="167025"/>
                  <a:pt x="102424" y="171450"/>
                </a:cubicBezTo>
                <a:cubicBezTo>
                  <a:pt x="102152" y="175875"/>
                  <a:pt x="104359" y="180085"/>
                  <a:pt x="108152" y="182379"/>
                </a:cubicBezTo>
                <a:cubicBezTo>
                  <a:pt x="111946" y="184674"/>
                  <a:pt x="116699" y="184674"/>
                  <a:pt x="120492" y="182379"/>
                </a:cubicBezTo>
                <a:cubicBezTo>
                  <a:pt x="124286" y="180085"/>
                  <a:pt x="126492" y="175875"/>
                  <a:pt x="126221" y="171450"/>
                </a:cubicBezTo>
                <a:close/>
              </a:path>
            </a:pathLst>
          </a:custGeom>
          <a:solidFill>
            <a:srgbClr val="FB2C36"/>
          </a:solidFill>
        </p:spPr>
      </p:sp>
      <p:sp>
        <p:nvSpPr>
          <p:cNvPr id="23" name="Text 21"/>
          <p:cNvSpPr/>
          <p:nvPr/>
        </p:nvSpPr>
        <p:spPr>
          <a:xfrm>
            <a:off x="8870950" y="1879600"/>
            <a:ext cx="24003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V2.0：AI接口调用成本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483600" y="2336800"/>
            <a:ext cx="7366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38B2A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解决方案：</a:t>
            </a:r>
            <a:r>
              <a:rPr lang="en-US" sz="1600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增加本地缓存，相同学生数据1小时内不重复调用AI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483600" y="2743200"/>
            <a:ext cx="73533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71809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接口调用成本降低60%，界面响应速度提升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255000" y="3149600"/>
            <a:ext cx="50800" cy="1117600"/>
          </a:xfrm>
          <a:custGeom>
            <a:avLst/>
            <a:gdLst/>
            <a:ahLst/>
            <a:cxnLst/>
            <a:rect l="l" t="t" r="r" b="b"/>
            <a:pathLst>
              <a:path w="50800" h="1117600">
                <a:moveTo>
                  <a:pt x="0" y="0"/>
                </a:moveTo>
                <a:lnTo>
                  <a:pt x="50800" y="0"/>
                </a:lnTo>
                <a:lnTo>
                  <a:pt x="50800" y="1117600"/>
                </a:lnTo>
                <a:lnTo>
                  <a:pt x="0" y="1117600"/>
                </a:lnTo>
                <a:lnTo>
                  <a:pt x="0" y="0"/>
                </a:lnTo>
                <a:close/>
              </a:path>
            </a:pathLst>
          </a:custGeom>
          <a:solidFill>
            <a:srgbClr val="FB2C36"/>
          </a:solidFill>
        </p:spPr>
      </p:sp>
      <p:sp>
        <p:nvSpPr>
          <p:cNvPr id="27" name="Shape 25"/>
          <p:cNvSpPr/>
          <p:nvPr/>
        </p:nvSpPr>
        <p:spPr>
          <a:xfrm>
            <a:off x="8515350" y="32131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20863" y="0"/>
                  <a:pt x="126891" y="3617"/>
                  <a:pt x="130016" y="9376"/>
                </a:cubicBezTo>
                <a:lnTo>
                  <a:pt x="226457" y="187970"/>
                </a:lnTo>
                <a:cubicBezTo>
                  <a:pt x="229448" y="193506"/>
                  <a:pt x="229314" y="200204"/>
                  <a:pt x="226100" y="205606"/>
                </a:cubicBezTo>
                <a:cubicBezTo>
                  <a:pt x="222885" y="211009"/>
                  <a:pt x="217036" y="214313"/>
                  <a:pt x="210741" y="214313"/>
                </a:cubicBezTo>
                <a:lnTo>
                  <a:pt x="17859" y="214313"/>
                </a:lnTo>
                <a:cubicBezTo>
                  <a:pt x="11564" y="214313"/>
                  <a:pt x="5760" y="211009"/>
                  <a:pt x="2500" y="205606"/>
                </a:cubicBezTo>
                <a:cubicBezTo>
                  <a:pt x="-759" y="200204"/>
                  <a:pt x="-848" y="193506"/>
                  <a:pt x="2143" y="187970"/>
                </a:cubicBezTo>
                <a:lnTo>
                  <a:pt x="98584" y="9376"/>
                </a:lnTo>
                <a:cubicBezTo>
                  <a:pt x="101709" y="3617"/>
                  <a:pt x="107737" y="0"/>
                  <a:pt x="114300" y="0"/>
                </a:cubicBezTo>
                <a:close/>
                <a:moveTo>
                  <a:pt x="114300" y="75009"/>
                </a:moveTo>
                <a:cubicBezTo>
                  <a:pt x="108362" y="75009"/>
                  <a:pt x="103584" y="79787"/>
                  <a:pt x="103584" y="85725"/>
                </a:cubicBezTo>
                <a:lnTo>
                  <a:pt x="103584" y="135731"/>
                </a:lnTo>
                <a:cubicBezTo>
                  <a:pt x="103584" y="141669"/>
                  <a:pt x="108362" y="146447"/>
                  <a:pt x="114300" y="146447"/>
                </a:cubicBezTo>
                <a:cubicBezTo>
                  <a:pt x="120238" y="146447"/>
                  <a:pt x="125016" y="141669"/>
                  <a:pt x="125016" y="135731"/>
                </a:cubicBezTo>
                <a:lnTo>
                  <a:pt x="125016" y="85725"/>
                </a:lnTo>
                <a:cubicBezTo>
                  <a:pt x="125016" y="79787"/>
                  <a:pt x="120238" y="75009"/>
                  <a:pt x="114300" y="75009"/>
                </a:cubicBezTo>
                <a:close/>
                <a:moveTo>
                  <a:pt x="126221" y="171450"/>
                </a:moveTo>
                <a:cubicBezTo>
                  <a:pt x="126492" y="167025"/>
                  <a:pt x="124286" y="162815"/>
                  <a:pt x="120492" y="160521"/>
                </a:cubicBezTo>
                <a:cubicBezTo>
                  <a:pt x="116699" y="158226"/>
                  <a:pt x="111946" y="158226"/>
                  <a:pt x="108152" y="160521"/>
                </a:cubicBezTo>
                <a:cubicBezTo>
                  <a:pt x="104359" y="162815"/>
                  <a:pt x="102152" y="167025"/>
                  <a:pt x="102424" y="171450"/>
                </a:cubicBezTo>
                <a:cubicBezTo>
                  <a:pt x="102152" y="175875"/>
                  <a:pt x="104359" y="180085"/>
                  <a:pt x="108152" y="182379"/>
                </a:cubicBezTo>
                <a:cubicBezTo>
                  <a:pt x="111946" y="184674"/>
                  <a:pt x="116699" y="184674"/>
                  <a:pt x="120492" y="182379"/>
                </a:cubicBezTo>
                <a:cubicBezTo>
                  <a:pt x="124286" y="180085"/>
                  <a:pt x="126492" y="175875"/>
                  <a:pt x="126221" y="171450"/>
                </a:cubicBezTo>
                <a:close/>
              </a:path>
            </a:pathLst>
          </a:custGeom>
          <a:solidFill>
            <a:srgbClr val="FB2C36"/>
          </a:solidFill>
        </p:spPr>
      </p:sp>
      <p:sp>
        <p:nvSpPr>
          <p:cNvPr id="28" name="Text 26"/>
          <p:cNvSpPr/>
          <p:nvPr/>
        </p:nvSpPr>
        <p:spPr>
          <a:xfrm>
            <a:off x="8870950" y="3149600"/>
            <a:ext cx="17145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多角色权限冲突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483600" y="3606800"/>
            <a:ext cx="7366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38B2A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解决方案：</a:t>
            </a:r>
            <a:r>
              <a:rPr lang="en-US" sz="1600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设计基于RBAC的权限模型，细粒度控制接口访问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483600" y="4013200"/>
            <a:ext cx="73533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71809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各角色仅能查看对应功能界面，无越权访问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255000" y="4419600"/>
            <a:ext cx="50800" cy="1168400"/>
          </a:xfrm>
          <a:custGeom>
            <a:avLst/>
            <a:gdLst/>
            <a:ahLst/>
            <a:cxnLst/>
            <a:rect l="l" t="t" r="r" b="b"/>
            <a:pathLst>
              <a:path w="50800" h="1168400">
                <a:moveTo>
                  <a:pt x="0" y="0"/>
                </a:moveTo>
                <a:lnTo>
                  <a:pt x="50800" y="0"/>
                </a:lnTo>
                <a:lnTo>
                  <a:pt x="50800" y="1168400"/>
                </a:lnTo>
                <a:lnTo>
                  <a:pt x="0" y="1168400"/>
                </a:lnTo>
                <a:lnTo>
                  <a:pt x="0" y="0"/>
                </a:lnTo>
                <a:close/>
              </a:path>
            </a:pathLst>
          </a:custGeom>
          <a:solidFill>
            <a:srgbClr val="38B2AC"/>
          </a:solidFill>
        </p:spPr>
      </p:sp>
      <p:sp>
        <p:nvSpPr>
          <p:cNvPr id="32" name="Shape 30"/>
          <p:cNvSpPr/>
          <p:nvPr/>
        </p:nvSpPr>
        <p:spPr>
          <a:xfrm>
            <a:off x="8515350" y="4470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51983" y="94967"/>
                </a:moveTo>
                <a:lnTo>
                  <a:pt x="116265" y="152117"/>
                </a:lnTo>
                <a:cubicBezTo>
                  <a:pt x="114389" y="155109"/>
                  <a:pt x="111175" y="156984"/>
                  <a:pt x="107647" y="157163"/>
                </a:cubicBezTo>
                <a:cubicBezTo>
                  <a:pt x="104120" y="157341"/>
                  <a:pt x="100727" y="155734"/>
                  <a:pt x="98628" y="152876"/>
                </a:cubicBezTo>
                <a:lnTo>
                  <a:pt x="77197" y="124301"/>
                </a:lnTo>
                <a:cubicBezTo>
                  <a:pt x="73625" y="119569"/>
                  <a:pt x="74608" y="112871"/>
                  <a:pt x="79340" y="109299"/>
                </a:cubicBezTo>
                <a:cubicBezTo>
                  <a:pt x="84073" y="105727"/>
                  <a:pt x="90770" y="106710"/>
                  <a:pt x="94342" y="111443"/>
                </a:cubicBezTo>
                <a:lnTo>
                  <a:pt x="106397" y="127516"/>
                </a:lnTo>
                <a:lnTo>
                  <a:pt x="133811" y="83627"/>
                </a:lnTo>
                <a:cubicBezTo>
                  <a:pt x="136937" y="78626"/>
                  <a:pt x="143545" y="77063"/>
                  <a:pt x="148590" y="80233"/>
                </a:cubicBezTo>
                <a:cubicBezTo>
                  <a:pt x="153635" y="83403"/>
                  <a:pt x="155153" y="89967"/>
                  <a:pt x="151983" y="95012"/>
                </a:cubicBezTo>
                <a:close/>
              </a:path>
            </a:pathLst>
          </a:custGeom>
          <a:solidFill>
            <a:srgbClr val="38B2AC"/>
          </a:solidFill>
        </p:spPr>
      </p:sp>
      <p:sp>
        <p:nvSpPr>
          <p:cNvPr id="33" name="Text 31"/>
          <p:cNvSpPr/>
          <p:nvPr/>
        </p:nvSpPr>
        <p:spPr>
          <a:xfrm>
            <a:off x="8877300" y="4419600"/>
            <a:ext cx="6985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38B2A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界面与功能兼容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483600" y="4876800"/>
            <a:ext cx="7366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V2.0数据库结构兼容V1.0，新增AI相关字段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483600" y="5283200"/>
            <a:ext cx="7366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AI模块为独立模块，可通过配置开关启用/关闭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13080" y="7655565"/>
            <a:ext cx="4937760" cy="975360"/>
          </a:xfrm>
          <a:custGeom>
            <a:avLst/>
            <a:gdLst/>
            <a:ahLst/>
            <a:cxnLst/>
            <a:rect l="l" t="t" r="r" b="b"/>
            <a:pathLst>
              <a:path w="4937760" h="975360">
                <a:moveTo>
                  <a:pt x="101603" y="0"/>
                </a:moveTo>
                <a:lnTo>
                  <a:pt x="4836157" y="0"/>
                </a:lnTo>
                <a:cubicBezTo>
                  <a:pt x="4892271" y="0"/>
                  <a:pt x="4937760" y="45489"/>
                  <a:pt x="4937760" y="101603"/>
                </a:cubicBezTo>
                <a:lnTo>
                  <a:pt x="4937760" y="873757"/>
                </a:lnTo>
                <a:cubicBezTo>
                  <a:pt x="4937760" y="929871"/>
                  <a:pt x="4892271" y="975360"/>
                  <a:pt x="4836157" y="975360"/>
                </a:cubicBezTo>
                <a:lnTo>
                  <a:pt x="101603" y="975360"/>
                </a:lnTo>
                <a:cubicBezTo>
                  <a:pt x="45489" y="975360"/>
                  <a:pt x="0" y="929871"/>
                  <a:pt x="0" y="87375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38B2AC">
              <a:alpha val="10196"/>
            </a:srgbClr>
          </a:solidFill>
          <a:ln w="10160">
            <a:solidFill>
              <a:srgbClr val="38B2AC">
                <a:alpha val="30196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08660" y="7853685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177800" y="81677"/>
                </a:moveTo>
                <a:cubicBezTo>
                  <a:pt x="171926" y="85566"/>
                  <a:pt x="165179" y="88702"/>
                  <a:pt x="158155" y="91202"/>
                </a:cubicBezTo>
                <a:cubicBezTo>
                  <a:pt x="139502" y="97869"/>
                  <a:pt x="115014" y="101600"/>
                  <a:pt x="88900" y="101600"/>
                </a:cubicBezTo>
                <a:cubicBezTo>
                  <a:pt x="62786" y="101600"/>
                  <a:pt x="38259" y="97830"/>
                  <a:pt x="19645" y="91202"/>
                </a:cubicBezTo>
                <a:cubicBezTo>
                  <a:pt x="12660" y="88702"/>
                  <a:pt x="5874" y="85566"/>
                  <a:pt x="0" y="81677"/>
                </a:cubicBezTo>
                <a:lnTo>
                  <a:pt x="0" y="114300"/>
                </a:lnTo>
                <a:cubicBezTo>
                  <a:pt x="0" y="131842"/>
                  <a:pt x="39807" y="146050"/>
                  <a:pt x="88900" y="146050"/>
                </a:cubicBezTo>
                <a:cubicBezTo>
                  <a:pt x="137993" y="146050"/>
                  <a:pt x="177800" y="131842"/>
                  <a:pt x="177800" y="114300"/>
                </a:cubicBezTo>
                <a:lnTo>
                  <a:pt x="177800" y="81677"/>
                </a:lnTo>
                <a:close/>
                <a:moveTo>
                  <a:pt x="177800" y="50800"/>
                </a:moveTo>
                <a:lnTo>
                  <a:pt x="177800" y="31750"/>
                </a:lnTo>
                <a:cubicBezTo>
                  <a:pt x="177800" y="14208"/>
                  <a:pt x="137993" y="0"/>
                  <a:pt x="88900" y="0"/>
                </a:cubicBezTo>
                <a:cubicBezTo>
                  <a:pt x="39807" y="0"/>
                  <a:pt x="0" y="14208"/>
                  <a:pt x="0" y="31750"/>
                </a:cubicBezTo>
                <a:lnTo>
                  <a:pt x="0" y="50800"/>
                </a:lnTo>
                <a:cubicBezTo>
                  <a:pt x="0" y="68342"/>
                  <a:pt x="39807" y="82550"/>
                  <a:pt x="88900" y="82550"/>
                </a:cubicBezTo>
                <a:cubicBezTo>
                  <a:pt x="137993" y="82550"/>
                  <a:pt x="177800" y="68342"/>
                  <a:pt x="177800" y="50800"/>
                </a:cubicBezTo>
                <a:close/>
                <a:moveTo>
                  <a:pt x="158155" y="154702"/>
                </a:moveTo>
                <a:cubicBezTo>
                  <a:pt x="139541" y="161330"/>
                  <a:pt x="115054" y="165100"/>
                  <a:pt x="88900" y="165100"/>
                </a:cubicBezTo>
                <a:cubicBezTo>
                  <a:pt x="62746" y="165100"/>
                  <a:pt x="38259" y="161330"/>
                  <a:pt x="19645" y="154702"/>
                </a:cubicBezTo>
                <a:cubicBezTo>
                  <a:pt x="12660" y="152202"/>
                  <a:pt x="5874" y="149066"/>
                  <a:pt x="0" y="145177"/>
                </a:cubicBezTo>
                <a:lnTo>
                  <a:pt x="0" y="171450"/>
                </a:lnTo>
                <a:cubicBezTo>
                  <a:pt x="0" y="188992"/>
                  <a:pt x="39807" y="203200"/>
                  <a:pt x="88900" y="203200"/>
                </a:cubicBezTo>
                <a:cubicBezTo>
                  <a:pt x="137993" y="203200"/>
                  <a:pt x="177800" y="188992"/>
                  <a:pt x="177800" y="171450"/>
                </a:cubicBezTo>
                <a:lnTo>
                  <a:pt x="177800" y="145177"/>
                </a:lnTo>
                <a:cubicBezTo>
                  <a:pt x="171926" y="149066"/>
                  <a:pt x="165179" y="152202"/>
                  <a:pt x="158155" y="154702"/>
                </a:cubicBezTo>
                <a:close/>
              </a:path>
            </a:pathLst>
          </a:custGeom>
          <a:solidFill>
            <a:srgbClr val="38B2AC"/>
          </a:solidFill>
        </p:spPr>
      </p:sp>
      <p:sp>
        <p:nvSpPr>
          <p:cNvPr id="38" name="Text 36"/>
          <p:cNvSpPr/>
          <p:nvPr/>
        </p:nvSpPr>
        <p:spPr>
          <a:xfrm>
            <a:off x="1026160" y="7813030"/>
            <a:ext cx="43688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38B2A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性能优化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70560" y="8219430"/>
            <a:ext cx="47117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通过SQL优化、分页查询、缓存策略，系统性能显著提升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660708" y="7655565"/>
            <a:ext cx="4937760" cy="975360"/>
          </a:xfrm>
          <a:custGeom>
            <a:avLst/>
            <a:gdLst/>
            <a:ahLst/>
            <a:cxnLst/>
            <a:rect l="l" t="t" r="r" b="b"/>
            <a:pathLst>
              <a:path w="4937760" h="975360">
                <a:moveTo>
                  <a:pt x="101603" y="0"/>
                </a:moveTo>
                <a:lnTo>
                  <a:pt x="4836157" y="0"/>
                </a:lnTo>
                <a:cubicBezTo>
                  <a:pt x="4892271" y="0"/>
                  <a:pt x="4937760" y="45489"/>
                  <a:pt x="4937760" y="101603"/>
                </a:cubicBezTo>
                <a:lnTo>
                  <a:pt x="4937760" y="873757"/>
                </a:lnTo>
                <a:cubicBezTo>
                  <a:pt x="4937760" y="929871"/>
                  <a:pt x="4892271" y="975360"/>
                  <a:pt x="4836157" y="975360"/>
                </a:cubicBezTo>
                <a:lnTo>
                  <a:pt x="101603" y="975360"/>
                </a:lnTo>
                <a:cubicBezTo>
                  <a:pt x="45489" y="975360"/>
                  <a:pt x="0" y="929871"/>
                  <a:pt x="0" y="87375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38B2AC">
              <a:alpha val="10196"/>
            </a:srgbClr>
          </a:solidFill>
          <a:ln w="10160">
            <a:solidFill>
              <a:srgbClr val="38B2AC">
                <a:alpha val="30196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843588" y="7853685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0"/>
                </a:moveTo>
                <a:cubicBezTo>
                  <a:pt x="103426" y="0"/>
                  <a:pt x="105251" y="397"/>
                  <a:pt x="106918" y="1151"/>
                </a:cubicBezTo>
                <a:lnTo>
                  <a:pt x="181689" y="32861"/>
                </a:lnTo>
                <a:cubicBezTo>
                  <a:pt x="190421" y="36552"/>
                  <a:pt x="196929" y="45164"/>
                  <a:pt x="196890" y="55563"/>
                </a:cubicBezTo>
                <a:cubicBezTo>
                  <a:pt x="196691" y="94932"/>
                  <a:pt x="180499" y="166965"/>
                  <a:pt x="112117" y="199708"/>
                </a:cubicBezTo>
                <a:cubicBezTo>
                  <a:pt x="105489" y="202883"/>
                  <a:pt x="97790" y="202883"/>
                  <a:pt x="91162" y="199708"/>
                </a:cubicBezTo>
                <a:cubicBezTo>
                  <a:pt x="22741" y="166965"/>
                  <a:pt x="6588" y="94932"/>
                  <a:pt x="6390" y="55563"/>
                </a:cubicBezTo>
                <a:cubicBezTo>
                  <a:pt x="6350" y="45164"/>
                  <a:pt x="12859" y="36552"/>
                  <a:pt x="21590" y="32861"/>
                </a:cubicBezTo>
                <a:lnTo>
                  <a:pt x="96322" y="1151"/>
                </a:lnTo>
                <a:cubicBezTo>
                  <a:pt x="97988" y="397"/>
                  <a:pt x="99774" y="0"/>
                  <a:pt x="101600" y="0"/>
                </a:cubicBezTo>
                <a:close/>
                <a:moveTo>
                  <a:pt x="101600" y="26511"/>
                </a:moveTo>
                <a:lnTo>
                  <a:pt x="101600" y="176570"/>
                </a:lnTo>
                <a:cubicBezTo>
                  <a:pt x="156369" y="150058"/>
                  <a:pt x="171093" y="91321"/>
                  <a:pt x="171450" y="56158"/>
                </a:cubicBezTo>
                <a:lnTo>
                  <a:pt x="101600" y="26551"/>
                </a:lnTo>
                <a:lnTo>
                  <a:pt x="101600" y="26551"/>
                </a:lnTo>
                <a:close/>
              </a:path>
            </a:pathLst>
          </a:custGeom>
          <a:solidFill>
            <a:srgbClr val="38B2AC"/>
          </a:solidFill>
        </p:spPr>
      </p:sp>
      <p:sp>
        <p:nvSpPr>
          <p:cNvPr id="42" name="Text 40"/>
          <p:cNvSpPr/>
          <p:nvPr/>
        </p:nvSpPr>
        <p:spPr>
          <a:xfrm>
            <a:off x="6173788" y="7813030"/>
            <a:ext cx="43688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38B2A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稳定性保障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5818188" y="8219430"/>
            <a:ext cx="47117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降级策略、异常处理、权限控制确保系统稳定运行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10808494" y="7655565"/>
            <a:ext cx="4937760" cy="975360"/>
          </a:xfrm>
          <a:custGeom>
            <a:avLst/>
            <a:gdLst/>
            <a:ahLst/>
            <a:cxnLst/>
            <a:rect l="l" t="t" r="r" b="b"/>
            <a:pathLst>
              <a:path w="4937760" h="975360">
                <a:moveTo>
                  <a:pt x="101603" y="0"/>
                </a:moveTo>
                <a:lnTo>
                  <a:pt x="4836157" y="0"/>
                </a:lnTo>
                <a:cubicBezTo>
                  <a:pt x="4892271" y="0"/>
                  <a:pt x="4937760" y="45489"/>
                  <a:pt x="4937760" y="101603"/>
                </a:cubicBezTo>
                <a:lnTo>
                  <a:pt x="4937760" y="873757"/>
                </a:lnTo>
                <a:cubicBezTo>
                  <a:pt x="4937760" y="929871"/>
                  <a:pt x="4892271" y="975360"/>
                  <a:pt x="4836157" y="975360"/>
                </a:cubicBezTo>
                <a:lnTo>
                  <a:pt x="101603" y="975360"/>
                </a:lnTo>
                <a:cubicBezTo>
                  <a:pt x="45489" y="975360"/>
                  <a:pt x="0" y="929871"/>
                  <a:pt x="0" y="87375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38B2AC">
              <a:alpha val="10196"/>
            </a:srgbClr>
          </a:solidFill>
          <a:ln w="10160">
            <a:solidFill>
              <a:srgbClr val="38B2AC">
                <a:alpha val="30196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965974" y="7853685"/>
            <a:ext cx="254000" cy="203200"/>
          </a:xfrm>
          <a:custGeom>
            <a:avLst/>
            <a:gdLst/>
            <a:ahLst/>
            <a:cxnLst/>
            <a:rect l="l" t="t" r="r" b="b"/>
            <a:pathLst>
              <a:path w="254000" h="203200">
                <a:moveTo>
                  <a:pt x="165060" y="83542"/>
                </a:moveTo>
                <a:cubicBezTo>
                  <a:pt x="169902" y="82233"/>
                  <a:pt x="174982" y="84534"/>
                  <a:pt x="177165" y="89019"/>
                </a:cubicBezTo>
                <a:lnTo>
                  <a:pt x="184547" y="103942"/>
                </a:lnTo>
                <a:cubicBezTo>
                  <a:pt x="188635" y="104497"/>
                  <a:pt x="192643" y="105608"/>
                  <a:pt x="196413" y="107156"/>
                </a:cubicBezTo>
                <a:lnTo>
                  <a:pt x="210304" y="97909"/>
                </a:lnTo>
                <a:cubicBezTo>
                  <a:pt x="214471" y="95131"/>
                  <a:pt x="219988" y="95687"/>
                  <a:pt x="223520" y="99219"/>
                </a:cubicBezTo>
                <a:lnTo>
                  <a:pt x="231140" y="106839"/>
                </a:lnTo>
                <a:cubicBezTo>
                  <a:pt x="234672" y="110371"/>
                  <a:pt x="235228" y="115927"/>
                  <a:pt x="232450" y="120055"/>
                </a:cubicBezTo>
                <a:lnTo>
                  <a:pt x="223203" y="133906"/>
                </a:lnTo>
                <a:cubicBezTo>
                  <a:pt x="223957" y="135771"/>
                  <a:pt x="224631" y="137716"/>
                  <a:pt x="225187" y="139740"/>
                </a:cubicBezTo>
                <a:cubicBezTo>
                  <a:pt x="225742" y="141764"/>
                  <a:pt x="226100" y="143748"/>
                  <a:pt x="226377" y="145772"/>
                </a:cubicBezTo>
                <a:lnTo>
                  <a:pt x="241340" y="153154"/>
                </a:lnTo>
                <a:cubicBezTo>
                  <a:pt x="245824" y="155377"/>
                  <a:pt x="248126" y="160457"/>
                  <a:pt x="246817" y="165259"/>
                </a:cubicBezTo>
                <a:lnTo>
                  <a:pt x="244038" y="175657"/>
                </a:lnTo>
                <a:cubicBezTo>
                  <a:pt x="242729" y="180459"/>
                  <a:pt x="238244" y="183713"/>
                  <a:pt x="233243" y="183396"/>
                </a:cubicBezTo>
                <a:lnTo>
                  <a:pt x="216575" y="182324"/>
                </a:lnTo>
                <a:cubicBezTo>
                  <a:pt x="214074" y="185539"/>
                  <a:pt x="211177" y="188516"/>
                  <a:pt x="207883" y="191056"/>
                </a:cubicBezTo>
                <a:lnTo>
                  <a:pt x="208955" y="207685"/>
                </a:lnTo>
                <a:cubicBezTo>
                  <a:pt x="209272" y="212685"/>
                  <a:pt x="206018" y="217210"/>
                  <a:pt x="201216" y="218480"/>
                </a:cubicBezTo>
                <a:lnTo>
                  <a:pt x="190818" y="221258"/>
                </a:lnTo>
                <a:cubicBezTo>
                  <a:pt x="185976" y="222567"/>
                  <a:pt x="180935" y="220266"/>
                  <a:pt x="178713" y="215781"/>
                </a:cubicBezTo>
                <a:lnTo>
                  <a:pt x="171331" y="200858"/>
                </a:lnTo>
                <a:cubicBezTo>
                  <a:pt x="167243" y="200303"/>
                  <a:pt x="163235" y="199192"/>
                  <a:pt x="159464" y="197644"/>
                </a:cubicBezTo>
                <a:lnTo>
                  <a:pt x="145574" y="206891"/>
                </a:lnTo>
                <a:cubicBezTo>
                  <a:pt x="141407" y="209669"/>
                  <a:pt x="135890" y="209113"/>
                  <a:pt x="132358" y="205581"/>
                </a:cubicBezTo>
                <a:lnTo>
                  <a:pt x="124738" y="197961"/>
                </a:lnTo>
                <a:cubicBezTo>
                  <a:pt x="121206" y="194429"/>
                  <a:pt x="120650" y="188913"/>
                  <a:pt x="123428" y="184745"/>
                </a:cubicBezTo>
                <a:lnTo>
                  <a:pt x="132675" y="170855"/>
                </a:lnTo>
                <a:cubicBezTo>
                  <a:pt x="131921" y="168989"/>
                  <a:pt x="131247" y="167045"/>
                  <a:pt x="130691" y="165021"/>
                </a:cubicBezTo>
                <a:cubicBezTo>
                  <a:pt x="130135" y="162997"/>
                  <a:pt x="129778" y="160973"/>
                  <a:pt x="129500" y="158988"/>
                </a:cubicBezTo>
                <a:lnTo>
                  <a:pt x="114538" y="151606"/>
                </a:lnTo>
                <a:cubicBezTo>
                  <a:pt x="110053" y="149384"/>
                  <a:pt x="107791" y="144304"/>
                  <a:pt x="109061" y="139502"/>
                </a:cubicBezTo>
                <a:lnTo>
                  <a:pt x="111839" y="129103"/>
                </a:lnTo>
                <a:cubicBezTo>
                  <a:pt x="113149" y="124301"/>
                  <a:pt x="117634" y="121047"/>
                  <a:pt x="122634" y="121364"/>
                </a:cubicBezTo>
                <a:lnTo>
                  <a:pt x="139263" y="122436"/>
                </a:lnTo>
                <a:cubicBezTo>
                  <a:pt x="141764" y="119221"/>
                  <a:pt x="144661" y="116245"/>
                  <a:pt x="147955" y="113705"/>
                </a:cubicBezTo>
                <a:lnTo>
                  <a:pt x="146883" y="97115"/>
                </a:lnTo>
                <a:cubicBezTo>
                  <a:pt x="146566" y="92115"/>
                  <a:pt x="149820" y="87590"/>
                  <a:pt x="154622" y="86320"/>
                </a:cubicBezTo>
                <a:lnTo>
                  <a:pt x="165021" y="83542"/>
                </a:lnTo>
                <a:close/>
                <a:moveTo>
                  <a:pt x="177959" y="134938"/>
                </a:moveTo>
                <a:cubicBezTo>
                  <a:pt x="168321" y="134948"/>
                  <a:pt x="160505" y="142782"/>
                  <a:pt x="160516" y="152420"/>
                </a:cubicBezTo>
                <a:cubicBezTo>
                  <a:pt x="160527" y="162058"/>
                  <a:pt x="168361" y="169873"/>
                  <a:pt x="177998" y="169863"/>
                </a:cubicBezTo>
                <a:cubicBezTo>
                  <a:pt x="187636" y="169852"/>
                  <a:pt x="195452" y="162018"/>
                  <a:pt x="195441" y="152380"/>
                </a:cubicBezTo>
                <a:cubicBezTo>
                  <a:pt x="195430" y="142742"/>
                  <a:pt x="187597" y="134927"/>
                  <a:pt x="177959" y="134938"/>
                </a:cubicBezTo>
                <a:close/>
                <a:moveTo>
                  <a:pt x="89257" y="-18058"/>
                </a:moveTo>
                <a:lnTo>
                  <a:pt x="99655" y="-15280"/>
                </a:lnTo>
                <a:cubicBezTo>
                  <a:pt x="104458" y="-13970"/>
                  <a:pt x="107712" y="-9446"/>
                  <a:pt x="107394" y="-4485"/>
                </a:cubicBezTo>
                <a:lnTo>
                  <a:pt x="106323" y="12105"/>
                </a:lnTo>
                <a:cubicBezTo>
                  <a:pt x="109617" y="14645"/>
                  <a:pt x="112514" y="17582"/>
                  <a:pt x="115014" y="20836"/>
                </a:cubicBezTo>
                <a:lnTo>
                  <a:pt x="131683" y="19764"/>
                </a:lnTo>
                <a:cubicBezTo>
                  <a:pt x="136644" y="19447"/>
                  <a:pt x="141168" y="22701"/>
                  <a:pt x="142478" y="27503"/>
                </a:cubicBezTo>
                <a:lnTo>
                  <a:pt x="145256" y="37902"/>
                </a:lnTo>
                <a:cubicBezTo>
                  <a:pt x="146526" y="42704"/>
                  <a:pt x="144264" y="47784"/>
                  <a:pt x="139779" y="50006"/>
                </a:cubicBezTo>
                <a:lnTo>
                  <a:pt x="124817" y="57388"/>
                </a:lnTo>
                <a:cubicBezTo>
                  <a:pt x="124539" y="59412"/>
                  <a:pt x="124143" y="61436"/>
                  <a:pt x="123627" y="63421"/>
                </a:cubicBezTo>
                <a:cubicBezTo>
                  <a:pt x="123111" y="65405"/>
                  <a:pt x="122396" y="67389"/>
                  <a:pt x="121642" y="69255"/>
                </a:cubicBezTo>
                <a:lnTo>
                  <a:pt x="130889" y="83145"/>
                </a:lnTo>
                <a:cubicBezTo>
                  <a:pt x="133668" y="87313"/>
                  <a:pt x="133112" y="92829"/>
                  <a:pt x="129580" y="96361"/>
                </a:cubicBezTo>
                <a:lnTo>
                  <a:pt x="121960" y="103981"/>
                </a:lnTo>
                <a:cubicBezTo>
                  <a:pt x="118428" y="107513"/>
                  <a:pt x="112911" y="108069"/>
                  <a:pt x="108744" y="105291"/>
                </a:cubicBezTo>
                <a:lnTo>
                  <a:pt x="94853" y="96044"/>
                </a:lnTo>
                <a:cubicBezTo>
                  <a:pt x="91083" y="97592"/>
                  <a:pt x="87074" y="98703"/>
                  <a:pt x="82987" y="99258"/>
                </a:cubicBezTo>
                <a:lnTo>
                  <a:pt x="75605" y="114181"/>
                </a:lnTo>
                <a:cubicBezTo>
                  <a:pt x="73382" y="118666"/>
                  <a:pt x="68302" y="120928"/>
                  <a:pt x="63500" y="119658"/>
                </a:cubicBezTo>
                <a:lnTo>
                  <a:pt x="53102" y="116880"/>
                </a:lnTo>
                <a:cubicBezTo>
                  <a:pt x="48260" y="115570"/>
                  <a:pt x="45045" y="111046"/>
                  <a:pt x="45363" y="106085"/>
                </a:cubicBezTo>
                <a:lnTo>
                  <a:pt x="46434" y="89456"/>
                </a:lnTo>
                <a:cubicBezTo>
                  <a:pt x="43140" y="86916"/>
                  <a:pt x="40243" y="83979"/>
                  <a:pt x="37743" y="80724"/>
                </a:cubicBezTo>
                <a:lnTo>
                  <a:pt x="21074" y="81796"/>
                </a:lnTo>
                <a:cubicBezTo>
                  <a:pt x="16113" y="82113"/>
                  <a:pt x="11589" y="78859"/>
                  <a:pt x="10279" y="74057"/>
                </a:cubicBezTo>
                <a:lnTo>
                  <a:pt x="7501" y="63659"/>
                </a:lnTo>
                <a:cubicBezTo>
                  <a:pt x="6231" y="58857"/>
                  <a:pt x="8493" y="53777"/>
                  <a:pt x="12978" y="51554"/>
                </a:cubicBezTo>
                <a:lnTo>
                  <a:pt x="27940" y="44172"/>
                </a:lnTo>
                <a:cubicBezTo>
                  <a:pt x="28218" y="42148"/>
                  <a:pt x="28615" y="40164"/>
                  <a:pt x="29131" y="38140"/>
                </a:cubicBezTo>
                <a:cubicBezTo>
                  <a:pt x="29686" y="36116"/>
                  <a:pt x="30321" y="34171"/>
                  <a:pt x="31115" y="32306"/>
                </a:cubicBezTo>
                <a:lnTo>
                  <a:pt x="21868" y="18455"/>
                </a:lnTo>
                <a:cubicBezTo>
                  <a:pt x="19090" y="14288"/>
                  <a:pt x="19645" y="8771"/>
                  <a:pt x="23178" y="5239"/>
                </a:cubicBezTo>
                <a:lnTo>
                  <a:pt x="30798" y="-2381"/>
                </a:lnTo>
                <a:cubicBezTo>
                  <a:pt x="34330" y="-5913"/>
                  <a:pt x="39846" y="-6469"/>
                  <a:pt x="44013" y="-3691"/>
                </a:cubicBezTo>
                <a:lnTo>
                  <a:pt x="57904" y="5556"/>
                </a:lnTo>
                <a:cubicBezTo>
                  <a:pt x="61674" y="4008"/>
                  <a:pt x="65683" y="2897"/>
                  <a:pt x="69771" y="2342"/>
                </a:cubicBezTo>
                <a:lnTo>
                  <a:pt x="77152" y="-12581"/>
                </a:lnTo>
                <a:cubicBezTo>
                  <a:pt x="79375" y="-17066"/>
                  <a:pt x="84415" y="-19328"/>
                  <a:pt x="89257" y="-18058"/>
                </a:cubicBezTo>
                <a:close/>
                <a:moveTo>
                  <a:pt x="76359" y="33338"/>
                </a:moveTo>
                <a:cubicBezTo>
                  <a:pt x="66721" y="33338"/>
                  <a:pt x="58896" y="41162"/>
                  <a:pt x="58896" y="50800"/>
                </a:cubicBezTo>
                <a:cubicBezTo>
                  <a:pt x="58896" y="60438"/>
                  <a:pt x="66721" y="68263"/>
                  <a:pt x="76359" y="68263"/>
                </a:cubicBezTo>
                <a:cubicBezTo>
                  <a:pt x="85997" y="68263"/>
                  <a:pt x="93821" y="60438"/>
                  <a:pt x="93821" y="50800"/>
                </a:cubicBezTo>
                <a:cubicBezTo>
                  <a:pt x="93821" y="41162"/>
                  <a:pt x="85997" y="33338"/>
                  <a:pt x="76359" y="33338"/>
                </a:cubicBezTo>
                <a:close/>
              </a:path>
            </a:pathLst>
          </a:custGeom>
          <a:solidFill>
            <a:srgbClr val="38B2AC"/>
          </a:solidFill>
        </p:spPr>
      </p:sp>
      <p:sp>
        <p:nvSpPr>
          <p:cNvPr id="46" name="Text 44"/>
          <p:cNvSpPr/>
          <p:nvPr/>
        </p:nvSpPr>
        <p:spPr>
          <a:xfrm>
            <a:off x="11321574" y="7813030"/>
            <a:ext cx="43688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38B2A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兼容性设计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0965974" y="8219430"/>
            <a:ext cx="47117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数据库兼容、模块化设计、配置开关保障平滑升级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9882" y="479882"/>
            <a:ext cx="2219454" cy="383906"/>
          </a:xfrm>
          <a:custGeom>
            <a:avLst/>
            <a:gdLst/>
            <a:ahLst/>
            <a:cxnLst/>
            <a:rect l="l" t="t" r="r" b="b"/>
            <a:pathLst>
              <a:path w="2219454" h="383906">
                <a:moveTo>
                  <a:pt x="47988" y="0"/>
                </a:moveTo>
                <a:lnTo>
                  <a:pt x="2171466" y="0"/>
                </a:lnTo>
                <a:cubicBezTo>
                  <a:pt x="2197969" y="0"/>
                  <a:pt x="2219454" y="21485"/>
                  <a:pt x="2219454" y="47988"/>
                </a:cubicBezTo>
                <a:lnTo>
                  <a:pt x="2219454" y="335917"/>
                </a:lnTo>
                <a:cubicBezTo>
                  <a:pt x="2219454" y="362420"/>
                  <a:pt x="2197969" y="383906"/>
                  <a:pt x="2171466" y="383906"/>
                </a:cubicBezTo>
                <a:lnTo>
                  <a:pt x="47988" y="383906"/>
                </a:lnTo>
                <a:cubicBezTo>
                  <a:pt x="21485" y="383906"/>
                  <a:pt x="0" y="362420"/>
                  <a:pt x="0" y="335917"/>
                </a:cubicBezTo>
                <a:lnTo>
                  <a:pt x="0" y="47988"/>
                </a:lnTo>
                <a:cubicBezTo>
                  <a:pt x="0" y="21503"/>
                  <a:pt x="21503" y="0"/>
                  <a:pt x="47988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623846" y="566251"/>
            <a:ext cx="2014304" cy="22074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5" b="1" kern="0" spc="33" dirty="0">
                <a:solidFill>
                  <a:srgbClr val="38B2A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SUMMARY &amp; OUTLOOK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79882" y="959764"/>
            <a:ext cx="15512183" cy="4798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400" b="1" dirty="0">
                <a:solidFill>
                  <a:srgbClr val="E2E8F0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总结与未来展望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79882" y="1535622"/>
            <a:ext cx="959764" cy="47988"/>
          </a:xfrm>
          <a:custGeom>
            <a:avLst/>
            <a:gdLst/>
            <a:ahLst/>
            <a:cxnLst/>
            <a:rect l="l" t="t" r="r" b="b"/>
            <a:pathLst>
              <a:path w="959764" h="47988">
                <a:moveTo>
                  <a:pt x="0" y="0"/>
                </a:moveTo>
                <a:lnTo>
                  <a:pt x="959764" y="0"/>
                </a:lnTo>
                <a:lnTo>
                  <a:pt x="959764" y="47988"/>
                </a:lnTo>
                <a:lnTo>
                  <a:pt x="0" y="47988"/>
                </a:lnTo>
                <a:lnTo>
                  <a:pt x="0" y="0"/>
                </a:lnTo>
                <a:close/>
              </a:path>
            </a:pathLst>
          </a:custGeom>
          <a:solidFill>
            <a:srgbClr val="38B2AC"/>
          </a:solidFill>
        </p:spPr>
      </p:sp>
      <p:sp>
        <p:nvSpPr>
          <p:cNvPr id="6" name="Shape 4"/>
          <p:cNvSpPr/>
          <p:nvPr/>
        </p:nvSpPr>
        <p:spPr>
          <a:xfrm>
            <a:off x="484681" y="1780362"/>
            <a:ext cx="7639720" cy="5996125"/>
          </a:xfrm>
          <a:custGeom>
            <a:avLst/>
            <a:gdLst/>
            <a:ahLst/>
            <a:cxnLst/>
            <a:rect l="l" t="t" r="r" b="b"/>
            <a:pathLst>
              <a:path w="7639720" h="5996125">
                <a:moveTo>
                  <a:pt x="95998" y="0"/>
                </a:moveTo>
                <a:lnTo>
                  <a:pt x="7543722" y="0"/>
                </a:lnTo>
                <a:cubicBezTo>
                  <a:pt x="7596740" y="0"/>
                  <a:pt x="7639720" y="42980"/>
                  <a:pt x="7639720" y="95998"/>
                </a:cubicBezTo>
                <a:lnTo>
                  <a:pt x="7639720" y="5900127"/>
                </a:lnTo>
                <a:cubicBezTo>
                  <a:pt x="7639720" y="5953145"/>
                  <a:pt x="7596740" y="5996125"/>
                  <a:pt x="7543722" y="5996125"/>
                </a:cubicBezTo>
                <a:lnTo>
                  <a:pt x="95998" y="5996125"/>
                </a:lnTo>
                <a:cubicBezTo>
                  <a:pt x="42980" y="5996125"/>
                  <a:pt x="0" y="5953145"/>
                  <a:pt x="0" y="5900127"/>
                </a:cubicBezTo>
                <a:lnTo>
                  <a:pt x="0" y="95998"/>
                </a:lnTo>
                <a:cubicBezTo>
                  <a:pt x="0" y="43015"/>
                  <a:pt x="43015" y="0"/>
                  <a:pt x="95998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10160">
            <a:solidFill>
              <a:srgbClr val="38B2AC">
                <a:alpha val="30196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1432" y="1977099"/>
            <a:ext cx="7366187" cy="33591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90" b="1" dirty="0">
                <a:solidFill>
                  <a:srgbClr val="38B2A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项目总结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05426" y="2504970"/>
            <a:ext cx="47988" cy="1679587"/>
          </a:xfrm>
          <a:custGeom>
            <a:avLst/>
            <a:gdLst/>
            <a:ahLst/>
            <a:cxnLst/>
            <a:rect l="l" t="t" r="r" b="b"/>
            <a:pathLst>
              <a:path w="47988" h="1679587">
                <a:moveTo>
                  <a:pt x="0" y="0"/>
                </a:moveTo>
                <a:lnTo>
                  <a:pt x="47988" y="0"/>
                </a:lnTo>
                <a:lnTo>
                  <a:pt x="47988" y="1679587"/>
                </a:lnTo>
                <a:lnTo>
                  <a:pt x="0" y="1679587"/>
                </a:lnTo>
                <a:lnTo>
                  <a:pt x="0" y="0"/>
                </a:lnTo>
                <a:close/>
              </a:path>
            </a:pathLst>
          </a:custGeom>
          <a:solidFill>
            <a:srgbClr val="38B2AC"/>
          </a:solidFill>
        </p:spPr>
      </p:sp>
      <p:sp>
        <p:nvSpPr>
          <p:cNvPr id="9" name="Text 7"/>
          <p:cNvSpPr/>
          <p:nvPr/>
        </p:nvSpPr>
        <p:spPr>
          <a:xfrm>
            <a:off x="921373" y="2504970"/>
            <a:ext cx="7114249" cy="33591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00" b="1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版本成果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21373" y="2936863"/>
            <a:ext cx="7102252" cy="5758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10" b="1" dirty="0">
                <a:solidFill>
                  <a:srgbClr val="38B2A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V1.0：</a:t>
            </a:r>
            <a:r>
              <a:rPr lang="en-US" sz="1510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实现学业预警全流程数字化，各角色界面功能完整，覆盖核心业务需求，解决人工统计/规则匹配痛点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21373" y="3608698"/>
            <a:ext cx="7102252" cy="5758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10" b="1" dirty="0">
                <a:solidFill>
                  <a:srgbClr val="38B2A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V2.0：</a:t>
            </a:r>
            <a:r>
              <a:rPr lang="en-US" sz="1510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集成AI接口，新增智能化功能界面，实现"数字化→智能化"升级，大幅提升预警效率与精准度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05426" y="4376509"/>
            <a:ext cx="47988" cy="1055740"/>
          </a:xfrm>
          <a:custGeom>
            <a:avLst/>
            <a:gdLst/>
            <a:ahLst/>
            <a:cxnLst/>
            <a:rect l="l" t="t" r="r" b="b"/>
            <a:pathLst>
              <a:path w="47988" h="1055740">
                <a:moveTo>
                  <a:pt x="0" y="0"/>
                </a:moveTo>
                <a:lnTo>
                  <a:pt x="47988" y="0"/>
                </a:lnTo>
                <a:lnTo>
                  <a:pt x="47988" y="1055740"/>
                </a:lnTo>
                <a:lnTo>
                  <a:pt x="0" y="1055740"/>
                </a:lnTo>
                <a:lnTo>
                  <a:pt x="0" y="0"/>
                </a:lnTo>
                <a:close/>
              </a:path>
            </a:pathLst>
          </a:custGeom>
          <a:solidFill>
            <a:srgbClr val="38B2AC"/>
          </a:solidFill>
        </p:spPr>
      </p:sp>
      <p:sp>
        <p:nvSpPr>
          <p:cNvPr id="13" name="Text 11"/>
          <p:cNvSpPr/>
          <p:nvPr/>
        </p:nvSpPr>
        <p:spPr>
          <a:xfrm>
            <a:off x="921373" y="4376509"/>
            <a:ext cx="7114249" cy="33591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00" b="1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界面与功能亮点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21373" y="4808403"/>
            <a:ext cx="7102252" cy="28792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10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多角色界面适配业务场景，操作简洁直观，降低用户学习成本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21373" y="5144320"/>
            <a:ext cx="7102252" cy="28792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10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界面与后端逻辑解耦，便于后续功能扩展与界面优化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05426" y="5624202"/>
            <a:ext cx="47988" cy="1007752"/>
          </a:xfrm>
          <a:custGeom>
            <a:avLst/>
            <a:gdLst/>
            <a:ahLst/>
            <a:cxnLst/>
            <a:rect l="l" t="t" r="r" b="b"/>
            <a:pathLst>
              <a:path w="47988" h="1007752">
                <a:moveTo>
                  <a:pt x="0" y="0"/>
                </a:moveTo>
                <a:lnTo>
                  <a:pt x="47988" y="0"/>
                </a:lnTo>
                <a:lnTo>
                  <a:pt x="47988" y="1007752"/>
                </a:lnTo>
                <a:lnTo>
                  <a:pt x="0" y="1007752"/>
                </a:lnTo>
                <a:lnTo>
                  <a:pt x="0" y="0"/>
                </a:lnTo>
                <a:close/>
              </a:path>
            </a:pathLst>
          </a:custGeom>
          <a:solidFill>
            <a:srgbClr val="38B2AC"/>
          </a:solidFill>
        </p:spPr>
      </p:sp>
      <p:sp>
        <p:nvSpPr>
          <p:cNvPr id="17" name="Text 15"/>
          <p:cNvSpPr/>
          <p:nvPr/>
        </p:nvSpPr>
        <p:spPr>
          <a:xfrm>
            <a:off x="921373" y="5624202"/>
            <a:ext cx="7114249" cy="33591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00" b="1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版本管理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21373" y="6056096"/>
            <a:ext cx="7102252" cy="5758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10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GitHub完整留存V1.0/V2.0代码及界面相关资源，通过Commit/Tag实现版本可追溯、可回滚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05426" y="6823907"/>
            <a:ext cx="47988" cy="719823"/>
          </a:xfrm>
          <a:custGeom>
            <a:avLst/>
            <a:gdLst/>
            <a:ahLst/>
            <a:cxnLst/>
            <a:rect l="l" t="t" r="r" b="b"/>
            <a:pathLst>
              <a:path w="47988" h="719823">
                <a:moveTo>
                  <a:pt x="0" y="0"/>
                </a:moveTo>
                <a:lnTo>
                  <a:pt x="47988" y="0"/>
                </a:lnTo>
                <a:lnTo>
                  <a:pt x="47988" y="719823"/>
                </a:lnTo>
                <a:lnTo>
                  <a:pt x="0" y="719823"/>
                </a:lnTo>
                <a:lnTo>
                  <a:pt x="0" y="0"/>
                </a:lnTo>
                <a:close/>
              </a:path>
            </a:pathLst>
          </a:custGeom>
          <a:solidFill>
            <a:srgbClr val="38B2AC"/>
          </a:solidFill>
        </p:spPr>
      </p:sp>
      <p:sp>
        <p:nvSpPr>
          <p:cNvPr id="20" name="Text 18"/>
          <p:cNvSpPr/>
          <p:nvPr/>
        </p:nvSpPr>
        <p:spPr>
          <a:xfrm>
            <a:off x="921373" y="6823907"/>
            <a:ext cx="7114249" cy="33591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00" b="1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核心价值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21373" y="7255801"/>
            <a:ext cx="7102252" cy="28792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10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从"事后补救"到"事前预警+智能干预"，为高校学业管理提供全流程数字化解决方案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370640" y="1780362"/>
            <a:ext cx="7399779" cy="5996125"/>
          </a:xfrm>
          <a:custGeom>
            <a:avLst/>
            <a:gdLst/>
            <a:ahLst/>
            <a:cxnLst/>
            <a:rect l="l" t="t" r="r" b="b"/>
            <a:pathLst>
              <a:path w="7399779" h="5996125">
                <a:moveTo>
                  <a:pt x="95998" y="0"/>
                </a:moveTo>
                <a:lnTo>
                  <a:pt x="7303781" y="0"/>
                </a:lnTo>
                <a:cubicBezTo>
                  <a:pt x="7356799" y="0"/>
                  <a:pt x="7399779" y="42980"/>
                  <a:pt x="7399779" y="95998"/>
                </a:cubicBezTo>
                <a:lnTo>
                  <a:pt x="7399779" y="5900127"/>
                </a:lnTo>
                <a:cubicBezTo>
                  <a:pt x="7399779" y="5953145"/>
                  <a:pt x="7356799" y="5996125"/>
                  <a:pt x="7303781" y="5996125"/>
                </a:cubicBezTo>
                <a:lnTo>
                  <a:pt x="95998" y="5996125"/>
                </a:lnTo>
                <a:cubicBezTo>
                  <a:pt x="42980" y="5996125"/>
                  <a:pt x="0" y="5953145"/>
                  <a:pt x="0" y="5900127"/>
                </a:cubicBezTo>
                <a:lnTo>
                  <a:pt x="0" y="95998"/>
                </a:lnTo>
                <a:cubicBezTo>
                  <a:pt x="0" y="43015"/>
                  <a:pt x="43015" y="0"/>
                  <a:pt x="95998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10160">
            <a:solidFill>
              <a:srgbClr val="38B2AC">
                <a:alpha val="30196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67392" y="1977099"/>
            <a:ext cx="7126246" cy="33591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90" b="1" dirty="0">
                <a:solidFill>
                  <a:srgbClr val="38B2A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未来展望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591386" y="2504970"/>
            <a:ext cx="47988" cy="1391658"/>
          </a:xfrm>
          <a:custGeom>
            <a:avLst/>
            <a:gdLst/>
            <a:ahLst/>
            <a:cxnLst/>
            <a:rect l="l" t="t" r="r" b="b"/>
            <a:pathLst>
              <a:path w="47988" h="1391658">
                <a:moveTo>
                  <a:pt x="0" y="0"/>
                </a:moveTo>
                <a:lnTo>
                  <a:pt x="47988" y="0"/>
                </a:lnTo>
                <a:lnTo>
                  <a:pt x="47988" y="1391658"/>
                </a:lnTo>
                <a:lnTo>
                  <a:pt x="0" y="1391658"/>
                </a:lnTo>
                <a:lnTo>
                  <a:pt x="0" y="0"/>
                </a:lnTo>
                <a:close/>
              </a:path>
            </a:pathLst>
          </a:custGeom>
          <a:solidFill>
            <a:srgbClr val="38B2AC"/>
          </a:solidFill>
        </p:spPr>
      </p:sp>
      <p:sp>
        <p:nvSpPr>
          <p:cNvPr id="25" name="Shape 23"/>
          <p:cNvSpPr/>
          <p:nvPr/>
        </p:nvSpPr>
        <p:spPr>
          <a:xfrm>
            <a:off x="8864319" y="2564955"/>
            <a:ext cx="161960" cy="215947"/>
          </a:xfrm>
          <a:custGeom>
            <a:avLst/>
            <a:gdLst/>
            <a:ahLst/>
            <a:cxnLst/>
            <a:rect l="l" t="t" r="r" b="b"/>
            <a:pathLst>
              <a:path w="161960" h="215947">
                <a:moveTo>
                  <a:pt x="6748" y="26993"/>
                </a:moveTo>
                <a:cubicBezTo>
                  <a:pt x="6748" y="12105"/>
                  <a:pt x="18853" y="0"/>
                  <a:pt x="33742" y="0"/>
                </a:cubicBezTo>
                <a:lnTo>
                  <a:pt x="128218" y="0"/>
                </a:lnTo>
                <a:cubicBezTo>
                  <a:pt x="143107" y="0"/>
                  <a:pt x="155212" y="12105"/>
                  <a:pt x="155212" y="26993"/>
                </a:cubicBezTo>
                <a:lnTo>
                  <a:pt x="155212" y="188954"/>
                </a:lnTo>
                <a:cubicBezTo>
                  <a:pt x="155212" y="203842"/>
                  <a:pt x="143107" y="215947"/>
                  <a:pt x="128218" y="215947"/>
                </a:cubicBezTo>
                <a:lnTo>
                  <a:pt x="33742" y="215947"/>
                </a:lnTo>
                <a:cubicBezTo>
                  <a:pt x="18853" y="215947"/>
                  <a:pt x="6748" y="203842"/>
                  <a:pt x="6748" y="188954"/>
                </a:cubicBezTo>
                <a:lnTo>
                  <a:pt x="6748" y="26993"/>
                </a:lnTo>
                <a:close/>
                <a:moveTo>
                  <a:pt x="33742" y="26993"/>
                </a:moveTo>
                <a:lnTo>
                  <a:pt x="33742" y="155212"/>
                </a:lnTo>
                <a:lnTo>
                  <a:pt x="128218" y="155212"/>
                </a:lnTo>
                <a:lnTo>
                  <a:pt x="128218" y="26993"/>
                </a:lnTo>
                <a:lnTo>
                  <a:pt x="33742" y="26993"/>
                </a:lnTo>
                <a:close/>
                <a:moveTo>
                  <a:pt x="80980" y="199076"/>
                </a:moveTo>
                <a:cubicBezTo>
                  <a:pt x="88445" y="199076"/>
                  <a:pt x="94477" y="193045"/>
                  <a:pt x="94477" y="185579"/>
                </a:cubicBezTo>
                <a:cubicBezTo>
                  <a:pt x="94477" y="178114"/>
                  <a:pt x="88445" y="172083"/>
                  <a:pt x="80980" y="172083"/>
                </a:cubicBezTo>
                <a:cubicBezTo>
                  <a:pt x="73515" y="172083"/>
                  <a:pt x="67483" y="178114"/>
                  <a:pt x="67483" y="185579"/>
                </a:cubicBezTo>
                <a:cubicBezTo>
                  <a:pt x="67483" y="193045"/>
                  <a:pt x="73515" y="199076"/>
                  <a:pt x="80980" y="199076"/>
                </a:cubicBezTo>
                <a:close/>
              </a:path>
            </a:pathLst>
          </a:custGeom>
          <a:solidFill>
            <a:srgbClr val="38B2AC"/>
          </a:solidFill>
        </p:spPr>
      </p:sp>
      <p:sp>
        <p:nvSpPr>
          <p:cNvPr id="26" name="Text 24"/>
          <p:cNvSpPr/>
          <p:nvPr/>
        </p:nvSpPr>
        <p:spPr>
          <a:xfrm>
            <a:off x="9173243" y="2504970"/>
            <a:ext cx="1619601" cy="33591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00" b="1" dirty="0">
                <a:solidFill>
                  <a:srgbClr val="38B2A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功能与界面扩展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807333" y="2936863"/>
            <a:ext cx="6862311" cy="28792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10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新增移动端适配（微信小程序/APP），同步各角色核心功能界面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807333" y="3272781"/>
            <a:ext cx="6862311" cy="28792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10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集成更多AI能力：语音预警通知、整改计划AI审核、学业规划AI建议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807333" y="3608698"/>
            <a:ext cx="6862311" cy="28792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10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完善数据同步：覆盖学分、考勤全量教务数据同步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591386" y="4040592"/>
            <a:ext cx="47988" cy="1391658"/>
          </a:xfrm>
          <a:custGeom>
            <a:avLst/>
            <a:gdLst/>
            <a:ahLst/>
            <a:cxnLst/>
            <a:rect l="l" t="t" r="r" b="b"/>
            <a:pathLst>
              <a:path w="47988" h="1391658">
                <a:moveTo>
                  <a:pt x="0" y="0"/>
                </a:moveTo>
                <a:lnTo>
                  <a:pt x="47988" y="0"/>
                </a:lnTo>
                <a:lnTo>
                  <a:pt x="47988" y="1391658"/>
                </a:lnTo>
                <a:lnTo>
                  <a:pt x="0" y="1391658"/>
                </a:lnTo>
                <a:lnTo>
                  <a:pt x="0" y="0"/>
                </a:lnTo>
                <a:close/>
              </a:path>
            </a:pathLst>
          </a:custGeom>
          <a:solidFill>
            <a:srgbClr val="38B2AC"/>
          </a:solidFill>
        </p:spPr>
      </p:sp>
      <p:sp>
        <p:nvSpPr>
          <p:cNvPr id="31" name="Shape 29"/>
          <p:cNvSpPr/>
          <p:nvPr/>
        </p:nvSpPr>
        <p:spPr>
          <a:xfrm>
            <a:off x="8810332" y="4100577"/>
            <a:ext cx="269934" cy="215947"/>
          </a:xfrm>
          <a:custGeom>
            <a:avLst/>
            <a:gdLst/>
            <a:ahLst/>
            <a:cxnLst/>
            <a:rect l="l" t="t" r="r" b="b"/>
            <a:pathLst>
              <a:path w="269934" h="215947">
                <a:moveTo>
                  <a:pt x="175415" y="88783"/>
                </a:moveTo>
                <a:cubicBezTo>
                  <a:pt x="180560" y="87391"/>
                  <a:pt x="185959" y="89837"/>
                  <a:pt x="188279" y="94603"/>
                </a:cubicBezTo>
                <a:lnTo>
                  <a:pt x="196124" y="110462"/>
                </a:lnTo>
                <a:cubicBezTo>
                  <a:pt x="200468" y="111052"/>
                  <a:pt x="204728" y="112233"/>
                  <a:pt x="208735" y="113878"/>
                </a:cubicBezTo>
                <a:lnTo>
                  <a:pt x="223497" y="104051"/>
                </a:lnTo>
                <a:cubicBezTo>
                  <a:pt x="227925" y="101099"/>
                  <a:pt x="233788" y="101689"/>
                  <a:pt x="237542" y="105443"/>
                </a:cubicBezTo>
                <a:lnTo>
                  <a:pt x="245640" y="113541"/>
                </a:lnTo>
                <a:cubicBezTo>
                  <a:pt x="249393" y="117295"/>
                  <a:pt x="249984" y="123199"/>
                  <a:pt x="247031" y="127586"/>
                </a:cubicBezTo>
                <a:lnTo>
                  <a:pt x="237204" y="142306"/>
                </a:lnTo>
                <a:cubicBezTo>
                  <a:pt x="238005" y="144288"/>
                  <a:pt x="238723" y="146355"/>
                  <a:pt x="239313" y="148506"/>
                </a:cubicBezTo>
                <a:cubicBezTo>
                  <a:pt x="239903" y="150657"/>
                  <a:pt x="240283" y="152766"/>
                  <a:pt x="240578" y="154917"/>
                </a:cubicBezTo>
                <a:lnTo>
                  <a:pt x="256479" y="162762"/>
                </a:lnTo>
                <a:cubicBezTo>
                  <a:pt x="261245" y="165123"/>
                  <a:pt x="263691" y="170522"/>
                  <a:pt x="262300" y="175626"/>
                </a:cubicBezTo>
                <a:lnTo>
                  <a:pt x="259347" y="186676"/>
                </a:lnTo>
                <a:cubicBezTo>
                  <a:pt x="257955" y="191779"/>
                  <a:pt x="253189" y="195238"/>
                  <a:pt x="247875" y="194900"/>
                </a:cubicBezTo>
                <a:lnTo>
                  <a:pt x="230161" y="193762"/>
                </a:lnTo>
                <a:cubicBezTo>
                  <a:pt x="227503" y="197178"/>
                  <a:pt x="224424" y="200341"/>
                  <a:pt x="220924" y="203041"/>
                </a:cubicBezTo>
                <a:lnTo>
                  <a:pt x="222063" y="220713"/>
                </a:lnTo>
                <a:cubicBezTo>
                  <a:pt x="222400" y="226027"/>
                  <a:pt x="218941" y="230835"/>
                  <a:pt x="213838" y="232185"/>
                </a:cubicBezTo>
                <a:lnTo>
                  <a:pt x="202788" y="235137"/>
                </a:lnTo>
                <a:cubicBezTo>
                  <a:pt x="197642" y="236529"/>
                  <a:pt x="192285" y="234083"/>
                  <a:pt x="189924" y="229317"/>
                </a:cubicBezTo>
                <a:lnTo>
                  <a:pt x="182079" y="213458"/>
                </a:lnTo>
                <a:cubicBezTo>
                  <a:pt x="177734" y="212868"/>
                  <a:pt x="173475" y="211687"/>
                  <a:pt x="169468" y="210042"/>
                </a:cubicBezTo>
                <a:lnTo>
                  <a:pt x="154706" y="219869"/>
                </a:lnTo>
                <a:cubicBezTo>
                  <a:pt x="150277" y="222822"/>
                  <a:pt x="144414" y="222231"/>
                  <a:pt x="140661" y="218477"/>
                </a:cubicBezTo>
                <a:lnTo>
                  <a:pt x="132563" y="210379"/>
                </a:lnTo>
                <a:cubicBezTo>
                  <a:pt x="128809" y="206626"/>
                  <a:pt x="128218" y="200763"/>
                  <a:pt x="131171" y="196335"/>
                </a:cubicBezTo>
                <a:lnTo>
                  <a:pt x="140998" y="181573"/>
                </a:lnTo>
                <a:cubicBezTo>
                  <a:pt x="140197" y="179590"/>
                  <a:pt x="139480" y="177524"/>
                  <a:pt x="138889" y="175372"/>
                </a:cubicBezTo>
                <a:cubicBezTo>
                  <a:pt x="138299" y="173221"/>
                  <a:pt x="137919" y="171070"/>
                  <a:pt x="137624" y="168962"/>
                </a:cubicBezTo>
                <a:lnTo>
                  <a:pt x="121723" y="161117"/>
                </a:lnTo>
                <a:cubicBezTo>
                  <a:pt x="116957" y="158755"/>
                  <a:pt x="114553" y="153356"/>
                  <a:pt x="115903" y="148253"/>
                </a:cubicBezTo>
                <a:lnTo>
                  <a:pt x="118855" y="137202"/>
                </a:lnTo>
                <a:cubicBezTo>
                  <a:pt x="120247" y="132099"/>
                  <a:pt x="125013" y="128640"/>
                  <a:pt x="130327" y="128978"/>
                </a:cubicBezTo>
                <a:lnTo>
                  <a:pt x="148000" y="130116"/>
                </a:lnTo>
                <a:cubicBezTo>
                  <a:pt x="150657" y="126700"/>
                  <a:pt x="153736" y="123537"/>
                  <a:pt x="157236" y="120837"/>
                </a:cubicBezTo>
                <a:lnTo>
                  <a:pt x="156098" y="103207"/>
                </a:lnTo>
                <a:cubicBezTo>
                  <a:pt x="155760" y="97893"/>
                  <a:pt x="159219" y="93085"/>
                  <a:pt x="164322" y="91735"/>
                </a:cubicBezTo>
                <a:lnTo>
                  <a:pt x="175372" y="88783"/>
                </a:lnTo>
                <a:close/>
                <a:moveTo>
                  <a:pt x="189122" y="143402"/>
                </a:moveTo>
                <a:cubicBezTo>
                  <a:pt x="178880" y="143414"/>
                  <a:pt x="170574" y="151739"/>
                  <a:pt x="170585" y="161981"/>
                </a:cubicBezTo>
                <a:cubicBezTo>
                  <a:pt x="170597" y="172224"/>
                  <a:pt x="178922" y="180530"/>
                  <a:pt x="189164" y="180518"/>
                </a:cubicBezTo>
                <a:cubicBezTo>
                  <a:pt x="199407" y="180506"/>
                  <a:pt x="207713" y="172181"/>
                  <a:pt x="207701" y="161939"/>
                </a:cubicBezTo>
                <a:cubicBezTo>
                  <a:pt x="207690" y="151697"/>
                  <a:pt x="199365" y="143391"/>
                  <a:pt x="189122" y="143402"/>
                </a:cubicBezTo>
                <a:close/>
                <a:moveTo>
                  <a:pt x="94856" y="-19191"/>
                </a:moveTo>
                <a:lnTo>
                  <a:pt x="105907" y="-16238"/>
                </a:lnTo>
                <a:cubicBezTo>
                  <a:pt x="111010" y="-14846"/>
                  <a:pt x="114469" y="-10038"/>
                  <a:pt x="114131" y="-4766"/>
                </a:cubicBezTo>
                <a:lnTo>
                  <a:pt x="112993" y="12864"/>
                </a:lnTo>
                <a:cubicBezTo>
                  <a:pt x="116493" y="15563"/>
                  <a:pt x="119572" y="18684"/>
                  <a:pt x="122229" y="22143"/>
                </a:cubicBezTo>
                <a:lnTo>
                  <a:pt x="139944" y="21004"/>
                </a:lnTo>
                <a:cubicBezTo>
                  <a:pt x="145216" y="20667"/>
                  <a:pt x="150024" y="24125"/>
                  <a:pt x="151416" y="29229"/>
                </a:cubicBezTo>
                <a:lnTo>
                  <a:pt x="154368" y="40279"/>
                </a:lnTo>
                <a:cubicBezTo>
                  <a:pt x="155718" y="45383"/>
                  <a:pt x="153314" y="50781"/>
                  <a:pt x="148548" y="53143"/>
                </a:cubicBezTo>
                <a:lnTo>
                  <a:pt x="132647" y="60988"/>
                </a:lnTo>
                <a:cubicBezTo>
                  <a:pt x="132352" y="63139"/>
                  <a:pt x="131930" y="65290"/>
                  <a:pt x="131382" y="67399"/>
                </a:cubicBezTo>
                <a:cubicBezTo>
                  <a:pt x="130833" y="69508"/>
                  <a:pt x="130074" y="71617"/>
                  <a:pt x="129273" y="73599"/>
                </a:cubicBezTo>
                <a:lnTo>
                  <a:pt x="139100" y="88361"/>
                </a:lnTo>
                <a:cubicBezTo>
                  <a:pt x="142053" y="92790"/>
                  <a:pt x="141462" y="98652"/>
                  <a:pt x="137708" y="102406"/>
                </a:cubicBezTo>
                <a:lnTo>
                  <a:pt x="129610" y="110504"/>
                </a:lnTo>
                <a:cubicBezTo>
                  <a:pt x="125857" y="114258"/>
                  <a:pt x="119994" y="114848"/>
                  <a:pt x="115565" y="111896"/>
                </a:cubicBezTo>
                <a:lnTo>
                  <a:pt x="100803" y="102069"/>
                </a:lnTo>
                <a:cubicBezTo>
                  <a:pt x="96796" y="103714"/>
                  <a:pt x="92537" y="104895"/>
                  <a:pt x="88192" y="105485"/>
                </a:cubicBezTo>
                <a:lnTo>
                  <a:pt x="80347" y="121344"/>
                </a:lnTo>
                <a:cubicBezTo>
                  <a:pt x="77985" y="126110"/>
                  <a:pt x="72587" y="128514"/>
                  <a:pt x="67483" y="127164"/>
                </a:cubicBezTo>
                <a:lnTo>
                  <a:pt x="56433" y="124212"/>
                </a:lnTo>
                <a:cubicBezTo>
                  <a:pt x="51287" y="122820"/>
                  <a:pt x="47871" y="118012"/>
                  <a:pt x="48208" y="112739"/>
                </a:cubicBezTo>
                <a:lnTo>
                  <a:pt x="49347" y="95067"/>
                </a:lnTo>
                <a:cubicBezTo>
                  <a:pt x="45847" y="92368"/>
                  <a:pt x="42768" y="89247"/>
                  <a:pt x="40110" y="85788"/>
                </a:cubicBezTo>
                <a:lnTo>
                  <a:pt x="22396" y="86927"/>
                </a:lnTo>
                <a:cubicBezTo>
                  <a:pt x="17124" y="87264"/>
                  <a:pt x="12316" y="83806"/>
                  <a:pt x="10924" y="78703"/>
                </a:cubicBezTo>
                <a:lnTo>
                  <a:pt x="7971" y="67652"/>
                </a:lnTo>
                <a:cubicBezTo>
                  <a:pt x="6622" y="62549"/>
                  <a:pt x="9026" y="57150"/>
                  <a:pt x="13792" y="54788"/>
                </a:cubicBezTo>
                <a:lnTo>
                  <a:pt x="29693" y="46943"/>
                </a:lnTo>
                <a:cubicBezTo>
                  <a:pt x="29988" y="44792"/>
                  <a:pt x="30410" y="42683"/>
                  <a:pt x="30958" y="40532"/>
                </a:cubicBezTo>
                <a:cubicBezTo>
                  <a:pt x="31548" y="38381"/>
                  <a:pt x="32223" y="36315"/>
                  <a:pt x="33067" y="34332"/>
                </a:cubicBezTo>
                <a:lnTo>
                  <a:pt x="23240" y="19612"/>
                </a:lnTo>
                <a:cubicBezTo>
                  <a:pt x="20287" y="15184"/>
                  <a:pt x="20878" y="9321"/>
                  <a:pt x="24631" y="5567"/>
                </a:cubicBezTo>
                <a:lnTo>
                  <a:pt x="32729" y="-2531"/>
                </a:lnTo>
                <a:cubicBezTo>
                  <a:pt x="36483" y="-6284"/>
                  <a:pt x="42346" y="-6875"/>
                  <a:pt x="46774" y="-3922"/>
                </a:cubicBezTo>
                <a:lnTo>
                  <a:pt x="61536" y="5905"/>
                </a:lnTo>
                <a:cubicBezTo>
                  <a:pt x="65543" y="4260"/>
                  <a:pt x="69803" y="3079"/>
                  <a:pt x="74147" y="2488"/>
                </a:cubicBezTo>
                <a:lnTo>
                  <a:pt x="81992" y="-13370"/>
                </a:lnTo>
                <a:cubicBezTo>
                  <a:pt x="84354" y="-18136"/>
                  <a:pt x="89711" y="-20540"/>
                  <a:pt x="94856" y="-19191"/>
                </a:cubicBezTo>
                <a:close/>
                <a:moveTo>
                  <a:pt x="81149" y="35429"/>
                </a:moveTo>
                <a:cubicBezTo>
                  <a:pt x="70906" y="35429"/>
                  <a:pt x="62591" y="43744"/>
                  <a:pt x="62591" y="53987"/>
                </a:cubicBezTo>
                <a:cubicBezTo>
                  <a:pt x="62591" y="64229"/>
                  <a:pt x="70906" y="72545"/>
                  <a:pt x="81149" y="72545"/>
                </a:cubicBezTo>
                <a:cubicBezTo>
                  <a:pt x="91391" y="72545"/>
                  <a:pt x="99707" y="64229"/>
                  <a:pt x="99707" y="53987"/>
                </a:cubicBezTo>
                <a:cubicBezTo>
                  <a:pt x="99707" y="43744"/>
                  <a:pt x="91391" y="35429"/>
                  <a:pt x="81149" y="35429"/>
                </a:cubicBezTo>
                <a:close/>
              </a:path>
            </a:pathLst>
          </a:custGeom>
          <a:solidFill>
            <a:srgbClr val="38B2AC"/>
          </a:solidFill>
        </p:spPr>
      </p:sp>
      <p:sp>
        <p:nvSpPr>
          <p:cNvPr id="32" name="Text 30"/>
          <p:cNvSpPr/>
          <p:nvPr/>
        </p:nvSpPr>
        <p:spPr>
          <a:xfrm>
            <a:off x="9173243" y="4040592"/>
            <a:ext cx="971761" cy="33591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00" b="1" dirty="0">
                <a:solidFill>
                  <a:srgbClr val="38B2A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技术优化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807333" y="4472485"/>
            <a:ext cx="6862311" cy="28792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10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引入Redis缓存高频访问数据，提升界面响应速度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807333" y="4808403"/>
            <a:ext cx="6862311" cy="28792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10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集成Prometheus+Grafana，完善运维监控体系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807333" y="5144320"/>
            <a:ext cx="6862311" cy="28792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10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接口文档标准化：集成Swagger，自动生成多角色接口文档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591386" y="5576214"/>
            <a:ext cx="47988" cy="1055740"/>
          </a:xfrm>
          <a:custGeom>
            <a:avLst/>
            <a:gdLst/>
            <a:ahLst/>
            <a:cxnLst/>
            <a:rect l="l" t="t" r="r" b="b"/>
            <a:pathLst>
              <a:path w="47988" h="1055740">
                <a:moveTo>
                  <a:pt x="0" y="0"/>
                </a:moveTo>
                <a:lnTo>
                  <a:pt x="47988" y="0"/>
                </a:lnTo>
                <a:lnTo>
                  <a:pt x="47988" y="1055740"/>
                </a:lnTo>
                <a:lnTo>
                  <a:pt x="0" y="1055740"/>
                </a:lnTo>
                <a:lnTo>
                  <a:pt x="0" y="0"/>
                </a:lnTo>
                <a:close/>
              </a:path>
            </a:pathLst>
          </a:custGeom>
          <a:solidFill>
            <a:srgbClr val="38B2AC"/>
          </a:solidFill>
        </p:spPr>
      </p:sp>
      <p:sp>
        <p:nvSpPr>
          <p:cNvPr id="37" name="Shape 35"/>
          <p:cNvSpPr/>
          <p:nvPr/>
        </p:nvSpPr>
        <p:spPr>
          <a:xfrm>
            <a:off x="8837325" y="5636199"/>
            <a:ext cx="215947" cy="215947"/>
          </a:xfrm>
          <a:custGeom>
            <a:avLst/>
            <a:gdLst/>
            <a:ahLst/>
            <a:cxnLst/>
            <a:rect l="l" t="t" r="r" b="b"/>
            <a:pathLst>
              <a:path w="215947" h="215947">
                <a:moveTo>
                  <a:pt x="53987" y="134967"/>
                </a:moveTo>
                <a:lnTo>
                  <a:pt x="10333" y="134967"/>
                </a:lnTo>
                <a:cubicBezTo>
                  <a:pt x="-169" y="134967"/>
                  <a:pt x="-6622" y="123537"/>
                  <a:pt x="-1223" y="114511"/>
                </a:cubicBezTo>
                <a:lnTo>
                  <a:pt x="21089" y="77311"/>
                </a:lnTo>
                <a:cubicBezTo>
                  <a:pt x="24758" y="71195"/>
                  <a:pt x="31338" y="67483"/>
                  <a:pt x="38466" y="67483"/>
                </a:cubicBezTo>
                <a:lnTo>
                  <a:pt x="78534" y="67483"/>
                </a:lnTo>
                <a:cubicBezTo>
                  <a:pt x="110631" y="13117"/>
                  <a:pt x="158502" y="10376"/>
                  <a:pt x="190514" y="15057"/>
                </a:cubicBezTo>
                <a:cubicBezTo>
                  <a:pt x="195913" y="15859"/>
                  <a:pt x="200130" y="20076"/>
                  <a:pt x="200890" y="25433"/>
                </a:cubicBezTo>
                <a:cubicBezTo>
                  <a:pt x="205571" y="57445"/>
                  <a:pt x="202830" y="105316"/>
                  <a:pt x="148463" y="137413"/>
                </a:cubicBezTo>
                <a:lnTo>
                  <a:pt x="148463" y="177481"/>
                </a:lnTo>
                <a:cubicBezTo>
                  <a:pt x="148463" y="184609"/>
                  <a:pt x="144752" y="191189"/>
                  <a:pt x="138636" y="194858"/>
                </a:cubicBezTo>
                <a:lnTo>
                  <a:pt x="101436" y="217170"/>
                </a:lnTo>
                <a:cubicBezTo>
                  <a:pt x="92452" y="222569"/>
                  <a:pt x="80980" y="216073"/>
                  <a:pt x="80980" y="205613"/>
                </a:cubicBezTo>
                <a:lnTo>
                  <a:pt x="80980" y="161960"/>
                </a:lnTo>
                <a:cubicBezTo>
                  <a:pt x="80980" y="147072"/>
                  <a:pt x="68875" y="134967"/>
                  <a:pt x="53987" y="134967"/>
                </a:cubicBezTo>
                <a:lnTo>
                  <a:pt x="53945" y="134967"/>
                </a:lnTo>
                <a:close/>
                <a:moveTo>
                  <a:pt x="168708" y="67483"/>
                </a:moveTo>
                <a:cubicBezTo>
                  <a:pt x="168708" y="56310"/>
                  <a:pt x="159637" y="47238"/>
                  <a:pt x="148463" y="47238"/>
                </a:cubicBezTo>
                <a:cubicBezTo>
                  <a:pt x="137290" y="47238"/>
                  <a:pt x="128218" y="56310"/>
                  <a:pt x="128218" y="67483"/>
                </a:cubicBezTo>
                <a:cubicBezTo>
                  <a:pt x="128218" y="78657"/>
                  <a:pt x="137290" y="87728"/>
                  <a:pt x="148463" y="87728"/>
                </a:cubicBezTo>
                <a:cubicBezTo>
                  <a:pt x="159637" y="87728"/>
                  <a:pt x="168708" y="78657"/>
                  <a:pt x="168708" y="67483"/>
                </a:cubicBezTo>
                <a:close/>
              </a:path>
            </a:pathLst>
          </a:custGeom>
          <a:solidFill>
            <a:srgbClr val="38B2AC"/>
          </a:solidFill>
        </p:spPr>
      </p:sp>
      <p:sp>
        <p:nvSpPr>
          <p:cNvPr id="38" name="Text 36"/>
          <p:cNvSpPr/>
          <p:nvPr/>
        </p:nvSpPr>
        <p:spPr>
          <a:xfrm>
            <a:off x="9173243" y="5576214"/>
            <a:ext cx="971761" cy="33591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00" b="1" dirty="0">
                <a:solidFill>
                  <a:srgbClr val="38B2A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落地场景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807333" y="6008108"/>
            <a:ext cx="6862311" cy="28792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10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对接高校真实教务系统，试点运行并根据反馈优化界面操作流程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807333" y="6344025"/>
            <a:ext cx="6862311" cy="28792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10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支持多高校个性化配置，形成可复用的学业预警解决方案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479882" y="7973838"/>
            <a:ext cx="15296236" cy="9598"/>
          </a:xfrm>
          <a:custGeom>
            <a:avLst/>
            <a:gdLst/>
            <a:ahLst/>
            <a:cxnLst/>
            <a:rect l="l" t="t" r="r" b="b"/>
            <a:pathLst>
              <a:path w="15296236" h="9598">
                <a:moveTo>
                  <a:pt x="0" y="0"/>
                </a:moveTo>
                <a:lnTo>
                  <a:pt x="15296236" y="0"/>
                </a:lnTo>
                <a:lnTo>
                  <a:pt x="15296236" y="9598"/>
                </a:lnTo>
                <a:lnTo>
                  <a:pt x="0" y="9598"/>
                </a:lnTo>
                <a:lnTo>
                  <a:pt x="0" y="0"/>
                </a:lnTo>
                <a:close/>
              </a:path>
            </a:pathLst>
          </a:custGeom>
          <a:solidFill>
            <a:srgbClr val="4A5568">
              <a:alpha val="30196"/>
            </a:srgbClr>
          </a:solidFill>
        </p:spPr>
      </p:sp>
      <p:sp>
        <p:nvSpPr>
          <p:cNvPr id="42" name="Text 40"/>
          <p:cNvSpPr/>
          <p:nvPr/>
        </p:nvSpPr>
        <p:spPr>
          <a:xfrm>
            <a:off x="5852460" y="8122587"/>
            <a:ext cx="1139720" cy="43189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35" b="1" dirty="0">
                <a:solidFill>
                  <a:srgbClr val="38B2A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V1.0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5894450" y="8602469"/>
            <a:ext cx="1055740" cy="28792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10" dirty="0">
                <a:solidFill>
                  <a:srgbClr val="71809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数字化基础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7130146" y="8362528"/>
            <a:ext cx="287929" cy="287929"/>
          </a:xfrm>
          <a:custGeom>
            <a:avLst/>
            <a:gdLst/>
            <a:ahLst/>
            <a:cxnLst/>
            <a:rect l="l" t="t" r="r" b="b"/>
            <a:pathLst>
              <a:path w="287929" h="287929">
                <a:moveTo>
                  <a:pt x="282643" y="156674"/>
                </a:moveTo>
                <a:cubicBezTo>
                  <a:pt x="289672" y="149644"/>
                  <a:pt x="289672" y="138228"/>
                  <a:pt x="282643" y="131199"/>
                </a:cubicBezTo>
                <a:lnTo>
                  <a:pt x="192665" y="41221"/>
                </a:lnTo>
                <a:cubicBezTo>
                  <a:pt x="185636" y="34192"/>
                  <a:pt x="174220" y="34192"/>
                  <a:pt x="167190" y="41221"/>
                </a:cubicBezTo>
                <a:cubicBezTo>
                  <a:pt x="160161" y="48251"/>
                  <a:pt x="160161" y="59667"/>
                  <a:pt x="167190" y="66696"/>
                </a:cubicBezTo>
                <a:lnTo>
                  <a:pt x="226463" y="125969"/>
                </a:lnTo>
                <a:lnTo>
                  <a:pt x="17996" y="125969"/>
                </a:lnTo>
                <a:cubicBezTo>
                  <a:pt x="8042" y="125969"/>
                  <a:pt x="0" y="134011"/>
                  <a:pt x="0" y="143965"/>
                </a:cubicBezTo>
                <a:cubicBezTo>
                  <a:pt x="0" y="153918"/>
                  <a:pt x="8042" y="161960"/>
                  <a:pt x="17996" y="161960"/>
                </a:cubicBezTo>
                <a:lnTo>
                  <a:pt x="226463" y="161960"/>
                </a:lnTo>
                <a:lnTo>
                  <a:pt x="167190" y="221233"/>
                </a:lnTo>
                <a:cubicBezTo>
                  <a:pt x="160161" y="228263"/>
                  <a:pt x="160161" y="239679"/>
                  <a:pt x="167190" y="246708"/>
                </a:cubicBezTo>
                <a:cubicBezTo>
                  <a:pt x="174220" y="253738"/>
                  <a:pt x="185636" y="253738"/>
                  <a:pt x="192665" y="246708"/>
                </a:cubicBezTo>
                <a:lnTo>
                  <a:pt x="282643" y="156730"/>
                </a:lnTo>
                <a:close/>
              </a:path>
            </a:pathLst>
          </a:custGeom>
          <a:solidFill>
            <a:srgbClr val="38B2AC"/>
          </a:solidFill>
        </p:spPr>
      </p:sp>
      <p:sp>
        <p:nvSpPr>
          <p:cNvPr id="45" name="Text 43"/>
          <p:cNvSpPr/>
          <p:nvPr/>
        </p:nvSpPr>
        <p:spPr>
          <a:xfrm>
            <a:off x="7556041" y="8122587"/>
            <a:ext cx="1139720" cy="43189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35" b="1" dirty="0">
                <a:solidFill>
                  <a:srgbClr val="38B2A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V2.0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7598031" y="8602469"/>
            <a:ext cx="1055740" cy="28792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10" dirty="0">
                <a:solidFill>
                  <a:srgbClr val="71809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智能化增强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8833726" y="8362528"/>
            <a:ext cx="287929" cy="287929"/>
          </a:xfrm>
          <a:custGeom>
            <a:avLst/>
            <a:gdLst/>
            <a:ahLst/>
            <a:cxnLst/>
            <a:rect l="l" t="t" r="r" b="b"/>
            <a:pathLst>
              <a:path w="287929" h="287929">
                <a:moveTo>
                  <a:pt x="282643" y="156674"/>
                </a:moveTo>
                <a:cubicBezTo>
                  <a:pt x="289672" y="149644"/>
                  <a:pt x="289672" y="138228"/>
                  <a:pt x="282643" y="131199"/>
                </a:cubicBezTo>
                <a:lnTo>
                  <a:pt x="192665" y="41221"/>
                </a:lnTo>
                <a:cubicBezTo>
                  <a:pt x="185636" y="34192"/>
                  <a:pt x="174220" y="34192"/>
                  <a:pt x="167190" y="41221"/>
                </a:cubicBezTo>
                <a:cubicBezTo>
                  <a:pt x="160161" y="48251"/>
                  <a:pt x="160161" y="59667"/>
                  <a:pt x="167190" y="66696"/>
                </a:cubicBezTo>
                <a:lnTo>
                  <a:pt x="226463" y="125969"/>
                </a:lnTo>
                <a:lnTo>
                  <a:pt x="17996" y="125969"/>
                </a:lnTo>
                <a:cubicBezTo>
                  <a:pt x="8042" y="125969"/>
                  <a:pt x="0" y="134011"/>
                  <a:pt x="0" y="143965"/>
                </a:cubicBezTo>
                <a:cubicBezTo>
                  <a:pt x="0" y="153918"/>
                  <a:pt x="8042" y="161960"/>
                  <a:pt x="17996" y="161960"/>
                </a:cubicBezTo>
                <a:lnTo>
                  <a:pt x="226463" y="161960"/>
                </a:lnTo>
                <a:lnTo>
                  <a:pt x="167190" y="221233"/>
                </a:lnTo>
                <a:cubicBezTo>
                  <a:pt x="160161" y="228263"/>
                  <a:pt x="160161" y="239679"/>
                  <a:pt x="167190" y="246708"/>
                </a:cubicBezTo>
                <a:cubicBezTo>
                  <a:pt x="174220" y="253738"/>
                  <a:pt x="185636" y="253738"/>
                  <a:pt x="192665" y="246708"/>
                </a:cubicBezTo>
                <a:lnTo>
                  <a:pt x="282643" y="156730"/>
                </a:lnTo>
                <a:close/>
              </a:path>
            </a:pathLst>
          </a:custGeom>
          <a:solidFill>
            <a:srgbClr val="38B2AC"/>
          </a:solidFill>
        </p:spPr>
      </p:sp>
      <p:sp>
        <p:nvSpPr>
          <p:cNvPr id="48" name="Text 46"/>
          <p:cNvSpPr/>
          <p:nvPr/>
        </p:nvSpPr>
        <p:spPr>
          <a:xfrm>
            <a:off x="9259622" y="8122587"/>
            <a:ext cx="1139720" cy="43189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35" b="1" dirty="0">
                <a:solidFill>
                  <a:srgbClr val="38B2A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未来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9301611" y="8602469"/>
            <a:ext cx="1055740" cy="28792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10" dirty="0">
                <a:solidFill>
                  <a:srgbClr val="71809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全面智能化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46887d1d2a497169273188d40b9974a00138a20c.jpg"/>
          <p:cNvPicPr>
            <a:picLocks noChangeAspect="1"/>
          </p:cNvPicPr>
          <p:nvPr/>
        </p:nvPicPr>
        <p:blipFill>
          <a:blip r:embed="rId1">
            <a:alphaModFix amt="30000"/>
          </a:blip>
          <a:srcRect l="8360" r="8360"/>
          <a:stretch>
            <a:fillRect/>
          </a:stretch>
        </p:blipFill>
        <p:spPr>
          <a:xfrm>
            <a:off x="0" y="0"/>
            <a:ext cx="16256000" cy="11038417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11038417"/>
          </a:xfrm>
          <a:custGeom>
            <a:avLst/>
            <a:gdLst/>
            <a:ahLst/>
            <a:cxnLst/>
            <a:rect l="l" t="t" r="r" b="b"/>
            <a:pathLst>
              <a:path w="16256000" h="11038417">
                <a:moveTo>
                  <a:pt x="0" y="0"/>
                </a:moveTo>
                <a:lnTo>
                  <a:pt x="16256000" y="0"/>
                </a:lnTo>
                <a:lnTo>
                  <a:pt x="16256000" y="11038417"/>
                </a:lnTo>
                <a:lnTo>
                  <a:pt x="0" y="1103841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202C">
                  <a:alpha val="95000"/>
                </a:srgbClr>
              </a:gs>
              <a:gs pos="50000">
                <a:srgbClr val="1A202C">
                  <a:alpha val="90000"/>
                </a:srgbClr>
              </a:gs>
              <a:gs pos="100000">
                <a:srgbClr val="38B2AC">
                  <a:alpha val="20000"/>
                </a:srgbClr>
              </a:gs>
            </a:gsLst>
            <a:lin ang="2700000" scaled="1"/>
          </a:gradFill>
        </p:spPr>
      </p:sp>
      <p:sp>
        <p:nvSpPr>
          <p:cNvPr id="4" name="Shape 1"/>
          <p:cNvSpPr/>
          <p:nvPr/>
        </p:nvSpPr>
        <p:spPr>
          <a:xfrm>
            <a:off x="7810500" y="1130308"/>
            <a:ext cx="635000" cy="635000"/>
          </a:xfrm>
          <a:custGeom>
            <a:avLst/>
            <a:gdLst/>
            <a:ahLst/>
            <a:cxnLst/>
            <a:rect l="l" t="t" r="r" b="b"/>
            <a:pathLst>
              <a:path w="635000" h="635000">
                <a:moveTo>
                  <a:pt x="298896" y="108024"/>
                </a:moveTo>
                <a:lnTo>
                  <a:pt x="317500" y="133697"/>
                </a:lnTo>
                <a:lnTo>
                  <a:pt x="336104" y="108024"/>
                </a:lnTo>
                <a:cubicBezTo>
                  <a:pt x="367109" y="65112"/>
                  <a:pt x="416967" y="39688"/>
                  <a:pt x="469925" y="39688"/>
                </a:cubicBezTo>
                <a:cubicBezTo>
                  <a:pt x="561082" y="39688"/>
                  <a:pt x="635000" y="113605"/>
                  <a:pt x="635000" y="204763"/>
                </a:cubicBezTo>
                <a:lnTo>
                  <a:pt x="635000" y="207987"/>
                </a:lnTo>
                <a:cubicBezTo>
                  <a:pt x="635000" y="347142"/>
                  <a:pt x="461491" y="508744"/>
                  <a:pt x="370954" y="577825"/>
                </a:cubicBezTo>
                <a:cubicBezTo>
                  <a:pt x="355575" y="589483"/>
                  <a:pt x="336724" y="595313"/>
                  <a:pt x="317500" y="595313"/>
                </a:cubicBezTo>
                <a:cubicBezTo>
                  <a:pt x="298276" y="595313"/>
                  <a:pt x="279301" y="589607"/>
                  <a:pt x="264046" y="577825"/>
                </a:cubicBezTo>
                <a:cubicBezTo>
                  <a:pt x="173509" y="508744"/>
                  <a:pt x="0" y="347142"/>
                  <a:pt x="0" y="207987"/>
                </a:cubicBezTo>
                <a:lnTo>
                  <a:pt x="0" y="204763"/>
                </a:lnTo>
                <a:cubicBezTo>
                  <a:pt x="0" y="113605"/>
                  <a:pt x="73918" y="39688"/>
                  <a:pt x="165075" y="39688"/>
                </a:cubicBezTo>
                <a:cubicBezTo>
                  <a:pt x="218033" y="39688"/>
                  <a:pt x="267891" y="65112"/>
                  <a:pt x="298896" y="108024"/>
                </a:cubicBezTo>
                <a:close/>
              </a:path>
            </a:pathLst>
          </a:custGeom>
          <a:solidFill>
            <a:srgbClr val="38B2AC"/>
          </a:solidFill>
        </p:spPr>
      </p:sp>
      <p:sp>
        <p:nvSpPr>
          <p:cNvPr id="5" name="Text 2"/>
          <p:cNvSpPr/>
          <p:nvPr/>
        </p:nvSpPr>
        <p:spPr>
          <a:xfrm>
            <a:off x="6323013" y="2019308"/>
            <a:ext cx="3608917" cy="63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5000" b="1" dirty="0">
                <a:solidFill>
                  <a:srgbClr val="E2E8F0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致谢与Q&amp;A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7450667" y="2908308"/>
            <a:ext cx="1354667" cy="42333"/>
          </a:xfrm>
          <a:custGeom>
            <a:avLst/>
            <a:gdLst/>
            <a:ahLst/>
            <a:cxnLst/>
            <a:rect l="l" t="t" r="r" b="b"/>
            <a:pathLst>
              <a:path w="1354667" h="42333">
                <a:moveTo>
                  <a:pt x="0" y="0"/>
                </a:moveTo>
                <a:lnTo>
                  <a:pt x="1354667" y="0"/>
                </a:lnTo>
                <a:lnTo>
                  <a:pt x="1354667" y="42333"/>
                </a:lnTo>
                <a:lnTo>
                  <a:pt x="0" y="42333"/>
                </a:lnTo>
                <a:lnTo>
                  <a:pt x="0" y="0"/>
                </a:lnTo>
                <a:close/>
              </a:path>
            </a:pathLst>
          </a:custGeom>
          <a:solidFill>
            <a:srgbClr val="38B2AC"/>
          </a:solidFill>
        </p:spPr>
      </p:sp>
      <p:sp>
        <p:nvSpPr>
          <p:cNvPr id="9" name="Text 6"/>
          <p:cNvSpPr/>
          <p:nvPr/>
        </p:nvSpPr>
        <p:spPr>
          <a:xfrm>
            <a:off x="6258137" y="3447847"/>
            <a:ext cx="4762500" cy="296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endParaRPr lang="zh-CN" alt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402917" y="4749808"/>
            <a:ext cx="4127500" cy="296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021917" y="6515117"/>
            <a:ext cx="4212167" cy="423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6257925" y="8534404"/>
            <a:ext cx="1598083" cy="2116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8390467" y="8238071"/>
            <a:ext cx="1608667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8395758" y="8534404"/>
            <a:ext cx="1598083" cy="2116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370417" y="9977975"/>
            <a:ext cx="15515167" cy="296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65" b="1" dirty="0">
                <a:solidFill>
                  <a:srgbClr val="38B2A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学术预警系统 | 版本迭代与AI集成实践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381000" y="10358975"/>
            <a:ext cx="154940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5" dirty="0">
                <a:solidFill>
                  <a:srgbClr val="71809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从基础预警到AI赋能的全流程学业风险管控</a:t>
            </a:r>
            <a:endParaRPr lang="en-US" sz="1600" dirty="0"/>
          </a:p>
        </p:txBody>
      </p:sp>
      <p:sp>
        <p:nvSpPr>
          <p:cNvPr id="32" name="文本框 31"/>
          <p:cNvSpPr txBox="1"/>
          <p:nvPr/>
        </p:nvSpPr>
        <p:spPr>
          <a:xfrm>
            <a:off x="5929842" y="4093760"/>
            <a:ext cx="5418667" cy="1322070"/>
          </a:xfrm>
          <a:prstGeom prst="rect">
            <a:avLst/>
          </a:prstGeom>
        </p:spPr>
        <p:txBody>
          <a:bodyPr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80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感谢</a:t>
            </a:r>
            <a:r>
              <a:rPr lang="zh-CN" altLang="en-US" sz="80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观看</a:t>
            </a:r>
            <a:endParaRPr lang="zh-CN" altLang="en-US" sz="800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fade/>
  </p:transition>
</p:sld>
</file>

<file path=ppt/tags/tag1.xml><?xml version="1.0" encoding="utf-8"?>
<p:tagLst xmlns:p="http://schemas.openxmlformats.org/presentationml/2006/main">
  <p:tag name="KSO_WM_DIAGRAM_VIRTUALLY_FRAME" val="{&quot;height&quot;:640.3250393700788,&quot;left&quot;:474,&quot;top&quot;:40,&quot;width&quot;:759}"/>
</p:tagLst>
</file>

<file path=ppt/tags/tag2.xml><?xml version="1.0" encoding="utf-8"?>
<p:tagLst xmlns:p="http://schemas.openxmlformats.org/presentationml/2006/main">
  <p:tag name="KSO_WM_DIAGRAM_VIRTUALLY_FRAME" val="{&quot;height&quot;:640.3250393700788,&quot;left&quot;:474,&quot;top&quot;:40,&quot;width&quot;:759}"/>
</p:tagLst>
</file>

<file path=ppt/tags/tag3.xml><?xml version="1.0" encoding="utf-8"?>
<p:tagLst xmlns:p="http://schemas.openxmlformats.org/presentationml/2006/main">
  <p:tag name="KSO_WM_DIAGRAM_VIRTUALLY_FRAME" val="{&quot;height&quot;:640.3250393700788,&quot;left&quot;:474,&quot;top&quot;:40,&quot;width&quot;:759}"/>
</p:tagLst>
</file>

<file path=ppt/tags/tag4.xml><?xml version="1.0" encoding="utf-8"?>
<p:tagLst xmlns:p="http://schemas.openxmlformats.org/presentationml/2006/main">
  <p:tag name="KSO_WM_DIAGRAM_VIRTUALLY_FRAME" val="{&quot;height&quot;:640.3250393700788,&quot;left&quot;:474,&quot;top&quot;:40,&quot;width&quot;:759}"/>
</p:tagLst>
</file>

<file path=ppt/tags/tag5.xml><?xml version="1.0" encoding="utf-8"?>
<p:tagLst xmlns:p="http://schemas.openxmlformats.org/presentationml/2006/main">
  <p:tag name="KSO_WM_DIAGRAM_VIRTUALLY_FRAME" val="{&quot;height&quot;:640.3250393700788,&quot;left&quot;:474,&quot;top&quot;:40,&quot;width&quot;:759}"/>
</p:tagLst>
</file>

<file path=ppt/tags/tag6.xml><?xml version="1.0" encoding="utf-8"?>
<p:tagLst xmlns:p="http://schemas.openxmlformats.org/presentationml/2006/main">
  <p:tag name="KSO_WM_DIAGRAM_VIRTUALLY_FRAME" val="{&quot;height&quot;:640.3250393700788,&quot;left&quot;:474,&quot;top&quot;:40,&quot;width&quot;:759}"/>
</p:tagLst>
</file>

<file path=ppt/tags/tag7.xml><?xml version="1.0" encoding="utf-8"?>
<p:tagLst xmlns:p="http://schemas.openxmlformats.org/presentationml/2006/main">
  <p:tag name="KSO_WM_DIAGRAM_VIRTUALLY_FRAME" val="{&quot;height&quot;:640.3250393700788,&quot;left&quot;:474,&quot;top&quot;:40,&quot;width&quot;:759}"/>
</p:tagLst>
</file>

<file path=ppt/tags/tag8.xml><?xml version="1.0" encoding="utf-8"?>
<p:tagLst xmlns:p="http://schemas.openxmlformats.org/presentationml/2006/main">
  <p:tag name="KSO_WM_DIAGRAM_VIRTUALLY_FRAME" val="{&quot;height&quot;:640.3250393700788,&quot;left&quot;:474,&quot;top&quot;:40,&quot;width&quot;:759}"/>
</p:tagLst>
</file>

<file path=ppt/tags/tag9.xml><?xml version="1.0" encoding="utf-8"?>
<p:tagLst xmlns:p="http://schemas.openxmlformats.org/presentationml/2006/main">
  <p:tag name="KSO_WM_DIAGRAM_VIRTUALLY_FRAME" val="{&quot;height&quot;:640.3250393700788,&quot;left&quot;:474,&quot;top&quot;:40,&quot;width&quot;:759}"/>
</p:tagLst>
</file>

<file path=ppt/tags/tag10.xml><?xml version="1.0" encoding="utf-8"?>
<p:tagLst xmlns:p="http://schemas.openxmlformats.org/presentationml/2006/main">
  <p:tag name="KSO_WM_DIAGRAM_VIRTUALLY_FRAME" val="{&quot;height&quot;:640.3250393700788,&quot;left&quot;:474,&quot;top&quot;:40,&quot;width&quot;:759}"/>
</p:tagLst>
</file>

<file path=ppt/tags/tag11.xml><?xml version="1.0" encoding="utf-8"?>
<p:tagLst xmlns:p="http://schemas.openxmlformats.org/presentationml/2006/main">
  <p:tag name="KSO_WM_DIAGRAM_VIRTUALLY_FRAME" val="{&quot;height&quot;:640.3250393700788,&quot;left&quot;:474,&quot;top&quot;:40,&quot;width&quot;:759}"/>
</p:tagLst>
</file>

<file path=ppt/tags/tag12.xml><?xml version="1.0" encoding="utf-8"?>
<p:tagLst xmlns:p="http://schemas.openxmlformats.org/presentationml/2006/main">
  <p:tag name="KSO_WM_DIAGRAM_VIRTUALLY_FRAME" val="{&quot;height&quot;:640.3250393700788,&quot;left&quot;:474,&quot;top&quot;:40,&quot;width&quot;:759}"/>
</p:tagLst>
</file>

<file path=ppt/tags/tag13.xml><?xml version="1.0" encoding="utf-8"?>
<p:tagLst xmlns:p="http://schemas.openxmlformats.org/presentationml/2006/main">
  <p:tag name="KSO_WM_DIAGRAM_VIRTUALLY_FRAME" val="{&quot;height&quot;:640.3250393700788,&quot;left&quot;:474,&quot;top&quot;:40,&quot;width&quot;:759}"/>
</p:tagLst>
</file>

<file path=ppt/tags/tag14.xml><?xml version="1.0" encoding="utf-8"?>
<p:tagLst xmlns:p="http://schemas.openxmlformats.org/presentationml/2006/main">
  <p:tag name="KSO_WM_DIAGRAM_VIRTUALLY_FRAME" val="{&quot;height&quot;:640.3250393700788,&quot;left&quot;:474,&quot;top&quot;:40,&quot;width&quot;:759}"/>
</p:tagLst>
</file>

<file path=ppt/tags/tag15.xml><?xml version="1.0" encoding="utf-8"?>
<p:tagLst xmlns:p="http://schemas.openxmlformats.org/presentationml/2006/main">
  <p:tag name="KSO_WM_DIAGRAM_VIRTUALLY_FRAME" val="{&quot;height&quot;:640.3250393700788,&quot;left&quot;:474,&quot;top&quot;:40,&quot;width&quot;:759}"/>
</p:tagLst>
</file>

<file path=ppt/tags/tag16.xml><?xml version="1.0" encoding="utf-8"?>
<p:tagLst xmlns:p="http://schemas.openxmlformats.org/presentationml/2006/main">
  <p:tag name="KSO_WM_DIAGRAM_VIRTUALLY_FRAME" val="{&quot;height&quot;:640.3250393700788,&quot;left&quot;:474,&quot;top&quot;:40,&quot;width&quot;:759}"/>
</p:tagLst>
</file>

<file path=ppt/tags/tag17.xml><?xml version="1.0" encoding="utf-8"?>
<p:tagLst xmlns:p="http://schemas.openxmlformats.org/presentationml/2006/main">
  <p:tag name="KSO_WM_DIAGRAM_VIRTUALLY_FRAME" val="{&quot;height&quot;:640.3250393700788,&quot;left&quot;:474,&quot;top&quot;:40,&quot;width&quot;:759}"/>
</p:tagLst>
</file>

<file path=ppt/tags/tag18.xml><?xml version="1.0" encoding="utf-8"?>
<p:tagLst xmlns:p="http://schemas.openxmlformats.org/presentationml/2006/main">
  <p:tag name="KSO_WM_DIAGRAM_VIRTUALLY_FRAME" val="{&quot;height&quot;:640.3250393700788,&quot;left&quot;:474,&quot;top&quot;:40,&quot;width&quot;:759}"/>
</p:tagLst>
</file>

<file path=ppt/tags/tag19.xml><?xml version="1.0" encoding="utf-8"?>
<p:tagLst xmlns:p="http://schemas.openxmlformats.org/presentationml/2006/main">
  <p:tag name="KSO_WM_DIAGRAM_VIRTUALLY_FRAME" val="{&quot;height&quot;:640.3250393700788,&quot;left&quot;:474,&quot;top&quot;:40,&quot;width&quot;:759}"/>
</p:tagLst>
</file>

<file path=ppt/tags/tag20.xml><?xml version="1.0" encoding="utf-8"?>
<p:tagLst xmlns:p="http://schemas.openxmlformats.org/presentationml/2006/main">
  <p:tag name="KSO_WM_DIAGRAM_VIRTUALLY_FRAME" val="{&quot;height&quot;:640.3250393700788,&quot;left&quot;:474,&quot;top&quot;:40,&quot;width&quot;:759}"/>
</p:tagLst>
</file>

<file path=ppt/tags/tag21.xml><?xml version="1.0" encoding="utf-8"?>
<p:tagLst xmlns:p="http://schemas.openxmlformats.org/presentationml/2006/main">
  <p:tag name="KSO_WM_DIAGRAM_VIRTUALLY_FRAME" val="{&quot;height&quot;:640.3250393700788,&quot;left&quot;:474,&quot;top&quot;:40,&quot;width&quot;:759}"/>
</p:tagLst>
</file>

<file path=ppt/tags/tag22.xml><?xml version="1.0" encoding="utf-8"?>
<p:tagLst xmlns:p="http://schemas.openxmlformats.org/presentationml/2006/main">
  <p:tag name="KSO_WM_DIAGRAM_VIRTUALLY_FRAME" val="{&quot;height&quot;:640.3250393700788,&quot;left&quot;:474,&quot;top&quot;:40,&quot;width&quot;:759}"/>
</p:tagLst>
</file>

<file path=ppt/tags/tag23.xml><?xml version="1.0" encoding="utf-8"?>
<p:tagLst xmlns:p="http://schemas.openxmlformats.org/presentationml/2006/main">
  <p:tag name="KSO_WM_DIAGRAM_VIRTUALLY_FRAME" val="{&quot;height&quot;:640.3250393700788,&quot;left&quot;:474,&quot;top&quot;:40,&quot;width&quot;:759}"/>
</p:tagLst>
</file>

<file path=ppt/tags/tag24.xml><?xml version="1.0" encoding="utf-8"?>
<p:tagLst xmlns:p="http://schemas.openxmlformats.org/presentationml/2006/main">
  <p:tag name="KSO_WM_DIAGRAM_VIRTUALLY_FRAME" val="{&quot;height&quot;:640.3250393700788,&quot;left&quot;:474,&quot;top&quot;:40,&quot;width&quot;:759}"/>
</p:tagLst>
</file>

<file path=ppt/tags/tag25.xml><?xml version="1.0" encoding="utf-8"?>
<p:tagLst xmlns:p="http://schemas.openxmlformats.org/presentationml/2006/main">
  <p:tag name="KSO_WM_DIAGRAM_VIRTUALLY_FRAME" val="{&quot;height&quot;:640.3250393700788,&quot;left&quot;:474,&quot;top&quot;:40,&quot;width&quot;:759}"/>
</p:tagLst>
</file>

<file path=ppt/tags/tag26.xml><?xml version="1.0" encoding="utf-8"?>
<p:tagLst xmlns:p="http://schemas.openxmlformats.org/presentationml/2006/main">
  <p:tag name="KSO_WM_DIAGRAM_VIRTUALLY_FRAME" val="{&quot;height&quot;:640.3250393700788,&quot;left&quot;:474,&quot;top&quot;:40,&quot;width&quot;:759}"/>
</p:tagLst>
</file>

<file path=ppt/tags/tag27.xml><?xml version="1.0" encoding="utf-8"?>
<p:tagLst xmlns:p="http://schemas.openxmlformats.org/presentationml/2006/main">
  <p:tag name="KSO_WM_DIAGRAM_VIRTUALLY_FRAME" val="{&quot;height&quot;:640.3250393700788,&quot;left&quot;:474,&quot;top&quot;:40,&quot;width&quot;:759}"/>
</p:tagLst>
</file>

<file path=ppt/tags/tag28.xml><?xml version="1.0" encoding="utf-8"?>
<p:tagLst xmlns:p="http://schemas.openxmlformats.org/presentationml/2006/main">
  <p:tag name="KSO_WM_DIAGRAM_VIRTUALLY_FRAME" val="{&quot;height&quot;:640.3250393700788,&quot;left&quot;:474,&quot;top&quot;:40,&quot;width&quot;:759}"/>
</p:tagLst>
</file>

<file path=ppt/tags/tag29.xml><?xml version="1.0" encoding="utf-8"?>
<p:tagLst xmlns:p="http://schemas.openxmlformats.org/presentationml/2006/main">
  <p:tag name="KSO_WM_DIAGRAM_VIRTUALLY_FRAME" val="{&quot;height&quot;:640.3250393700788,&quot;left&quot;:474,&quot;top&quot;:40,&quot;width&quot;:759}"/>
</p:tagLst>
</file>

<file path=ppt/tags/tag30.xml><?xml version="1.0" encoding="utf-8"?>
<p:tagLst xmlns:p="http://schemas.openxmlformats.org/presentationml/2006/main">
  <p:tag name="KSO_WM_DIAGRAM_VIRTUALLY_FRAME" val="{&quot;height&quot;:640.3250393700788,&quot;left&quot;:474,&quot;top&quot;:40,&quot;width&quot;:759}"/>
</p:tagLst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7884</Words>
  <Application>WPS 演示</Application>
  <PresentationFormat>On-screen Show (16:9)</PresentationFormat>
  <Paragraphs>1090</Paragraphs>
  <Slides>19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5" baseType="lpstr">
      <vt:lpstr>Arial</vt:lpstr>
      <vt:lpstr>宋体</vt:lpstr>
      <vt:lpstr>Wingdings</vt:lpstr>
      <vt:lpstr>Liter</vt:lpstr>
      <vt:lpstr>Liter</vt:lpstr>
      <vt:lpstr>Liter</vt:lpstr>
      <vt:lpstr>阿里妈妈数黑体</vt:lpstr>
      <vt:lpstr>阿里妈妈数黑体</vt:lpstr>
      <vt:lpstr>MiSans</vt:lpstr>
      <vt:lpstr>MiSans</vt:lpstr>
      <vt:lpstr>微软雅黑</vt:lpstr>
      <vt:lpstr>微软雅黑</vt:lpstr>
      <vt:lpstr>Calibri</vt:lpstr>
      <vt:lpstr>Arial Unicode MS</vt:lpstr>
      <vt:lpstr>等线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学术预警系统 - 版本迭代与AI集成实践</dc:title>
  <dc:creator>Kimi</dc:creator>
  <dc:subject>学术预警系统 - 版本迭代与AI集成实践</dc:subject>
  <cp:lastModifiedBy>。</cp:lastModifiedBy>
  <cp:revision>6</cp:revision>
  <dcterms:created xsi:type="dcterms:W3CDTF">2025-12-28T13:40:00Z</dcterms:created>
  <dcterms:modified xsi:type="dcterms:W3CDTF">2025-12-28T14:21:13Z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{"Label":"学术预警系统 - 版本迭代与AI集成实践","ContentProducer":"001191110108MACG2KBH8F10000","ProduceID":"19b64fd2-2f22-8c88-8000-00005f41aed2","ReservedCode1":"","ContentPropagator":"001191110108MACG2KBH8F20000","PropagateID":"19b64fd2-2f22-8c88-8000-00005f41aed2","ReservedCode2":""}</vt:lpwstr>
  </property>
  <property fmtid="{D5CDD505-2E9C-101B-9397-08002B2CF9AE}" pid="3" name="ICV">
    <vt:lpwstr>24C2019C7B7F4C56AC0D1D867795DB4C_12</vt:lpwstr>
  </property>
  <property fmtid="{D5CDD505-2E9C-101B-9397-08002B2CF9AE}" pid="4" name="KSOProductBuildVer">
    <vt:lpwstr>2052-12.1.0.24034</vt:lpwstr>
  </property>
</Properties>
</file>